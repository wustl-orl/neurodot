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7" r:id="rId2"/>
    <p:sldId id="706" r:id="rId3"/>
    <p:sldId id="709" r:id="rId4"/>
    <p:sldId id="717" r:id="rId5"/>
    <p:sldId id="718" r:id="rId6"/>
    <p:sldId id="719" r:id="rId7"/>
    <p:sldId id="714" r:id="rId8"/>
    <p:sldId id="720" r:id="rId9"/>
    <p:sldId id="721" r:id="rId10"/>
    <p:sldId id="71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15" autoAdjust="0"/>
    <p:restoredTop sz="94660"/>
  </p:normalViewPr>
  <p:slideViewPr>
    <p:cSldViewPr snapToGrid="0">
      <p:cViewPr varScale="1">
        <p:scale>
          <a:sx n="99" d="100"/>
          <a:sy n="99" d="100"/>
        </p:scale>
        <p:origin x="184" y="8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2AC784-C7BB-45CE-AB0D-139C9E5F95B5}"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9C968C-6CF5-48F4-843D-B9C2EDEE49D6}" type="slidenum">
              <a:rPr lang="en-US" smtClean="0"/>
              <a:t>‹#›</a:t>
            </a:fld>
            <a:endParaRPr lang="en-US"/>
          </a:p>
        </p:txBody>
      </p:sp>
    </p:spTree>
    <p:extLst>
      <p:ext uri="{BB962C8B-B14F-4D97-AF65-F5344CB8AC3E}">
        <p14:creationId xmlns:p14="http://schemas.microsoft.com/office/powerpoint/2010/main" val="3783594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2AC784-C7BB-45CE-AB0D-139C9E5F95B5}"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9C968C-6CF5-48F4-843D-B9C2EDEE49D6}" type="slidenum">
              <a:rPr lang="en-US" smtClean="0"/>
              <a:t>‹#›</a:t>
            </a:fld>
            <a:endParaRPr lang="en-US"/>
          </a:p>
        </p:txBody>
      </p:sp>
    </p:spTree>
    <p:extLst>
      <p:ext uri="{BB962C8B-B14F-4D97-AF65-F5344CB8AC3E}">
        <p14:creationId xmlns:p14="http://schemas.microsoft.com/office/powerpoint/2010/main" val="297347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2AC784-C7BB-45CE-AB0D-139C9E5F95B5}"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9C968C-6CF5-48F4-843D-B9C2EDEE49D6}" type="slidenum">
              <a:rPr lang="en-US" smtClean="0"/>
              <a:t>‹#›</a:t>
            </a:fld>
            <a:endParaRPr lang="en-US"/>
          </a:p>
        </p:txBody>
      </p:sp>
    </p:spTree>
    <p:extLst>
      <p:ext uri="{BB962C8B-B14F-4D97-AF65-F5344CB8AC3E}">
        <p14:creationId xmlns:p14="http://schemas.microsoft.com/office/powerpoint/2010/main" val="965153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2AC784-C7BB-45CE-AB0D-139C9E5F95B5}" type="datetimeFigureOut">
              <a:rPr lang="en-US" smtClean="0"/>
              <a:t>5/7/26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9C968C-6CF5-48F4-843D-B9C2EDEE49D6}" type="slidenum">
              <a:rPr lang="en-US" smtClean="0"/>
              <a:t>‹#›</a:t>
            </a:fld>
            <a:endParaRPr lang="en-US"/>
          </a:p>
        </p:txBody>
      </p:sp>
    </p:spTree>
    <p:extLst>
      <p:ext uri="{BB962C8B-B14F-4D97-AF65-F5344CB8AC3E}">
        <p14:creationId xmlns:p14="http://schemas.microsoft.com/office/powerpoint/2010/main" val="1524179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2AC784-C7BB-45CE-AB0D-139C9E5F95B5}" type="datetimeFigureOut">
              <a:rPr lang="en-US" smtClean="0"/>
              <a:t>5/7/26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A9C968C-6CF5-48F4-843D-B9C2EDEE49D6}" type="slidenum">
              <a:rPr lang="en-US" smtClean="0"/>
              <a:t>‹#›</a:t>
            </a:fld>
            <a:endParaRPr lang="en-US"/>
          </a:p>
        </p:txBody>
      </p:sp>
    </p:spTree>
    <p:extLst>
      <p:ext uri="{BB962C8B-B14F-4D97-AF65-F5344CB8AC3E}">
        <p14:creationId xmlns:p14="http://schemas.microsoft.com/office/powerpoint/2010/main" val="3555386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2AC784-C7BB-45CE-AB0D-139C9E5F95B5}" type="datetimeFigureOut">
              <a:rPr lang="en-US" smtClean="0"/>
              <a:t>5/7/26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A9C968C-6CF5-48F4-843D-B9C2EDEE49D6}" type="slidenum">
              <a:rPr lang="en-US" smtClean="0"/>
              <a:t>‹#›</a:t>
            </a:fld>
            <a:endParaRPr lang="en-US"/>
          </a:p>
        </p:txBody>
      </p:sp>
    </p:spTree>
    <p:extLst>
      <p:ext uri="{BB962C8B-B14F-4D97-AF65-F5344CB8AC3E}">
        <p14:creationId xmlns:p14="http://schemas.microsoft.com/office/powerpoint/2010/main" val="30776682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2AC784-C7BB-45CE-AB0D-139C9E5F95B5}" type="datetimeFigureOut">
              <a:rPr lang="en-US" smtClean="0"/>
              <a:t>5/7/26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A9C968C-6CF5-48F4-843D-B9C2EDEE49D6}" type="slidenum">
              <a:rPr lang="en-US" smtClean="0"/>
              <a:t>‹#›</a:t>
            </a:fld>
            <a:endParaRPr lang="en-US"/>
          </a:p>
        </p:txBody>
      </p:sp>
    </p:spTree>
    <p:extLst>
      <p:ext uri="{BB962C8B-B14F-4D97-AF65-F5344CB8AC3E}">
        <p14:creationId xmlns:p14="http://schemas.microsoft.com/office/powerpoint/2010/main" val="5353894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62AC784-C7BB-45CE-AB0D-139C9E5F95B5}" type="datetimeFigureOut">
              <a:rPr lang="en-US" smtClean="0"/>
              <a:t>5/7/26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9C968C-6CF5-48F4-843D-B9C2EDEE49D6}" type="slidenum">
              <a:rPr lang="en-US" smtClean="0"/>
              <a:t>‹#›</a:t>
            </a:fld>
            <a:endParaRPr lang="en-US"/>
          </a:p>
        </p:txBody>
      </p:sp>
    </p:spTree>
    <p:extLst>
      <p:ext uri="{BB962C8B-B14F-4D97-AF65-F5344CB8AC3E}">
        <p14:creationId xmlns:p14="http://schemas.microsoft.com/office/powerpoint/2010/main" val="1093302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62AC784-C7BB-45CE-AB0D-139C9E5F95B5}" type="datetimeFigureOut">
              <a:rPr lang="en-US" smtClean="0"/>
              <a:t>5/7/26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9C968C-6CF5-48F4-843D-B9C2EDEE49D6}" type="slidenum">
              <a:rPr lang="en-US" smtClean="0"/>
              <a:t>‹#›</a:t>
            </a:fld>
            <a:endParaRPr lang="en-US"/>
          </a:p>
        </p:txBody>
      </p:sp>
    </p:spTree>
    <p:extLst>
      <p:ext uri="{BB962C8B-B14F-4D97-AF65-F5344CB8AC3E}">
        <p14:creationId xmlns:p14="http://schemas.microsoft.com/office/powerpoint/2010/main" val="481637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2AC784-C7BB-45CE-AB0D-139C9E5F95B5}"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9C968C-6CF5-48F4-843D-B9C2EDEE49D6}" type="slidenum">
              <a:rPr lang="en-US" smtClean="0"/>
              <a:t>‹#›</a:t>
            </a:fld>
            <a:endParaRPr lang="en-US"/>
          </a:p>
        </p:txBody>
      </p:sp>
    </p:spTree>
    <p:extLst>
      <p:ext uri="{BB962C8B-B14F-4D97-AF65-F5344CB8AC3E}">
        <p14:creationId xmlns:p14="http://schemas.microsoft.com/office/powerpoint/2010/main" val="35071119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2AC784-C7BB-45CE-AB0D-139C9E5F95B5}"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9C968C-6CF5-48F4-843D-B9C2EDEE49D6}" type="slidenum">
              <a:rPr lang="en-US" smtClean="0"/>
              <a:t>‹#›</a:t>
            </a:fld>
            <a:endParaRPr lang="en-US"/>
          </a:p>
        </p:txBody>
      </p:sp>
    </p:spTree>
    <p:extLst>
      <p:ext uri="{BB962C8B-B14F-4D97-AF65-F5344CB8AC3E}">
        <p14:creationId xmlns:p14="http://schemas.microsoft.com/office/powerpoint/2010/main" val="26243985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2AC784-C7BB-45CE-AB0D-139C9E5F95B5}" type="datetimeFigureOut">
              <a:rPr lang="en-US" smtClean="0"/>
              <a:t>5/7/26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9C968C-6CF5-48F4-843D-B9C2EDEE49D6}" type="slidenum">
              <a:rPr lang="en-US" smtClean="0"/>
              <a:t>‹#›</a:t>
            </a:fld>
            <a:endParaRPr lang="en-US"/>
          </a:p>
        </p:txBody>
      </p:sp>
    </p:spTree>
    <p:extLst>
      <p:ext uri="{BB962C8B-B14F-4D97-AF65-F5344CB8AC3E}">
        <p14:creationId xmlns:p14="http://schemas.microsoft.com/office/powerpoint/2010/main" val="350650642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67195" y="1707805"/>
            <a:ext cx="3392078" cy="832936"/>
          </a:xfrm>
        </p:spPr>
        <p:txBody>
          <a:bodyPr>
            <a:normAutofit fontScale="90000"/>
          </a:bodyPr>
          <a:lstStyle/>
          <a:p>
            <a:pPr algn="l"/>
            <a:r>
              <a:rPr lang="en-US" dirty="0" err="1">
                <a:solidFill>
                  <a:srgbClr val="FF0000"/>
                </a:solidFill>
              </a:rPr>
              <a:t>NeuroDOT</a:t>
            </a:r>
            <a:endParaRPr lang="en-US" dirty="0">
              <a:solidFill>
                <a:srgbClr val="FF0000"/>
              </a:solidFill>
            </a:endParaRPr>
          </a:p>
        </p:txBody>
      </p:sp>
      <p:sp>
        <p:nvSpPr>
          <p:cNvPr id="3" name="Subtitle 2"/>
          <p:cNvSpPr>
            <a:spLocks noGrp="1"/>
          </p:cNvSpPr>
          <p:nvPr>
            <p:ph type="subTitle" idx="1"/>
          </p:nvPr>
        </p:nvSpPr>
        <p:spPr>
          <a:xfrm>
            <a:off x="1616218" y="2764435"/>
            <a:ext cx="7107959" cy="1431193"/>
          </a:xfrm>
        </p:spPr>
        <p:txBody>
          <a:bodyPr>
            <a:noAutofit/>
          </a:bodyPr>
          <a:lstStyle/>
          <a:p>
            <a:pPr algn="r"/>
            <a:r>
              <a:rPr lang="en-US" sz="4000" i="1" dirty="0"/>
              <a:t>Running a General Linear Model in NeuroDOT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42838" y="1707805"/>
            <a:ext cx="1584944" cy="2113259"/>
          </a:xfrm>
          <a:prstGeom prst="rect">
            <a:avLst/>
          </a:prstGeom>
          <a:ln>
            <a:solidFill>
              <a:schemeClr val="tx1"/>
            </a:solidFill>
          </a:ln>
        </p:spPr>
      </p:pic>
      <p:cxnSp>
        <p:nvCxnSpPr>
          <p:cNvPr id="6" name="Straight Connector 5">
            <a:extLst>
              <a:ext uri="{FF2B5EF4-FFF2-40B4-BE49-F238E27FC236}">
                <a16:creationId xmlns:a16="http://schemas.microsoft.com/office/drawing/2014/main" id="{086A029A-DA08-9270-41D3-406689214F95}"/>
              </a:ext>
            </a:extLst>
          </p:cNvPr>
          <p:cNvCxnSpPr/>
          <p:nvPr/>
        </p:nvCxnSpPr>
        <p:spPr>
          <a:xfrm>
            <a:off x="1349343" y="2540741"/>
            <a:ext cx="737483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83995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9D3A2-B14E-7B92-442A-2DCBB451A8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3C8D9E-21C8-BBDE-634F-DF6B4999149B}"/>
              </a:ext>
            </a:extLst>
          </p:cNvPr>
          <p:cNvSpPr>
            <a:spLocks noGrp="1"/>
          </p:cNvSpPr>
          <p:nvPr>
            <p:ph type="title"/>
          </p:nvPr>
        </p:nvSpPr>
        <p:spPr>
          <a:xfrm>
            <a:off x="490470" y="380085"/>
            <a:ext cx="10515600" cy="1325563"/>
          </a:xfrm>
        </p:spPr>
        <p:txBody>
          <a:bodyPr/>
          <a:lstStyle/>
          <a:p>
            <a:r>
              <a:rPr lang="en-US" dirty="0">
                <a:solidFill>
                  <a:srgbClr val="FF0000"/>
                </a:solidFill>
                <a:latin typeface="Trebuchet MS" panose="020B0603020202020204" pitchFamily="34" charset="0"/>
              </a:rPr>
              <a:t>The GLM in NeuroDOT</a:t>
            </a:r>
          </a:p>
        </p:txBody>
      </p:sp>
      <p:sp>
        <p:nvSpPr>
          <p:cNvPr id="3" name="Content Placeholder 2">
            <a:extLst>
              <a:ext uri="{FF2B5EF4-FFF2-40B4-BE49-F238E27FC236}">
                <a16:creationId xmlns:a16="http://schemas.microsoft.com/office/drawing/2014/main" id="{FD4DB5FB-715D-21F3-2B80-6ADD28BA493E}"/>
              </a:ext>
            </a:extLst>
          </p:cNvPr>
          <p:cNvSpPr>
            <a:spLocks noGrp="1"/>
          </p:cNvSpPr>
          <p:nvPr>
            <p:ph idx="1"/>
          </p:nvPr>
        </p:nvSpPr>
        <p:spPr>
          <a:xfrm>
            <a:off x="2097627" y="4749128"/>
            <a:ext cx="8177011" cy="1195871"/>
          </a:xfrm>
        </p:spPr>
        <p:txBody>
          <a:bodyPr>
            <a:normAutofit fontScale="92500" lnSpcReduction="20000"/>
          </a:bodyPr>
          <a:lstStyle/>
          <a:p>
            <a:pPr marL="0" indent="0">
              <a:buNone/>
            </a:pPr>
            <a:r>
              <a:rPr lang="en-US" dirty="0"/>
              <a:t>• Understands NeuroDOT data structures</a:t>
            </a:r>
          </a:p>
          <a:p>
            <a:pPr marL="0" indent="0">
              <a:buNone/>
            </a:pPr>
            <a:r>
              <a:rPr lang="en-US" dirty="0"/>
              <a:t>• Offers data filtering, custom HRF, GVTD frame censoring</a:t>
            </a:r>
          </a:p>
          <a:p>
            <a:pPr marL="0" indent="0">
              <a:buNone/>
            </a:pPr>
            <a:r>
              <a:rPr lang="en-US" dirty="0"/>
              <a:t>• Fast</a:t>
            </a:r>
          </a:p>
          <a:p>
            <a:pPr marL="0" indent="0">
              <a:buNone/>
            </a:pPr>
            <a:endParaRPr lang="en-US" dirty="0"/>
          </a:p>
        </p:txBody>
      </p:sp>
      <p:sp>
        <p:nvSpPr>
          <p:cNvPr id="6" name="TextBox 5">
            <a:extLst>
              <a:ext uri="{FF2B5EF4-FFF2-40B4-BE49-F238E27FC236}">
                <a16:creationId xmlns:a16="http://schemas.microsoft.com/office/drawing/2014/main" id="{E4F8D6CB-9D50-9256-22D7-206B92D86D37}"/>
              </a:ext>
            </a:extLst>
          </p:cNvPr>
          <p:cNvSpPr txBox="1"/>
          <p:nvPr/>
        </p:nvSpPr>
        <p:spPr>
          <a:xfrm>
            <a:off x="1111360" y="3892699"/>
            <a:ext cx="10515600" cy="584775"/>
          </a:xfrm>
          <a:prstGeom prst="rect">
            <a:avLst/>
          </a:prstGeom>
          <a:noFill/>
        </p:spPr>
        <p:txBody>
          <a:bodyPr wrap="square" rtlCol="0">
            <a:spAutoFit/>
          </a:bodyPr>
          <a:lstStyle/>
          <a:p>
            <a:r>
              <a:rPr lang="en-US" sz="3200"/>
              <a:t>A basic GLM function is included with NeuroDOT</a:t>
            </a:r>
          </a:p>
        </p:txBody>
      </p:sp>
      <p:sp>
        <p:nvSpPr>
          <p:cNvPr id="9" name="TextBox 8">
            <a:extLst>
              <a:ext uri="{FF2B5EF4-FFF2-40B4-BE49-F238E27FC236}">
                <a16:creationId xmlns:a16="http://schemas.microsoft.com/office/drawing/2014/main" id="{13774961-FEBA-B03A-A94C-025B662D3540}"/>
              </a:ext>
            </a:extLst>
          </p:cNvPr>
          <p:cNvSpPr txBox="1"/>
          <p:nvPr/>
        </p:nvSpPr>
        <p:spPr>
          <a:xfrm>
            <a:off x="1917362" y="1705648"/>
            <a:ext cx="8357276" cy="1815882"/>
          </a:xfrm>
          <a:prstGeom prst="rect">
            <a:avLst/>
          </a:prstGeom>
          <a:solidFill>
            <a:schemeClr val="tx1"/>
          </a:solidFill>
        </p:spPr>
        <p:txBody>
          <a:bodyPr wrap="square" rtlCol="0">
            <a:spAutoFit/>
          </a:bodyPr>
          <a:lstStyle/>
          <a:p>
            <a:r>
              <a:rPr lang="en-US" sz="1400" b="0" i="0">
                <a:solidFill>
                  <a:srgbClr val="0E00FF"/>
                </a:solidFill>
                <a:effectLst/>
                <a:latin typeface="Menlo" panose="020B0609030804020204" pitchFamily="49" charset="0"/>
              </a:rPr>
              <a:t>function </a:t>
            </a:r>
            <a:r>
              <a:rPr lang="en-US" sz="1400" b="0" i="0">
                <a:solidFill>
                  <a:schemeClr val="bg1"/>
                </a:solidFill>
                <a:effectLst/>
                <a:latin typeface="Menlo" panose="020B0609030804020204" pitchFamily="49" charset="0"/>
              </a:rPr>
              <a:t>[b,e,DM,EDM,keep, r_sqrd] = GLM_181206(data,hrf,info,params)</a:t>
            </a:r>
          </a:p>
          <a:p>
            <a:r>
              <a:rPr lang="en-US" sz="1400" b="0" i="0">
                <a:solidFill>
                  <a:srgbClr val="008013"/>
                </a:solidFill>
                <a:effectLst/>
                <a:latin typeface="Menlo" panose="020B0609030804020204" pitchFamily="49" charset="0"/>
              </a:rPr>
              <a:t>%</a:t>
            </a:r>
            <a:endParaRPr lang="en-US" sz="1400" b="0" i="0">
              <a:effectLst/>
              <a:latin typeface="Menlo" panose="020B0609030804020204" pitchFamily="49" charset="0"/>
            </a:endParaRPr>
          </a:p>
          <a:p>
            <a:r>
              <a:rPr lang="en-US" sz="1400" b="0" i="0">
                <a:solidFill>
                  <a:srgbClr val="008013"/>
                </a:solidFill>
                <a:effectLst/>
                <a:latin typeface="Menlo" panose="020B0609030804020204" pitchFamily="49" charset="0"/>
              </a:rPr>
              <a:t>% This code creates a general linear model (GLM) based on a model of the</a:t>
            </a:r>
            <a:endParaRPr lang="en-US" sz="1400" b="0" i="0">
              <a:effectLst/>
              <a:latin typeface="Menlo" panose="020B0609030804020204" pitchFamily="49" charset="0"/>
            </a:endParaRPr>
          </a:p>
          <a:p>
            <a:r>
              <a:rPr lang="en-US" sz="1400" b="0" i="0">
                <a:solidFill>
                  <a:srgbClr val="008013"/>
                </a:solidFill>
                <a:effectLst/>
                <a:latin typeface="Menlo" panose="020B0609030804020204" pitchFamily="49" charset="0"/>
              </a:rPr>
              <a:t>% hemodynamic response function (hrf) and a set of stimulus times</a:t>
            </a:r>
            <a:endParaRPr lang="en-US" sz="1400" b="0" i="0">
              <a:effectLst/>
              <a:latin typeface="Menlo" panose="020B0609030804020204" pitchFamily="49" charset="0"/>
            </a:endParaRPr>
          </a:p>
          <a:p>
            <a:r>
              <a:rPr lang="en-US" sz="1400" b="0" i="0">
                <a:solidFill>
                  <a:srgbClr val="008013"/>
                </a:solidFill>
                <a:effectLst/>
                <a:latin typeface="Menlo" panose="020B0609030804020204" pitchFamily="49" charset="0"/>
              </a:rPr>
              <a:t>% (info.paradigm.synchpts).</a:t>
            </a:r>
            <a:endParaRPr lang="en-US" sz="1400" b="0" i="0">
              <a:effectLst/>
              <a:latin typeface="Menlo" panose="020B0609030804020204" pitchFamily="49" charset="0"/>
            </a:endParaRPr>
          </a:p>
          <a:p>
            <a:r>
              <a:rPr lang="en-US" sz="1400" b="0" i="0">
                <a:solidFill>
                  <a:srgbClr val="008013"/>
                </a:solidFill>
                <a:effectLst/>
                <a:latin typeface="Menlo" panose="020B0609030804020204" pitchFamily="49" charset="0"/>
              </a:rPr>
              <a:t>% The GLM is then applied to the data to generate Beta maps and residuals.</a:t>
            </a:r>
            <a:endParaRPr lang="en-US" sz="1400" b="0" i="0">
              <a:effectLst/>
              <a:latin typeface="Menlo" panose="020B0609030804020204" pitchFamily="49" charset="0"/>
            </a:endParaRPr>
          </a:p>
          <a:p>
            <a:r>
              <a:rPr lang="en-US" sz="1400" b="0" i="0">
                <a:solidFill>
                  <a:srgbClr val="008013"/>
                </a:solidFill>
                <a:effectLst/>
                <a:latin typeface="Menlo" panose="020B0609030804020204" pitchFamily="49" charset="0"/>
              </a:rPr>
              <a:t>% It is assumed that the data is [voxels X time].</a:t>
            </a:r>
            <a:endParaRPr lang="en-US" sz="1400" b="0" i="0">
              <a:effectLst/>
              <a:latin typeface="Menlo" panose="020B0609030804020204" pitchFamily="49" charset="0"/>
            </a:endParaRPr>
          </a:p>
          <a:p>
            <a:r>
              <a:rPr lang="en-US" sz="1400" b="0" i="0">
                <a:solidFill>
                  <a:srgbClr val="008013"/>
                </a:solidFill>
                <a:effectLst/>
                <a:latin typeface="Menlo" panose="020B0609030804020204" pitchFamily="49" charset="0"/>
              </a:rPr>
              <a:t>% The hrf is a modelled hemodynamic response.</a:t>
            </a:r>
            <a:endParaRPr lang="en-US" sz="1400" b="0" i="0">
              <a:effectLst/>
              <a:latin typeface="Menlo" panose="020B0609030804020204" pitchFamily="49" charset="0"/>
            </a:endParaRPr>
          </a:p>
        </p:txBody>
      </p:sp>
      <p:sp>
        <p:nvSpPr>
          <p:cNvPr id="10" name="Oval 9">
            <a:extLst>
              <a:ext uri="{FF2B5EF4-FFF2-40B4-BE49-F238E27FC236}">
                <a16:creationId xmlns:a16="http://schemas.microsoft.com/office/drawing/2014/main" id="{8C14D394-090D-78DD-BD80-A546479291B9}"/>
              </a:ext>
            </a:extLst>
          </p:cNvPr>
          <p:cNvSpPr/>
          <p:nvPr/>
        </p:nvSpPr>
        <p:spPr>
          <a:xfrm>
            <a:off x="5499279" y="1334479"/>
            <a:ext cx="2253803" cy="1004552"/>
          </a:xfrm>
          <a:prstGeom prst="ellipse">
            <a:avLst/>
          </a:prstGeom>
          <a:noFill/>
          <a:ln w="222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1DCD467-CD3C-C2F2-61BB-6F9AD6E18D01}"/>
              </a:ext>
            </a:extLst>
          </p:cNvPr>
          <p:cNvSpPr txBox="1"/>
          <p:nvPr/>
        </p:nvSpPr>
        <p:spPr>
          <a:xfrm>
            <a:off x="7585656" y="673534"/>
            <a:ext cx="3271234" cy="738664"/>
          </a:xfrm>
          <a:prstGeom prst="rect">
            <a:avLst/>
          </a:prstGeom>
          <a:noFill/>
        </p:spPr>
        <p:txBody>
          <a:bodyPr wrap="square" rtlCol="0">
            <a:spAutoFit/>
          </a:bodyPr>
          <a:lstStyle/>
          <a:p>
            <a:r>
              <a:rPr lang="en-US" sz="1400"/>
              <a:t>The function name in your distribution may be slightly different based on the version of NeuroDOT you are running…</a:t>
            </a:r>
          </a:p>
        </p:txBody>
      </p:sp>
    </p:spTree>
    <p:extLst>
      <p:ext uri="{BB962C8B-B14F-4D97-AF65-F5344CB8AC3E}">
        <p14:creationId xmlns:p14="http://schemas.microsoft.com/office/powerpoint/2010/main" val="35084432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E9E2496-70CF-DCD4-A673-C4BC35FCCEC7}"/>
              </a:ext>
            </a:extLst>
          </p:cNvPr>
          <p:cNvSpPr txBox="1"/>
          <p:nvPr/>
        </p:nvSpPr>
        <p:spPr>
          <a:xfrm>
            <a:off x="965915" y="515155"/>
            <a:ext cx="4430333" cy="646331"/>
          </a:xfrm>
          <a:prstGeom prst="rect">
            <a:avLst/>
          </a:prstGeom>
          <a:noFill/>
        </p:spPr>
        <p:txBody>
          <a:bodyPr wrap="square" rtlCol="0">
            <a:spAutoFit/>
          </a:bodyPr>
          <a:lstStyle/>
          <a:p>
            <a:r>
              <a:rPr lang="en-US" sz="3600">
                <a:solidFill>
                  <a:srgbClr val="FF0000"/>
                </a:solidFill>
              </a:rPr>
              <a:t>Example Use</a:t>
            </a:r>
          </a:p>
        </p:txBody>
      </p:sp>
      <p:pic>
        <p:nvPicPr>
          <p:cNvPr id="5" name="Picture 4">
            <a:extLst>
              <a:ext uri="{FF2B5EF4-FFF2-40B4-BE49-F238E27FC236}">
                <a16:creationId xmlns:a16="http://schemas.microsoft.com/office/drawing/2014/main" id="{9144409F-2121-3994-0280-3849A0566FA6}"/>
              </a:ext>
            </a:extLst>
          </p:cNvPr>
          <p:cNvPicPr>
            <a:picLocks noChangeAspect="1"/>
          </p:cNvPicPr>
          <p:nvPr/>
        </p:nvPicPr>
        <p:blipFill>
          <a:blip r:embed="rId2"/>
          <a:stretch>
            <a:fillRect/>
          </a:stretch>
        </p:blipFill>
        <p:spPr>
          <a:xfrm>
            <a:off x="7888909" y="643944"/>
            <a:ext cx="2340556" cy="2607972"/>
          </a:xfrm>
          <a:prstGeom prst="rect">
            <a:avLst/>
          </a:prstGeom>
        </p:spPr>
      </p:pic>
      <p:pic>
        <p:nvPicPr>
          <p:cNvPr id="6" name="Picture 5">
            <a:extLst>
              <a:ext uri="{FF2B5EF4-FFF2-40B4-BE49-F238E27FC236}">
                <a16:creationId xmlns:a16="http://schemas.microsoft.com/office/drawing/2014/main" id="{6F016018-2E17-7A63-C3BF-C4A80F31F2B1}"/>
              </a:ext>
            </a:extLst>
          </p:cNvPr>
          <p:cNvPicPr>
            <a:picLocks noChangeAspect="1"/>
          </p:cNvPicPr>
          <p:nvPr/>
        </p:nvPicPr>
        <p:blipFill>
          <a:blip r:embed="rId3"/>
          <a:stretch>
            <a:fillRect/>
          </a:stretch>
        </p:blipFill>
        <p:spPr>
          <a:xfrm>
            <a:off x="7888909" y="3251916"/>
            <a:ext cx="2340556" cy="2705936"/>
          </a:xfrm>
          <a:prstGeom prst="rect">
            <a:avLst/>
          </a:prstGeom>
        </p:spPr>
      </p:pic>
      <p:sp>
        <p:nvSpPr>
          <p:cNvPr id="7" name="TextBox 6">
            <a:extLst>
              <a:ext uri="{FF2B5EF4-FFF2-40B4-BE49-F238E27FC236}">
                <a16:creationId xmlns:a16="http://schemas.microsoft.com/office/drawing/2014/main" id="{6FFD3D41-5EEA-FB95-62A9-5E3AD2A69273}"/>
              </a:ext>
            </a:extLst>
          </p:cNvPr>
          <p:cNvSpPr txBox="1"/>
          <p:nvPr/>
        </p:nvSpPr>
        <p:spPr>
          <a:xfrm>
            <a:off x="8368468" y="6027312"/>
            <a:ext cx="1625538" cy="369332"/>
          </a:xfrm>
          <a:prstGeom prst="rect">
            <a:avLst/>
          </a:prstGeom>
          <a:noFill/>
        </p:spPr>
        <p:txBody>
          <a:bodyPr wrap="square" rtlCol="0">
            <a:spAutoFit/>
          </a:bodyPr>
          <a:lstStyle/>
          <a:p>
            <a:r>
              <a:rPr lang="en-US"/>
              <a:t>example script</a:t>
            </a:r>
          </a:p>
        </p:txBody>
      </p:sp>
      <p:sp>
        <p:nvSpPr>
          <p:cNvPr id="8" name="TextBox 7">
            <a:extLst>
              <a:ext uri="{FF2B5EF4-FFF2-40B4-BE49-F238E27FC236}">
                <a16:creationId xmlns:a16="http://schemas.microsoft.com/office/drawing/2014/main" id="{BABF6BEE-59E4-BFE6-483F-D5C212F8640F}"/>
              </a:ext>
            </a:extLst>
          </p:cNvPr>
          <p:cNvSpPr txBox="1"/>
          <p:nvPr/>
        </p:nvSpPr>
        <p:spPr>
          <a:xfrm>
            <a:off x="746976" y="1533005"/>
            <a:ext cx="6362164" cy="4524315"/>
          </a:xfrm>
          <a:prstGeom prst="rect">
            <a:avLst/>
          </a:prstGeom>
          <a:noFill/>
        </p:spPr>
        <p:txBody>
          <a:bodyPr wrap="square" rtlCol="0">
            <a:spAutoFit/>
          </a:bodyPr>
          <a:lstStyle/>
          <a:p>
            <a:r>
              <a:rPr lang="en-US"/>
              <a:t>To illustrate use of the NeuroDOT GLM function, a simple example script is provided that sets up the inputs, runs the GLM, then renders the fitted model on the cortical surface.</a:t>
            </a:r>
          </a:p>
          <a:p>
            <a:endParaRPr lang="en-US"/>
          </a:p>
          <a:p>
            <a:r>
              <a:rPr lang="en-US"/>
              <a:t>The experimental paradigm consists of presenting a flickering checkerboard in either the left or right visual hemifield:</a:t>
            </a:r>
          </a:p>
          <a:p>
            <a:endParaRPr lang="en-US"/>
          </a:p>
          <a:p>
            <a:endParaRPr lang="en-US"/>
          </a:p>
          <a:p>
            <a:endParaRPr lang="en-US"/>
          </a:p>
          <a:p>
            <a:endParaRPr lang="en-US"/>
          </a:p>
          <a:p>
            <a:endParaRPr lang="en-US"/>
          </a:p>
          <a:p>
            <a:endParaRPr lang="en-US"/>
          </a:p>
          <a:p>
            <a:endParaRPr lang="en-US"/>
          </a:p>
          <a:p>
            <a:endParaRPr lang="en-US"/>
          </a:p>
          <a:p>
            <a:endParaRPr lang="en-US"/>
          </a:p>
          <a:p>
            <a:r>
              <a:rPr lang="en-US"/>
              <a:t>The following slides explain the code section by section.</a:t>
            </a:r>
          </a:p>
        </p:txBody>
      </p:sp>
      <p:grpSp>
        <p:nvGrpSpPr>
          <p:cNvPr id="3" name="Group 2">
            <a:extLst>
              <a:ext uri="{FF2B5EF4-FFF2-40B4-BE49-F238E27FC236}">
                <a16:creationId xmlns:a16="http://schemas.microsoft.com/office/drawing/2014/main" id="{CF284458-06F2-81E8-5617-08384A7F4A80}"/>
              </a:ext>
            </a:extLst>
          </p:cNvPr>
          <p:cNvGrpSpPr/>
          <p:nvPr/>
        </p:nvGrpSpPr>
        <p:grpSpPr>
          <a:xfrm>
            <a:off x="1200388" y="3512107"/>
            <a:ext cx="3395099" cy="1529550"/>
            <a:chOff x="7121633" y="2515285"/>
            <a:chExt cx="4838700" cy="2179917"/>
          </a:xfrm>
        </p:grpSpPr>
        <p:pic>
          <p:nvPicPr>
            <p:cNvPr id="4" name="Picture 3">
              <a:extLst>
                <a:ext uri="{FF2B5EF4-FFF2-40B4-BE49-F238E27FC236}">
                  <a16:creationId xmlns:a16="http://schemas.microsoft.com/office/drawing/2014/main" id="{59F062AF-E5A0-80EF-E9EA-20F80E6D7C27}"/>
                </a:ext>
              </a:extLst>
            </p:cNvPr>
            <p:cNvPicPr>
              <a:picLocks noChangeAspect="1"/>
            </p:cNvPicPr>
            <p:nvPr/>
          </p:nvPicPr>
          <p:blipFill>
            <a:blip r:embed="rId4"/>
            <a:stretch>
              <a:fillRect/>
            </a:stretch>
          </p:blipFill>
          <p:spPr>
            <a:xfrm>
              <a:off x="7121633" y="2515285"/>
              <a:ext cx="4838700" cy="2179917"/>
            </a:xfrm>
            <a:prstGeom prst="rect">
              <a:avLst/>
            </a:prstGeom>
          </p:spPr>
        </p:pic>
        <p:cxnSp>
          <p:nvCxnSpPr>
            <p:cNvPr id="9" name="Straight Connector 8">
              <a:extLst>
                <a:ext uri="{FF2B5EF4-FFF2-40B4-BE49-F238E27FC236}">
                  <a16:creationId xmlns:a16="http://schemas.microsoft.com/office/drawing/2014/main" id="{3C9EE84F-7020-5978-27C7-C2B4B75CCE5C}"/>
                </a:ext>
              </a:extLst>
            </p:cNvPr>
            <p:cNvCxnSpPr/>
            <p:nvPr/>
          </p:nvCxnSpPr>
          <p:spPr>
            <a:xfrm>
              <a:off x="8081554" y="3055891"/>
              <a:ext cx="8163" cy="1379547"/>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DCAD533-0146-8495-D52B-7B10E6B29E7A}"/>
                </a:ext>
              </a:extLst>
            </p:cNvPr>
            <p:cNvCxnSpPr/>
            <p:nvPr/>
          </p:nvCxnSpPr>
          <p:spPr>
            <a:xfrm>
              <a:off x="8457791" y="3055890"/>
              <a:ext cx="8163" cy="1379547"/>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55709FB-A767-969A-874E-36AB78308E07}"/>
                </a:ext>
              </a:extLst>
            </p:cNvPr>
            <p:cNvCxnSpPr/>
            <p:nvPr/>
          </p:nvCxnSpPr>
          <p:spPr>
            <a:xfrm>
              <a:off x="8824502" y="3055889"/>
              <a:ext cx="8163" cy="1379547"/>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A8A41A9-32A6-F997-E211-0C730BA06492}"/>
                </a:ext>
              </a:extLst>
            </p:cNvPr>
            <p:cNvCxnSpPr/>
            <p:nvPr/>
          </p:nvCxnSpPr>
          <p:spPr>
            <a:xfrm>
              <a:off x="9196657" y="3055889"/>
              <a:ext cx="8163" cy="1379547"/>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3AD4AD8-2D1B-7362-EDDD-2EEA85BA732C}"/>
                </a:ext>
              </a:extLst>
            </p:cNvPr>
            <p:cNvCxnSpPr/>
            <p:nvPr/>
          </p:nvCxnSpPr>
          <p:spPr>
            <a:xfrm>
              <a:off x="9593303" y="3055887"/>
              <a:ext cx="8163" cy="1379547"/>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49974FA-697F-8A00-3E05-FF4937EFE66C}"/>
                </a:ext>
              </a:extLst>
            </p:cNvPr>
            <p:cNvCxnSpPr/>
            <p:nvPr/>
          </p:nvCxnSpPr>
          <p:spPr>
            <a:xfrm>
              <a:off x="9977703" y="3055888"/>
              <a:ext cx="8163" cy="1379547"/>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96A9930-E0C4-4D55-E844-4216CD243BC2}"/>
                </a:ext>
              </a:extLst>
            </p:cNvPr>
            <p:cNvCxnSpPr/>
            <p:nvPr/>
          </p:nvCxnSpPr>
          <p:spPr>
            <a:xfrm>
              <a:off x="10355297" y="3055887"/>
              <a:ext cx="8163" cy="1379547"/>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A053F14-71B3-B85F-37B1-A10E16A909DE}"/>
                </a:ext>
              </a:extLst>
            </p:cNvPr>
            <p:cNvCxnSpPr/>
            <p:nvPr/>
          </p:nvCxnSpPr>
          <p:spPr>
            <a:xfrm>
              <a:off x="10741060" y="3055887"/>
              <a:ext cx="8163" cy="1379547"/>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959557F-3FFD-F778-F408-BD1AFD743017}"/>
                </a:ext>
              </a:extLst>
            </p:cNvPr>
            <p:cNvCxnSpPr/>
            <p:nvPr/>
          </p:nvCxnSpPr>
          <p:spPr>
            <a:xfrm>
              <a:off x="11113215" y="3065417"/>
              <a:ext cx="8163" cy="1379547"/>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0C1A00F-7875-8576-2F5B-50B248AE656D}"/>
                </a:ext>
              </a:extLst>
            </p:cNvPr>
            <p:cNvCxnSpPr/>
            <p:nvPr/>
          </p:nvCxnSpPr>
          <p:spPr>
            <a:xfrm>
              <a:off x="11494075" y="3067752"/>
              <a:ext cx="8163" cy="1379547"/>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9" name="TextBox 18">
            <a:extLst>
              <a:ext uri="{FF2B5EF4-FFF2-40B4-BE49-F238E27FC236}">
                <a16:creationId xmlns:a16="http://schemas.microsoft.com/office/drawing/2014/main" id="{17DF791E-AEFE-B87F-39B2-00748CCFA840}"/>
              </a:ext>
            </a:extLst>
          </p:cNvPr>
          <p:cNvSpPr txBox="1"/>
          <p:nvPr/>
        </p:nvSpPr>
        <p:spPr>
          <a:xfrm>
            <a:off x="2935319" y="3540676"/>
            <a:ext cx="1520967" cy="307777"/>
          </a:xfrm>
          <a:prstGeom prst="rect">
            <a:avLst/>
          </a:prstGeom>
          <a:noFill/>
        </p:spPr>
        <p:txBody>
          <a:bodyPr wrap="square" rtlCol="0">
            <a:spAutoFit/>
          </a:bodyPr>
          <a:lstStyle/>
          <a:p>
            <a:r>
              <a:rPr lang="en-US" sz="1400">
                <a:solidFill>
                  <a:schemeClr val="bg1"/>
                </a:solidFill>
              </a:rPr>
              <a:t>} stimulus</a:t>
            </a:r>
          </a:p>
        </p:txBody>
      </p:sp>
      <p:sp>
        <p:nvSpPr>
          <p:cNvPr id="20" name="TextBox 19">
            <a:extLst>
              <a:ext uri="{FF2B5EF4-FFF2-40B4-BE49-F238E27FC236}">
                <a16:creationId xmlns:a16="http://schemas.microsoft.com/office/drawing/2014/main" id="{E9A84783-D36D-65E7-F022-B2AB6D1DF1CB}"/>
              </a:ext>
            </a:extLst>
          </p:cNvPr>
          <p:cNvSpPr txBox="1"/>
          <p:nvPr/>
        </p:nvSpPr>
        <p:spPr>
          <a:xfrm>
            <a:off x="5198635" y="4060234"/>
            <a:ext cx="1463445" cy="738664"/>
          </a:xfrm>
          <a:prstGeom prst="rect">
            <a:avLst/>
          </a:prstGeom>
          <a:noFill/>
        </p:spPr>
        <p:txBody>
          <a:bodyPr wrap="square" rtlCol="0">
            <a:spAutoFit/>
          </a:bodyPr>
          <a:lstStyle/>
          <a:p>
            <a:pPr algn="ctr"/>
            <a:r>
              <a:rPr lang="en-US" sz="1400"/>
              <a:t>representative reconstructed VI responses</a:t>
            </a:r>
          </a:p>
        </p:txBody>
      </p:sp>
      <p:sp>
        <p:nvSpPr>
          <p:cNvPr id="21" name="Right Brace 20">
            <a:extLst>
              <a:ext uri="{FF2B5EF4-FFF2-40B4-BE49-F238E27FC236}">
                <a16:creationId xmlns:a16="http://schemas.microsoft.com/office/drawing/2014/main" id="{B90A2CD5-74FF-BF23-61C7-A357E5A0493C}"/>
              </a:ext>
            </a:extLst>
          </p:cNvPr>
          <p:cNvSpPr/>
          <p:nvPr/>
        </p:nvSpPr>
        <p:spPr>
          <a:xfrm>
            <a:off x="4868068" y="3887748"/>
            <a:ext cx="283862" cy="1083637"/>
          </a:xfrm>
          <a:prstGeom prst="righ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367158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75BB2-15A0-2B30-DAD2-34081EDB494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723B965-DD67-A755-BBF6-5C977E159737}"/>
              </a:ext>
            </a:extLst>
          </p:cNvPr>
          <p:cNvSpPr txBox="1"/>
          <p:nvPr/>
        </p:nvSpPr>
        <p:spPr>
          <a:xfrm>
            <a:off x="965915" y="515155"/>
            <a:ext cx="6766728" cy="646331"/>
          </a:xfrm>
          <a:prstGeom prst="rect">
            <a:avLst/>
          </a:prstGeom>
          <a:noFill/>
        </p:spPr>
        <p:txBody>
          <a:bodyPr wrap="square" rtlCol="0">
            <a:spAutoFit/>
          </a:bodyPr>
          <a:lstStyle/>
          <a:p>
            <a:r>
              <a:rPr lang="en-US" sz="3600">
                <a:solidFill>
                  <a:srgbClr val="FF0000"/>
                </a:solidFill>
              </a:rPr>
              <a:t>Running the Example Code (1/5)</a:t>
            </a:r>
          </a:p>
        </p:txBody>
      </p:sp>
      <p:grpSp>
        <p:nvGrpSpPr>
          <p:cNvPr id="3" name="Group 2">
            <a:extLst>
              <a:ext uri="{FF2B5EF4-FFF2-40B4-BE49-F238E27FC236}">
                <a16:creationId xmlns:a16="http://schemas.microsoft.com/office/drawing/2014/main" id="{39E345DD-56C9-096B-C089-42F1268A9517}"/>
              </a:ext>
            </a:extLst>
          </p:cNvPr>
          <p:cNvGrpSpPr/>
          <p:nvPr/>
        </p:nvGrpSpPr>
        <p:grpSpPr>
          <a:xfrm>
            <a:off x="9059187" y="515155"/>
            <a:ext cx="2340556" cy="5313908"/>
            <a:chOff x="7888909" y="643944"/>
            <a:chExt cx="2340556" cy="5313908"/>
          </a:xfrm>
        </p:grpSpPr>
        <p:pic>
          <p:nvPicPr>
            <p:cNvPr id="5" name="Picture 4">
              <a:extLst>
                <a:ext uri="{FF2B5EF4-FFF2-40B4-BE49-F238E27FC236}">
                  <a16:creationId xmlns:a16="http://schemas.microsoft.com/office/drawing/2014/main" id="{8E45872B-49F7-AFF4-367A-6FDBFC88235A}"/>
                </a:ext>
              </a:extLst>
            </p:cNvPr>
            <p:cNvPicPr>
              <a:picLocks noChangeAspect="1"/>
            </p:cNvPicPr>
            <p:nvPr/>
          </p:nvPicPr>
          <p:blipFill>
            <a:blip r:embed="rId2"/>
            <a:stretch>
              <a:fillRect/>
            </a:stretch>
          </p:blipFill>
          <p:spPr>
            <a:xfrm>
              <a:off x="7888909" y="643944"/>
              <a:ext cx="2340556" cy="2607972"/>
            </a:xfrm>
            <a:prstGeom prst="rect">
              <a:avLst/>
            </a:prstGeom>
          </p:spPr>
        </p:pic>
        <p:pic>
          <p:nvPicPr>
            <p:cNvPr id="6" name="Picture 5">
              <a:extLst>
                <a:ext uri="{FF2B5EF4-FFF2-40B4-BE49-F238E27FC236}">
                  <a16:creationId xmlns:a16="http://schemas.microsoft.com/office/drawing/2014/main" id="{464221A4-7FE8-B0A6-8756-C60545D2DCF5}"/>
                </a:ext>
              </a:extLst>
            </p:cNvPr>
            <p:cNvPicPr>
              <a:picLocks noChangeAspect="1"/>
            </p:cNvPicPr>
            <p:nvPr/>
          </p:nvPicPr>
          <p:blipFill>
            <a:blip r:embed="rId3"/>
            <a:stretch>
              <a:fillRect/>
            </a:stretch>
          </p:blipFill>
          <p:spPr>
            <a:xfrm>
              <a:off x="7888909" y="3251916"/>
              <a:ext cx="2340556" cy="2705936"/>
            </a:xfrm>
            <a:prstGeom prst="rect">
              <a:avLst/>
            </a:prstGeom>
          </p:spPr>
        </p:pic>
      </p:grpSp>
      <p:sp>
        <p:nvSpPr>
          <p:cNvPr id="8" name="TextBox 7">
            <a:extLst>
              <a:ext uri="{FF2B5EF4-FFF2-40B4-BE49-F238E27FC236}">
                <a16:creationId xmlns:a16="http://schemas.microsoft.com/office/drawing/2014/main" id="{180A0A01-888A-E3BE-84E2-4BA60383B707}"/>
              </a:ext>
            </a:extLst>
          </p:cNvPr>
          <p:cNvSpPr txBox="1"/>
          <p:nvPr/>
        </p:nvSpPr>
        <p:spPr>
          <a:xfrm>
            <a:off x="840451" y="4950809"/>
            <a:ext cx="7308554" cy="646331"/>
          </a:xfrm>
          <a:prstGeom prst="rect">
            <a:avLst/>
          </a:prstGeom>
          <a:noFill/>
        </p:spPr>
        <p:txBody>
          <a:bodyPr wrap="square" rtlCol="0">
            <a:spAutoFit/>
          </a:bodyPr>
          <a:lstStyle/>
          <a:p>
            <a:r>
              <a:rPr lang="en-US"/>
              <a:t>The first section loads the HRF, a cortical mesh (used later to render the beta maps), and sample data that was prepared for this example. </a:t>
            </a:r>
          </a:p>
        </p:txBody>
      </p:sp>
      <p:pic>
        <p:nvPicPr>
          <p:cNvPr id="9" name="Picture 8">
            <a:extLst>
              <a:ext uri="{FF2B5EF4-FFF2-40B4-BE49-F238E27FC236}">
                <a16:creationId xmlns:a16="http://schemas.microsoft.com/office/drawing/2014/main" id="{D818B7D0-6BAC-D7E7-B473-79E1040EDFDB}"/>
              </a:ext>
            </a:extLst>
          </p:cNvPr>
          <p:cNvPicPr>
            <a:picLocks noChangeAspect="1"/>
          </p:cNvPicPr>
          <p:nvPr/>
        </p:nvPicPr>
        <p:blipFill>
          <a:blip r:embed="rId4"/>
          <a:stretch>
            <a:fillRect/>
          </a:stretch>
        </p:blipFill>
        <p:spPr>
          <a:xfrm>
            <a:off x="608528" y="1640653"/>
            <a:ext cx="7772400" cy="2964948"/>
          </a:xfrm>
          <a:prstGeom prst="rect">
            <a:avLst/>
          </a:prstGeom>
        </p:spPr>
      </p:pic>
      <p:sp>
        <p:nvSpPr>
          <p:cNvPr id="10" name="Double Bracket 9">
            <a:extLst>
              <a:ext uri="{FF2B5EF4-FFF2-40B4-BE49-F238E27FC236}">
                <a16:creationId xmlns:a16="http://schemas.microsoft.com/office/drawing/2014/main" id="{635B490F-D060-2BC2-8D9B-28F4287B5910}"/>
              </a:ext>
            </a:extLst>
          </p:cNvPr>
          <p:cNvSpPr/>
          <p:nvPr/>
        </p:nvSpPr>
        <p:spPr>
          <a:xfrm>
            <a:off x="8774152" y="1275008"/>
            <a:ext cx="2910626" cy="772734"/>
          </a:xfrm>
          <a:prstGeom prst="bracketPair">
            <a:avLst/>
          </a:prstGeom>
          <a:ln w="317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98948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44495-7A39-1DFD-C9A9-1DFF4F889EA2}"/>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3F5B0CB2-C6F7-5BF7-5118-170F0D2098E4}"/>
              </a:ext>
            </a:extLst>
          </p:cNvPr>
          <p:cNvGrpSpPr/>
          <p:nvPr/>
        </p:nvGrpSpPr>
        <p:grpSpPr>
          <a:xfrm>
            <a:off x="9059187" y="515155"/>
            <a:ext cx="2340556" cy="5313908"/>
            <a:chOff x="7888909" y="643944"/>
            <a:chExt cx="2340556" cy="5313908"/>
          </a:xfrm>
        </p:grpSpPr>
        <p:pic>
          <p:nvPicPr>
            <p:cNvPr id="5" name="Picture 4">
              <a:extLst>
                <a:ext uri="{FF2B5EF4-FFF2-40B4-BE49-F238E27FC236}">
                  <a16:creationId xmlns:a16="http://schemas.microsoft.com/office/drawing/2014/main" id="{9F63251A-8DD5-7BA1-9587-FF406940CD9B}"/>
                </a:ext>
              </a:extLst>
            </p:cNvPr>
            <p:cNvPicPr>
              <a:picLocks noChangeAspect="1"/>
            </p:cNvPicPr>
            <p:nvPr/>
          </p:nvPicPr>
          <p:blipFill>
            <a:blip r:embed="rId2"/>
            <a:stretch>
              <a:fillRect/>
            </a:stretch>
          </p:blipFill>
          <p:spPr>
            <a:xfrm>
              <a:off x="7888909" y="643944"/>
              <a:ext cx="2340556" cy="2607972"/>
            </a:xfrm>
            <a:prstGeom prst="rect">
              <a:avLst/>
            </a:prstGeom>
          </p:spPr>
        </p:pic>
        <p:pic>
          <p:nvPicPr>
            <p:cNvPr id="6" name="Picture 5">
              <a:extLst>
                <a:ext uri="{FF2B5EF4-FFF2-40B4-BE49-F238E27FC236}">
                  <a16:creationId xmlns:a16="http://schemas.microsoft.com/office/drawing/2014/main" id="{06BC8D6A-345D-A471-6B5C-89EF39D306CF}"/>
                </a:ext>
              </a:extLst>
            </p:cNvPr>
            <p:cNvPicPr>
              <a:picLocks noChangeAspect="1"/>
            </p:cNvPicPr>
            <p:nvPr/>
          </p:nvPicPr>
          <p:blipFill>
            <a:blip r:embed="rId3"/>
            <a:stretch>
              <a:fillRect/>
            </a:stretch>
          </p:blipFill>
          <p:spPr>
            <a:xfrm>
              <a:off x="7888909" y="3251916"/>
              <a:ext cx="2340556" cy="2705936"/>
            </a:xfrm>
            <a:prstGeom prst="rect">
              <a:avLst/>
            </a:prstGeom>
          </p:spPr>
        </p:pic>
      </p:grpSp>
      <p:sp>
        <p:nvSpPr>
          <p:cNvPr id="8" name="TextBox 7">
            <a:extLst>
              <a:ext uri="{FF2B5EF4-FFF2-40B4-BE49-F238E27FC236}">
                <a16:creationId xmlns:a16="http://schemas.microsoft.com/office/drawing/2014/main" id="{C4B36223-2642-2F5F-29B9-B13334C6A437}"/>
              </a:ext>
            </a:extLst>
          </p:cNvPr>
          <p:cNvSpPr txBox="1"/>
          <p:nvPr/>
        </p:nvSpPr>
        <p:spPr>
          <a:xfrm>
            <a:off x="965915" y="3123127"/>
            <a:ext cx="7308554" cy="1200329"/>
          </a:xfrm>
          <a:prstGeom prst="rect">
            <a:avLst/>
          </a:prstGeom>
          <a:noFill/>
        </p:spPr>
        <p:txBody>
          <a:bodyPr wrap="square" rtlCol="0">
            <a:spAutoFit/>
          </a:bodyPr>
          <a:lstStyle/>
          <a:p>
            <a:r>
              <a:rPr lang="en-US"/>
              <a:t>The next section specifies that GVTD frame censoring should be applied (including a threshold of 0.001) and that the data should be bandpass filtered. Default lowpass and highpass cutoffs of 0.02 and 0.05 Hz are used, although custom values can be passed.</a:t>
            </a:r>
          </a:p>
        </p:txBody>
      </p:sp>
      <p:sp>
        <p:nvSpPr>
          <p:cNvPr id="10" name="Double Bracket 9">
            <a:extLst>
              <a:ext uri="{FF2B5EF4-FFF2-40B4-BE49-F238E27FC236}">
                <a16:creationId xmlns:a16="http://schemas.microsoft.com/office/drawing/2014/main" id="{44A0440E-6CCD-A7C0-46EC-379A8C57FF76}"/>
              </a:ext>
            </a:extLst>
          </p:cNvPr>
          <p:cNvSpPr/>
          <p:nvPr/>
        </p:nvSpPr>
        <p:spPr>
          <a:xfrm>
            <a:off x="8774152" y="1944709"/>
            <a:ext cx="2910626" cy="451447"/>
          </a:xfrm>
          <a:prstGeom prst="bracketPair">
            <a:avLst/>
          </a:prstGeom>
          <a:ln w="317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4" name="Picture 3">
            <a:extLst>
              <a:ext uri="{FF2B5EF4-FFF2-40B4-BE49-F238E27FC236}">
                <a16:creationId xmlns:a16="http://schemas.microsoft.com/office/drawing/2014/main" id="{CC9A71E7-EB25-2C00-A3F0-06214ABE9327}"/>
              </a:ext>
            </a:extLst>
          </p:cNvPr>
          <p:cNvPicPr>
            <a:picLocks noChangeAspect="1"/>
          </p:cNvPicPr>
          <p:nvPr/>
        </p:nvPicPr>
        <p:blipFill>
          <a:blip r:embed="rId4"/>
          <a:stretch>
            <a:fillRect/>
          </a:stretch>
        </p:blipFill>
        <p:spPr>
          <a:xfrm>
            <a:off x="792257" y="1522625"/>
            <a:ext cx="7772400" cy="1316636"/>
          </a:xfrm>
          <a:prstGeom prst="rect">
            <a:avLst/>
          </a:prstGeom>
        </p:spPr>
      </p:pic>
      <p:sp>
        <p:nvSpPr>
          <p:cNvPr id="11" name="TextBox 10">
            <a:extLst>
              <a:ext uri="{FF2B5EF4-FFF2-40B4-BE49-F238E27FC236}">
                <a16:creationId xmlns:a16="http://schemas.microsoft.com/office/drawing/2014/main" id="{A3830D5A-7175-981D-40E2-E2BFFDD2E1F3}"/>
              </a:ext>
            </a:extLst>
          </p:cNvPr>
          <p:cNvSpPr txBox="1"/>
          <p:nvPr/>
        </p:nvSpPr>
        <p:spPr>
          <a:xfrm>
            <a:off x="965915" y="515155"/>
            <a:ext cx="6766728" cy="646331"/>
          </a:xfrm>
          <a:prstGeom prst="rect">
            <a:avLst/>
          </a:prstGeom>
          <a:noFill/>
        </p:spPr>
        <p:txBody>
          <a:bodyPr wrap="square" rtlCol="0">
            <a:spAutoFit/>
          </a:bodyPr>
          <a:lstStyle/>
          <a:p>
            <a:r>
              <a:rPr lang="en-US" sz="3600">
                <a:solidFill>
                  <a:srgbClr val="FF0000"/>
                </a:solidFill>
              </a:rPr>
              <a:t>Running the Example Code (2/5)</a:t>
            </a:r>
          </a:p>
        </p:txBody>
      </p:sp>
    </p:spTree>
    <p:extLst>
      <p:ext uri="{BB962C8B-B14F-4D97-AF65-F5344CB8AC3E}">
        <p14:creationId xmlns:p14="http://schemas.microsoft.com/office/powerpoint/2010/main" val="2957381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88DDC-F4C7-0A66-EE09-9E4DDD978B1C}"/>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75B712A1-76E5-1132-3F65-0010596811CB}"/>
              </a:ext>
            </a:extLst>
          </p:cNvPr>
          <p:cNvGrpSpPr/>
          <p:nvPr/>
        </p:nvGrpSpPr>
        <p:grpSpPr>
          <a:xfrm>
            <a:off x="9059187" y="515155"/>
            <a:ext cx="2340556" cy="5313908"/>
            <a:chOff x="7888909" y="643944"/>
            <a:chExt cx="2340556" cy="5313908"/>
          </a:xfrm>
        </p:grpSpPr>
        <p:pic>
          <p:nvPicPr>
            <p:cNvPr id="5" name="Picture 4">
              <a:extLst>
                <a:ext uri="{FF2B5EF4-FFF2-40B4-BE49-F238E27FC236}">
                  <a16:creationId xmlns:a16="http://schemas.microsoft.com/office/drawing/2014/main" id="{353800C4-725A-A0AB-2B4E-EAEBCCDE30CC}"/>
                </a:ext>
              </a:extLst>
            </p:cNvPr>
            <p:cNvPicPr>
              <a:picLocks noChangeAspect="1"/>
            </p:cNvPicPr>
            <p:nvPr/>
          </p:nvPicPr>
          <p:blipFill>
            <a:blip r:embed="rId2"/>
            <a:stretch>
              <a:fillRect/>
            </a:stretch>
          </p:blipFill>
          <p:spPr>
            <a:xfrm>
              <a:off x="7888909" y="643944"/>
              <a:ext cx="2340556" cy="2607972"/>
            </a:xfrm>
            <a:prstGeom prst="rect">
              <a:avLst/>
            </a:prstGeom>
          </p:spPr>
        </p:pic>
        <p:pic>
          <p:nvPicPr>
            <p:cNvPr id="6" name="Picture 5">
              <a:extLst>
                <a:ext uri="{FF2B5EF4-FFF2-40B4-BE49-F238E27FC236}">
                  <a16:creationId xmlns:a16="http://schemas.microsoft.com/office/drawing/2014/main" id="{C03B35FB-DE2C-9AF1-582E-266D1184C501}"/>
                </a:ext>
              </a:extLst>
            </p:cNvPr>
            <p:cNvPicPr>
              <a:picLocks noChangeAspect="1"/>
            </p:cNvPicPr>
            <p:nvPr/>
          </p:nvPicPr>
          <p:blipFill>
            <a:blip r:embed="rId3"/>
            <a:stretch>
              <a:fillRect/>
            </a:stretch>
          </p:blipFill>
          <p:spPr>
            <a:xfrm>
              <a:off x="7888909" y="3251916"/>
              <a:ext cx="2340556" cy="2705936"/>
            </a:xfrm>
            <a:prstGeom prst="rect">
              <a:avLst/>
            </a:prstGeom>
          </p:spPr>
        </p:pic>
      </p:grpSp>
      <p:sp>
        <p:nvSpPr>
          <p:cNvPr id="8" name="TextBox 7">
            <a:extLst>
              <a:ext uri="{FF2B5EF4-FFF2-40B4-BE49-F238E27FC236}">
                <a16:creationId xmlns:a16="http://schemas.microsoft.com/office/drawing/2014/main" id="{3DB95FBD-DAA4-FD65-108C-8AA2C2C2713C}"/>
              </a:ext>
            </a:extLst>
          </p:cNvPr>
          <p:cNvSpPr txBox="1"/>
          <p:nvPr/>
        </p:nvSpPr>
        <p:spPr>
          <a:xfrm>
            <a:off x="792257" y="3429000"/>
            <a:ext cx="7308554" cy="1200329"/>
          </a:xfrm>
          <a:prstGeom prst="rect">
            <a:avLst/>
          </a:prstGeom>
          <a:noFill/>
        </p:spPr>
        <p:txBody>
          <a:bodyPr wrap="square" rtlCol="0">
            <a:spAutoFit/>
          </a:bodyPr>
          <a:lstStyle/>
          <a:p>
            <a:r>
              <a:rPr lang="en-US"/>
              <a:t>Next, the NeuroDOT GLM function is called, passing the data, HRF, and info and params structs.  The function will use entries in the info struct that describe the experimental paradigm to automatically generate the model regressors (see next slide).</a:t>
            </a:r>
          </a:p>
        </p:txBody>
      </p:sp>
      <p:sp>
        <p:nvSpPr>
          <p:cNvPr id="10" name="Double Bracket 9">
            <a:extLst>
              <a:ext uri="{FF2B5EF4-FFF2-40B4-BE49-F238E27FC236}">
                <a16:creationId xmlns:a16="http://schemas.microsoft.com/office/drawing/2014/main" id="{189520CC-3A2F-CD2C-37E2-38800E014C8A}"/>
              </a:ext>
            </a:extLst>
          </p:cNvPr>
          <p:cNvSpPr/>
          <p:nvPr/>
        </p:nvSpPr>
        <p:spPr>
          <a:xfrm>
            <a:off x="8774152" y="2627290"/>
            <a:ext cx="2910626" cy="180304"/>
          </a:xfrm>
          <a:prstGeom prst="bracketPair">
            <a:avLst/>
          </a:prstGeom>
          <a:ln w="317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9" name="Picture 8">
            <a:extLst>
              <a:ext uri="{FF2B5EF4-FFF2-40B4-BE49-F238E27FC236}">
                <a16:creationId xmlns:a16="http://schemas.microsoft.com/office/drawing/2014/main" id="{6BE13710-DAE6-9326-640B-519586DA2375}"/>
              </a:ext>
            </a:extLst>
          </p:cNvPr>
          <p:cNvPicPr>
            <a:picLocks noChangeAspect="1"/>
          </p:cNvPicPr>
          <p:nvPr/>
        </p:nvPicPr>
        <p:blipFill>
          <a:blip r:embed="rId4"/>
          <a:stretch>
            <a:fillRect/>
          </a:stretch>
        </p:blipFill>
        <p:spPr>
          <a:xfrm>
            <a:off x="625699" y="2589924"/>
            <a:ext cx="7772400" cy="435339"/>
          </a:xfrm>
          <a:prstGeom prst="rect">
            <a:avLst/>
          </a:prstGeom>
        </p:spPr>
      </p:pic>
      <p:sp>
        <p:nvSpPr>
          <p:cNvPr id="4" name="TextBox 3">
            <a:extLst>
              <a:ext uri="{FF2B5EF4-FFF2-40B4-BE49-F238E27FC236}">
                <a16:creationId xmlns:a16="http://schemas.microsoft.com/office/drawing/2014/main" id="{CF936F26-D3D8-78ED-997E-71FD2B8B7CF7}"/>
              </a:ext>
            </a:extLst>
          </p:cNvPr>
          <p:cNvSpPr txBox="1"/>
          <p:nvPr/>
        </p:nvSpPr>
        <p:spPr>
          <a:xfrm>
            <a:off x="965915" y="515155"/>
            <a:ext cx="6766728" cy="646331"/>
          </a:xfrm>
          <a:prstGeom prst="rect">
            <a:avLst/>
          </a:prstGeom>
          <a:noFill/>
        </p:spPr>
        <p:txBody>
          <a:bodyPr wrap="square" rtlCol="0">
            <a:spAutoFit/>
          </a:bodyPr>
          <a:lstStyle/>
          <a:p>
            <a:r>
              <a:rPr lang="en-US" sz="3600">
                <a:solidFill>
                  <a:srgbClr val="FF0000"/>
                </a:solidFill>
              </a:rPr>
              <a:t>Running the Example Code (3/5)</a:t>
            </a:r>
          </a:p>
        </p:txBody>
      </p:sp>
    </p:spTree>
    <p:extLst>
      <p:ext uri="{BB962C8B-B14F-4D97-AF65-F5344CB8AC3E}">
        <p14:creationId xmlns:p14="http://schemas.microsoft.com/office/powerpoint/2010/main" val="16585595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A0A7914-FBC4-7EC8-0F6E-CC633778235B}"/>
              </a:ext>
            </a:extLst>
          </p:cNvPr>
          <p:cNvPicPr>
            <a:picLocks noChangeAspect="1"/>
          </p:cNvPicPr>
          <p:nvPr/>
        </p:nvPicPr>
        <p:blipFill>
          <a:blip r:embed="rId2"/>
          <a:stretch>
            <a:fillRect/>
          </a:stretch>
        </p:blipFill>
        <p:spPr>
          <a:xfrm>
            <a:off x="4751767" y="1237713"/>
            <a:ext cx="6698087" cy="5105132"/>
          </a:xfrm>
          <a:prstGeom prst="rect">
            <a:avLst/>
          </a:prstGeom>
        </p:spPr>
      </p:pic>
      <p:sp>
        <p:nvSpPr>
          <p:cNvPr id="3" name="TextBox 2">
            <a:extLst>
              <a:ext uri="{FF2B5EF4-FFF2-40B4-BE49-F238E27FC236}">
                <a16:creationId xmlns:a16="http://schemas.microsoft.com/office/drawing/2014/main" id="{40B5785E-C21F-C7BC-70A2-C9B622362671}"/>
              </a:ext>
            </a:extLst>
          </p:cNvPr>
          <p:cNvSpPr txBox="1"/>
          <p:nvPr/>
        </p:nvSpPr>
        <p:spPr>
          <a:xfrm>
            <a:off x="489396" y="414106"/>
            <a:ext cx="9560415" cy="646331"/>
          </a:xfrm>
          <a:prstGeom prst="rect">
            <a:avLst/>
          </a:prstGeom>
          <a:noFill/>
        </p:spPr>
        <p:txBody>
          <a:bodyPr wrap="square" rtlCol="0">
            <a:spAutoFit/>
          </a:bodyPr>
          <a:lstStyle/>
          <a:p>
            <a:r>
              <a:rPr lang="en-US" sz="3600">
                <a:solidFill>
                  <a:srgbClr val="FF0000"/>
                </a:solidFill>
              </a:rPr>
              <a:t>NeuroDOT GLM – Summary Figure</a:t>
            </a:r>
          </a:p>
        </p:txBody>
      </p:sp>
      <p:sp>
        <p:nvSpPr>
          <p:cNvPr id="4" name="TextBox 3">
            <a:extLst>
              <a:ext uri="{FF2B5EF4-FFF2-40B4-BE49-F238E27FC236}">
                <a16:creationId xmlns:a16="http://schemas.microsoft.com/office/drawing/2014/main" id="{1C56D22E-E147-B858-7E53-A45CC7AE7493}"/>
              </a:ext>
            </a:extLst>
          </p:cNvPr>
          <p:cNvSpPr txBox="1"/>
          <p:nvPr/>
        </p:nvSpPr>
        <p:spPr>
          <a:xfrm>
            <a:off x="738120" y="1389622"/>
            <a:ext cx="3957837" cy="4801314"/>
          </a:xfrm>
          <a:prstGeom prst="rect">
            <a:avLst/>
          </a:prstGeom>
          <a:noFill/>
        </p:spPr>
        <p:txBody>
          <a:bodyPr wrap="square" rtlCol="0">
            <a:spAutoFit/>
          </a:bodyPr>
          <a:lstStyle/>
          <a:p>
            <a:r>
              <a:rPr lang="en-US"/>
              <a:t>The NeuroDOT GLM function will generate a summary figure that includes: 1) a graphical display of the design matrix, 2) data GVTD (black trace) superimposed on the task events (the latter are taken from info.paradigm), and 3) a histogram of GVTD values.</a:t>
            </a:r>
          </a:p>
          <a:p>
            <a:endParaRPr lang="en-US"/>
          </a:p>
          <a:p>
            <a:r>
              <a:rPr lang="en-US"/>
              <a:t>The columns in the design matix represent (from left to right) a constant term, rest events, left checkerboard events</a:t>
            </a:r>
            <a:r>
              <a:rPr lang="en-US" baseline="30000"/>
              <a:t>1</a:t>
            </a:r>
            <a:r>
              <a:rPr lang="en-US"/>
              <a:t>, and right checkerboard events. The final column (“keep”) is not a regressor, but rather shows the results of GVTD frame censoring indicating which frames (if any) were removed.</a:t>
            </a:r>
          </a:p>
        </p:txBody>
      </p:sp>
      <p:sp>
        <p:nvSpPr>
          <p:cNvPr id="5" name="TextBox 4">
            <a:extLst>
              <a:ext uri="{FF2B5EF4-FFF2-40B4-BE49-F238E27FC236}">
                <a16:creationId xmlns:a16="http://schemas.microsoft.com/office/drawing/2014/main" id="{897D887F-A90D-2F44-4E52-ECE1E1D56EE5}"/>
              </a:ext>
            </a:extLst>
          </p:cNvPr>
          <p:cNvSpPr txBox="1"/>
          <p:nvPr/>
        </p:nvSpPr>
        <p:spPr>
          <a:xfrm>
            <a:off x="5207357" y="2034862"/>
            <a:ext cx="888643" cy="584775"/>
          </a:xfrm>
          <a:prstGeom prst="rect">
            <a:avLst/>
          </a:prstGeom>
          <a:noFill/>
        </p:spPr>
        <p:txBody>
          <a:bodyPr wrap="square" rtlCol="0">
            <a:spAutoFit/>
          </a:bodyPr>
          <a:lstStyle/>
          <a:p>
            <a:r>
              <a:rPr lang="en-US" sz="3200">
                <a:solidFill>
                  <a:schemeClr val="bg1"/>
                </a:solidFill>
              </a:rPr>
              <a:t>1</a:t>
            </a:r>
          </a:p>
        </p:txBody>
      </p:sp>
      <p:sp>
        <p:nvSpPr>
          <p:cNvPr id="6" name="TextBox 5">
            <a:extLst>
              <a:ext uri="{FF2B5EF4-FFF2-40B4-BE49-F238E27FC236}">
                <a16:creationId xmlns:a16="http://schemas.microsoft.com/office/drawing/2014/main" id="{70D0C6CD-1D30-0AAF-5476-4E67163AFC8D}"/>
              </a:ext>
            </a:extLst>
          </p:cNvPr>
          <p:cNvSpPr txBox="1"/>
          <p:nvPr/>
        </p:nvSpPr>
        <p:spPr>
          <a:xfrm>
            <a:off x="9983272" y="2174383"/>
            <a:ext cx="888643" cy="584775"/>
          </a:xfrm>
          <a:prstGeom prst="rect">
            <a:avLst/>
          </a:prstGeom>
          <a:noFill/>
        </p:spPr>
        <p:txBody>
          <a:bodyPr wrap="square" rtlCol="0">
            <a:spAutoFit/>
          </a:bodyPr>
          <a:lstStyle/>
          <a:p>
            <a:r>
              <a:rPr lang="en-US" sz="3200">
                <a:solidFill>
                  <a:schemeClr val="bg1"/>
                </a:solidFill>
              </a:rPr>
              <a:t>2</a:t>
            </a:r>
          </a:p>
        </p:txBody>
      </p:sp>
      <p:sp>
        <p:nvSpPr>
          <p:cNvPr id="7" name="TextBox 6">
            <a:extLst>
              <a:ext uri="{FF2B5EF4-FFF2-40B4-BE49-F238E27FC236}">
                <a16:creationId xmlns:a16="http://schemas.microsoft.com/office/drawing/2014/main" id="{F35FC28C-A9A1-385D-A10E-BC1E39A0970B}"/>
              </a:ext>
            </a:extLst>
          </p:cNvPr>
          <p:cNvSpPr txBox="1"/>
          <p:nvPr/>
        </p:nvSpPr>
        <p:spPr>
          <a:xfrm>
            <a:off x="10049812" y="4098843"/>
            <a:ext cx="888643" cy="584775"/>
          </a:xfrm>
          <a:prstGeom prst="rect">
            <a:avLst/>
          </a:prstGeom>
          <a:noFill/>
        </p:spPr>
        <p:txBody>
          <a:bodyPr wrap="square" rtlCol="0">
            <a:spAutoFit/>
          </a:bodyPr>
          <a:lstStyle/>
          <a:p>
            <a:r>
              <a:rPr lang="en-US" sz="3200">
                <a:solidFill>
                  <a:schemeClr val="bg1"/>
                </a:solidFill>
              </a:rPr>
              <a:t>3</a:t>
            </a:r>
          </a:p>
        </p:txBody>
      </p:sp>
      <p:sp>
        <p:nvSpPr>
          <p:cNvPr id="9" name="TextBox 8">
            <a:extLst>
              <a:ext uri="{FF2B5EF4-FFF2-40B4-BE49-F238E27FC236}">
                <a16:creationId xmlns:a16="http://schemas.microsoft.com/office/drawing/2014/main" id="{108B5BA4-C094-FF3D-CFBA-7AE2D50A9811}"/>
              </a:ext>
            </a:extLst>
          </p:cNvPr>
          <p:cNvSpPr txBox="1"/>
          <p:nvPr/>
        </p:nvSpPr>
        <p:spPr>
          <a:xfrm>
            <a:off x="5207356" y="6091706"/>
            <a:ext cx="5881354" cy="307777"/>
          </a:xfrm>
          <a:prstGeom prst="rect">
            <a:avLst/>
          </a:prstGeom>
          <a:noFill/>
        </p:spPr>
        <p:txBody>
          <a:bodyPr wrap="square" rtlCol="0">
            <a:spAutoFit/>
          </a:bodyPr>
          <a:lstStyle/>
          <a:p>
            <a:r>
              <a:rPr lang="en-US" sz="1400"/>
              <a:t>1. “left event” = presentation of the checkerboard in the </a:t>
            </a:r>
            <a:r>
              <a:rPr lang="en-US" sz="1400" u="sng"/>
              <a:t>left</a:t>
            </a:r>
            <a:r>
              <a:rPr lang="en-US" sz="1400"/>
              <a:t> visual hemifield.</a:t>
            </a:r>
          </a:p>
        </p:txBody>
      </p:sp>
    </p:spTree>
    <p:extLst>
      <p:ext uri="{BB962C8B-B14F-4D97-AF65-F5344CB8AC3E}">
        <p14:creationId xmlns:p14="http://schemas.microsoft.com/office/powerpoint/2010/main" val="3050608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551BD-3E24-9395-9A04-100369A01688}"/>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C9DDDE31-9AC3-4DAC-9A73-E93920AC371A}"/>
              </a:ext>
            </a:extLst>
          </p:cNvPr>
          <p:cNvGrpSpPr/>
          <p:nvPr/>
        </p:nvGrpSpPr>
        <p:grpSpPr>
          <a:xfrm>
            <a:off x="9059187" y="515155"/>
            <a:ext cx="2340556" cy="5313908"/>
            <a:chOff x="7888909" y="643944"/>
            <a:chExt cx="2340556" cy="5313908"/>
          </a:xfrm>
        </p:grpSpPr>
        <p:pic>
          <p:nvPicPr>
            <p:cNvPr id="5" name="Picture 4">
              <a:extLst>
                <a:ext uri="{FF2B5EF4-FFF2-40B4-BE49-F238E27FC236}">
                  <a16:creationId xmlns:a16="http://schemas.microsoft.com/office/drawing/2014/main" id="{46E9BEB6-E1A9-21B2-6CCD-8A7F1BAAC577}"/>
                </a:ext>
              </a:extLst>
            </p:cNvPr>
            <p:cNvPicPr>
              <a:picLocks noChangeAspect="1"/>
            </p:cNvPicPr>
            <p:nvPr/>
          </p:nvPicPr>
          <p:blipFill>
            <a:blip r:embed="rId2"/>
            <a:stretch>
              <a:fillRect/>
            </a:stretch>
          </p:blipFill>
          <p:spPr>
            <a:xfrm>
              <a:off x="7888909" y="643944"/>
              <a:ext cx="2340556" cy="2607972"/>
            </a:xfrm>
            <a:prstGeom prst="rect">
              <a:avLst/>
            </a:prstGeom>
          </p:spPr>
        </p:pic>
        <p:pic>
          <p:nvPicPr>
            <p:cNvPr id="6" name="Picture 5">
              <a:extLst>
                <a:ext uri="{FF2B5EF4-FFF2-40B4-BE49-F238E27FC236}">
                  <a16:creationId xmlns:a16="http://schemas.microsoft.com/office/drawing/2014/main" id="{F0B3D244-A8EA-3662-89DD-46FAEFF50854}"/>
                </a:ext>
              </a:extLst>
            </p:cNvPr>
            <p:cNvPicPr>
              <a:picLocks noChangeAspect="1"/>
            </p:cNvPicPr>
            <p:nvPr/>
          </p:nvPicPr>
          <p:blipFill>
            <a:blip r:embed="rId3"/>
            <a:stretch>
              <a:fillRect/>
            </a:stretch>
          </p:blipFill>
          <p:spPr>
            <a:xfrm>
              <a:off x="7888909" y="3251916"/>
              <a:ext cx="2340556" cy="2705936"/>
            </a:xfrm>
            <a:prstGeom prst="rect">
              <a:avLst/>
            </a:prstGeom>
          </p:spPr>
        </p:pic>
      </p:grpSp>
      <p:sp>
        <p:nvSpPr>
          <p:cNvPr id="8" name="TextBox 7">
            <a:extLst>
              <a:ext uri="{FF2B5EF4-FFF2-40B4-BE49-F238E27FC236}">
                <a16:creationId xmlns:a16="http://schemas.microsoft.com/office/drawing/2014/main" id="{E7EAFB2B-B372-B1CB-7E9A-E7592B4DEC7A}"/>
              </a:ext>
            </a:extLst>
          </p:cNvPr>
          <p:cNvSpPr txBox="1"/>
          <p:nvPr/>
        </p:nvSpPr>
        <p:spPr>
          <a:xfrm>
            <a:off x="1542317" y="5514131"/>
            <a:ext cx="5801757" cy="923330"/>
          </a:xfrm>
          <a:prstGeom prst="rect">
            <a:avLst/>
          </a:prstGeom>
          <a:noFill/>
        </p:spPr>
        <p:txBody>
          <a:bodyPr wrap="square" rtlCol="0">
            <a:spAutoFit/>
          </a:bodyPr>
          <a:lstStyle/>
          <a:p>
            <a:r>
              <a:rPr lang="en-US"/>
              <a:t>The code then loops over the beta values (returned in the variable “b”) and creates three contrasts for display (left &gt; rest, right &gt; rest, and left &gt; right).</a:t>
            </a:r>
          </a:p>
        </p:txBody>
      </p:sp>
      <p:sp>
        <p:nvSpPr>
          <p:cNvPr id="10" name="Double Bracket 9">
            <a:extLst>
              <a:ext uri="{FF2B5EF4-FFF2-40B4-BE49-F238E27FC236}">
                <a16:creationId xmlns:a16="http://schemas.microsoft.com/office/drawing/2014/main" id="{547D596D-45B1-421F-F82B-9403816AF172}"/>
              </a:ext>
            </a:extLst>
          </p:cNvPr>
          <p:cNvSpPr/>
          <p:nvPr/>
        </p:nvSpPr>
        <p:spPr>
          <a:xfrm>
            <a:off x="8774152" y="3123127"/>
            <a:ext cx="2910626" cy="1139780"/>
          </a:xfrm>
          <a:prstGeom prst="bracketPair">
            <a:avLst/>
          </a:prstGeom>
          <a:ln w="317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4" name="Picture 3">
            <a:extLst>
              <a:ext uri="{FF2B5EF4-FFF2-40B4-BE49-F238E27FC236}">
                <a16:creationId xmlns:a16="http://schemas.microsoft.com/office/drawing/2014/main" id="{E362F263-CBFF-8DB4-CB21-865DB4E75DCB}"/>
              </a:ext>
            </a:extLst>
          </p:cNvPr>
          <p:cNvPicPr>
            <a:picLocks noChangeAspect="1"/>
          </p:cNvPicPr>
          <p:nvPr/>
        </p:nvPicPr>
        <p:blipFill>
          <a:blip r:embed="rId4"/>
          <a:stretch>
            <a:fillRect/>
          </a:stretch>
        </p:blipFill>
        <p:spPr>
          <a:xfrm>
            <a:off x="1490801" y="1304862"/>
            <a:ext cx="5801757" cy="4145244"/>
          </a:xfrm>
          <a:prstGeom prst="rect">
            <a:avLst/>
          </a:prstGeom>
        </p:spPr>
      </p:pic>
      <p:sp>
        <p:nvSpPr>
          <p:cNvPr id="9" name="TextBox 8">
            <a:extLst>
              <a:ext uri="{FF2B5EF4-FFF2-40B4-BE49-F238E27FC236}">
                <a16:creationId xmlns:a16="http://schemas.microsoft.com/office/drawing/2014/main" id="{92C77AF6-0E45-C210-DC84-52EDD4467C69}"/>
              </a:ext>
            </a:extLst>
          </p:cNvPr>
          <p:cNvSpPr txBox="1"/>
          <p:nvPr/>
        </p:nvSpPr>
        <p:spPr>
          <a:xfrm>
            <a:off x="965915" y="515155"/>
            <a:ext cx="6766728" cy="646331"/>
          </a:xfrm>
          <a:prstGeom prst="rect">
            <a:avLst/>
          </a:prstGeom>
          <a:noFill/>
        </p:spPr>
        <p:txBody>
          <a:bodyPr wrap="square" rtlCol="0">
            <a:spAutoFit/>
          </a:bodyPr>
          <a:lstStyle/>
          <a:p>
            <a:r>
              <a:rPr lang="en-US" sz="3600">
                <a:solidFill>
                  <a:srgbClr val="FF0000"/>
                </a:solidFill>
              </a:rPr>
              <a:t>Running the Example Code (4/5)</a:t>
            </a:r>
          </a:p>
        </p:txBody>
      </p:sp>
    </p:spTree>
    <p:extLst>
      <p:ext uri="{BB962C8B-B14F-4D97-AF65-F5344CB8AC3E}">
        <p14:creationId xmlns:p14="http://schemas.microsoft.com/office/powerpoint/2010/main" val="2681406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4C91D-6AD7-55EC-D9DB-E295B888D475}"/>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1C991598-B57C-948B-0326-6B1F47E1B3FC}"/>
              </a:ext>
            </a:extLst>
          </p:cNvPr>
          <p:cNvGrpSpPr/>
          <p:nvPr/>
        </p:nvGrpSpPr>
        <p:grpSpPr>
          <a:xfrm>
            <a:off x="9059187" y="515155"/>
            <a:ext cx="2340556" cy="5313908"/>
            <a:chOff x="7888909" y="643944"/>
            <a:chExt cx="2340556" cy="5313908"/>
          </a:xfrm>
        </p:grpSpPr>
        <p:pic>
          <p:nvPicPr>
            <p:cNvPr id="5" name="Picture 4">
              <a:extLst>
                <a:ext uri="{FF2B5EF4-FFF2-40B4-BE49-F238E27FC236}">
                  <a16:creationId xmlns:a16="http://schemas.microsoft.com/office/drawing/2014/main" id="{2D7C6DB6-30C2-4A28-4E31-6200C2089099}"/>
                </a:ext>
              </a:extLst>
            </p:cNvPr>
            <p:cNvPicPr>
              <a:picLocks noChangeAspect="1"/>
            </p:cNvPicPr>
            <p:nvPr/>
          </p:nvPicPr>
          <p:blipFill>
            <a:blip r:embed="rId2"/>
            <a:stretch>
              <a:fillRect/>
            </a:stretch>
          </p:blipFill>
          <p:spPr>
            <a:xfrm>
              <a:off x="7888909" y="643944"/>
              <a:ext cx="2340556" cy="2607972"/>
            </a:xfrm>
            <a:prstGeom prst="rect">
              <a:avLst/>
            </a:prstGeom>
          </p:spPr>
        </p:pic>
        <p:pic>
          <p:nvPicPr>
            <p:cNvPr id="6" name="Picture 5">
              <a:extLst>
                <a:ext uri="{FF2B5EF4-FFF2-40B4-BE49-F238E27FC236}">
                  <a16:creationId xmlns:a16="http://schemas.microsoft.com/office/drawing/2014/main" id="{2CDADB89-3182-BCA7-E233-F5B88E54C180}"/>
                </a:ext>
              </a:extLst>
            </p:cNvPr>
            <p:cNvPicPr>
              <a:picLocks noChangeAspect="1"/>
            </p:cNvPicPr>
            <p:nvPr/>
          </p:nvPicPr>
          <p:blipFill>
            <a:blip r:embed="rId3"/>
            <a:stretch>
              <a:fillRect/>
            </a:stretch>
          </p:blipFill>
          <p:spPr>
            <a:xfrm>
              <a:off x="7888909" y="3251916"/>
              <a:ext cx="2340556" cy="2705936"/>
            </a:xfrm>
            <a:prstGeom prst="rect">
              <a:avLst/>
            </a:prstGeom>
          </p:spPr>
        </p:pic>
      </p:grpSp>
      <p:sp>
        <p:nvSpPr>
          <p:cNvPr id="8" name="TextBox 7">
            <a:extLst>
              <a:ext uri="{FF2B5EF4-FFF2-40B4-BE49-F238E27FC236}">
                <a16:creationId xmlns:a16="http://schemas.microsoft.com/office/drawing/2014/main" id="{9B893505-4947-8DE0-E522-450ECD146843}"/>
              </a:ext>
            </a:extLst>
          </p:cNvPr>
          <p:cNvSpPr txBox="1"/>
          <p:nvPr/>
        </p:nvSpPr>
        <p:spPr>
          <a:xfrm>
            <a:off x="1413528" y="5225729"/>
            <a:ext cx="6146371" cy="1200329"/>
          </a:xfrm>
          <a:prstGeom prst="rect">
            <a:avLst/>
          </a:prstGeom>
          <a:noFill/>
        </p:spPr>
        <p:txBody>
          <a:bodyPr wrap="square" rtlCol="0">
            <a:spAutoFit/>
          </a:bodyPr>
          <a:lstStyle/>
          <a:p>
            <a:r>
              <a:rPr lang="en-US"/>
              <a:t>The remainder of the code in the loop first transforms the data to the template’s MNI space, then sets rendering options (view, cortical inflation, color scaling) and finally renders the three contrast maps (see next slide). </a:t>
            </a:r>
          </a:p>
        </p:txBody>
      </p:sp>
      <p:sp>
        <p:nvSpPr>
          <p:cNvPr id="10" name="Double Bracket 9">
            <a:extLst>
              <a:ext uri="{FF2B5EF4-FFF2-40B4-BE49-F238E27FC236}">
                <a16:creationId xmlns:a16="http://schemas.microsoft.com/office/drawing/2014/main" id="{594B3E19-F8AE-968E-322A-F51E7F810F8E}"/>
              </a:ext>
            </a:extLst>
          </p:cNvPr>
          <p:cNvSpPr/>
          <p:nvPr/>
        </p:nvSpPr>
        <p:spPr>
          <a:xfrm>
            <a:off x="8774152" y="4591319"/>
            <a:ext cx="2910626" cy="1139780"/>
          </a:xfrm>
          <a:prstGeom prst="bracketPair">
            <a:avLst/>
          </a:prstGeom>
          <a:ln w="317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9" name="Picture 8">
            <a:extLst>
              <a:ext uri="{FF2B5EF4-FFF2-40B4-BE49-F238E27FC236}">
                <a16:creationId xmlns:a16="http://schemas.microsoft.com/office/drawing/2014/main" id="{BE47B943-D1FF-8C1D-B4CA-DC00A1EA6E3D}"/>
              </a:ext>
            </a:extLst>
          </p:cNvPr>
          <p:cNvPicPr>
            <a:picLocks noChangeAspect="1"/>
          </p:cNvPicPr>
          <p:nvPr/>
        </p:nvPicPr>
        <p:blipFill>
          <a:blip r:embed="rId4"/>
          <a:stretch>
            <a:fillRect/>
          </a:stretch>
        </p:blipFill>
        <p:spPr>
          <a:xfrm>
            <a:off x="1570669" y="1298049"/>
            <a:ext cx="5642020" cy="3811644"/>
          </a:xfrm>
          <a:prstGeom prst="rect">
            <a:avLst/>
          </a:prstGeom>
        </p:spPr>
      </p:pic>
      <p:sp>
        <p:nvSpPr>
          <p:cNvPr id="4" name="TextBox 3">
            <a:extLst>
              <a:ext uri="{FF2B5EF4-FFF2-40B4-BE49-F238E27FC236}">
                <a16:creationId xmlns:a16="http://schemas.microsoft.com/office/drawing/2014/main" id="{EC08FC0E-5C51-F996-3F3F-881CAE034B07}"/>
              </a:ext>
            </a:extLst>
          </p:cNvPr>
          <p:cNvSpPr txBox="1"/>
          <p:nvPr/>
        </p:nvSpPr>
        <p:spPr>
          <a:xfrm>
            <a:off x="965915" y="515155"/>
            <a:ext cx="6766728" cy="646331"/>
          </a:xfrm>
          <a:prstGeom prst="rect">
            <a:avLst/>
          </a:prstGeom>
          <a:noFill/>
        </p:spPr>
        <p:txBody>
          <a:bodyPr wrap="square" rtlCol="0">
            <a:spAutoFit/>
          </a:bodyPr>
          <a:lstStyle/>
          <a:p>
            <a:r>
              <a:rPr lang="en-US" sz="3600">
                <a:solidFill>
                  <a:srgbClr val="FF0000"/>
                </a:solidFill>
              </a:rPr>
              <a:t>Running the Example Code (5/5)</a:t>
            </a:r>
          </a:p>
        </p:txBody>
      </p:sp>
    </p:spTree>
    <p:extLst>
      <p:ext uri="{BB962C8B-B14F-4D97-AF65-F5344CB8AC3E}">
        <p14:creationId xmlns:p14="http://schemas.microsoft.com/office/powerpoint/2010/main" val="1416720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C8B68DA-213D-8F45-7D78-70C307E40BD6}"/>
              </a:ext>
            </a:extLst>
          </p:cNvPr>
          <p:cNvPicPr>
            <a:picLocks noChangeAspect="1"/>
          </p:cNvPicPr>
          <p:nvPr/>
        </p:nvPicPr>
        <p:blipFill>
          <a:blip r:embed="rId2"/>
          <a:stretch>
            <a:fillRect/>
          </a:stretch>
        </p:blipFill>
        <p:spPr>
          <a:xfrm>
            <a:off x="7261468" y="309093"/>
            <a:ext cx="2281777" cy="5991292"/>
          </a:xfrm>
          <a:prstGeom prst="rect">
            <a:avLst/>
          </a:prstGeom>
        </p:spPr>
      </p:pic>
      <p:sp>
        <p:nvSpPr>
          <p:cNvPr id="5" name="TextBox 4">
            <a:extLst>
              <a:ext uri="{FF2B5EF4-FFF2-40B4-BE49-F238E27FC236}">
                <a16:creationId xmlns:a16="http://schemas.microsoft.com/office/drawing/2014/main" id="{EE5C7D08-5DE2-204F-7BA5-4853006392D9}"/>
              </a:ext>
            </a:extLst>
          </p:cNvPr>
          <p:cNvSpPr txBox="1"/>
          <p:nvPr/>
        </p:nvSpPr>
        <p:spPr>
          <a:xfrm>
            <a:off x="1197735" y="1107444"/>
            <a:ext cx="5130085" cy="1200329"/>
          </a:xfrm>
          <a:prstGeom prst="rect">
            <a:avLst/>
          </a:prstGeom>
          <a:noFill/>
        </p:spPr>
        <p:txBody>
          <a:bodyPr wrap="square" rtlCol="0">
            <a:spAutoFit/>
          </a:bodyPr>
          <a:lstStyle/>
          <a:p>
            <a:r>
              <a:rPr lang="en-US" sz="3600">
                <a:solidFill>
                  <a:srgbClr val="FF0000"/>
                </a:solidFill>
              </a:rPr>
              <a:t>Example Code – Rendered Contrast Maps</a:t>
            </a:r>
          </a:p>
        </p:txBody>
      </p:sp>
      <p:sp>
        <p:nvSpPr>
          <p:cNvPr id="2" name="TextBox 1">
            <a:extLst>
              <a:ext uri="{FF2B5EF4-FFF2-40B4-BE49-F238E27FC236}">
                <a16:creationId xmlns:a16="http://schemas.microsoft.com/office/drawing/2014/main" id="{3706E143-0474-74AA-66F9-3E4297E215BD}"/>
              </a:ext>
            </a:extLst>
          </p:cNvPr>
          <p:cNvSpPr txBox="1"/>
          <p:nvPr/>
        </p:nvSpPr>
        <p:spPr>
          <a:xfrm>
            <a:off x="1794528" y="2698452"/>
            <a:ext cx="4301472" cy="2031325"/>
          </a:xfrm>
          <a:prstGeom prst="rect">
            <a:avLst/>
          </a:prstGeom>
          <a:noFill/>
        </p:spPr>
        <p:txBody>
          <a:bodyPr wrap="square" rtlCol="0">
            <a:spAutoFit/>
          </a:bodyPr>
          <a:lstStyle/>
          <a:p>
            <a:r>
              <a:rPr lang="en-US"/>
              <a:t>The three generated renders show activation of right visual cortex during presentation of the checkerboard in the left visual hemifield (top), activation of left visual cortex by presentation in the right visual hemifield (center), and the difference in these activations (bottom).</a:t>
            </a:r>
          </a:p>
        </p:txBody>
      </p:sp>
    </p:spTree>
    <p:extLst>
      <p:ext uri="{BB962C8B-B14F-4D97-AF65-F5344CB8AC3E}">
        <p14:creationId xmlns:p14="http://schemas.microsoft.com/office/powerpoint/2010/main" val="159419059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docProps/app.xml><?xml version="1.0" encoding="utf-8"?>
<Properties xmlns="http://schemas.openxmlformats.org/officeDocument/2006/extended-properties" xmlns:vt="http://schemas.openxmlformats.org/officeDocument/2006/docPropsVTypes">
  <Template>Office Theme</Template>
  <TotalTime>27260</TotalTime>
  <Words>664</Words>
  <Application>Microsoft Macintosh PowerPoint</Application>
  <PresentationFormat>Widescreen</PresentationFormat>
  <Paragraphs>53</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Menlo</vt:lpstr>
      <vt:lpstr>Trebuchet MS</vt:lpstr>
      <vt:lpstr>Office Theme</vt:lpstr>
      <vt:lpstr>NeuroDOT</vt:lpstr>
      <vt:lpstr>The GLM in NeuroDOT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NeuroDOT</dc:title>
  <dc:creator>Ari Segel</dc:creator>
  <cp:lastModifiedBy>Jones, Mike</cp:lastModifiedBy>
  <cp:revision>74</cp:revision>
  <dcterms:created xsi:type="dcterms:W3CDTF">2021-04-22T12:38:26Z</dcterms:created>
  <dcterms:modified xsi:type="dcterms:W3CDTF">2026-05-07T11:31:42Z</dcterms:modified>
</cp:coreProperties>
</file>