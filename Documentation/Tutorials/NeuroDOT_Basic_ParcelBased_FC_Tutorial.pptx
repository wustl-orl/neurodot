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7" r:id="rId2"/>
    <p:sldId id="706" r:id="rId3"/>
    <p:sldId id="709" r:id="rId4"/>
    <p:sldId id="717" r:id="rId5"/>
    <p:sldId id="719" r:id="rId6"/>
    <p:sldId id="720" r:id="rId7"/>
    <p:sldId id="721" r:id="rId8"/>
    <p:sldId id="722" r:id="rId9"/>
    <p:sldId id="71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15" autoAdjust="0"/>
    <p:restoredTop sz="94660"/>
  </p:normalViewPr>
  <p:slideViewPr>
    <p:cSldViewPr snapToGrid="0">
      <p:cViewPr varScale="1">
        <p:scale>
          <a:sx n="99" d="100"/>
          <a:sy n="99" d="100"/>
        </p:scale>
        <p:origin x="184"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783594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297347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965153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2AC784-C7BB-45CE-AB0D-139C9E5F95B5}"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1524179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2AC784-C7BB-45CE-AB0D-139C9E5F95B5}"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55538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2AC784-C7BB-45CE-AB0D-139C9E5F95B5}"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077668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2AC784-C7BB-45CE-AB0D-139C9E5F95B5}"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535389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2AC784-C7BB-45CE-AB0D-139C9E5F95B5}"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1093302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2AC784-C7BB-45CE-AB0D-139C9E5F95B5}"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48163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507111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2624398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AC784-C7BB-45CE-AB0D-139C9E5F95B5}" type="datetimeFigureOut">
              <a:rPr lang="en-US" smtClean="0"/>
              <a:t>5/7/26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9C968C-6CF5-48F4-843D-B9C2EDEE49D6}" type="slidenum">
              <a:rPr lang="en-US" smtClean="0"/>
              <a:t>‹#›</a:t>
            </a:fld>
            <a:endParaRPr lang="en-US"/>
          </a:p>
        </p:txBody>
      </p:sp>
    </p:spTree>
    <p:extLst>
      <p:ext uri="{BB962C8B-B14F-4D97-AF65-F5344CB8AC3E}">
        <p14:creationId xmlns:p14="http://schemas.microsoft.com/office/powerpoint/2010/main" val="35065064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67195" y="1707805"/>
            <a:ext cx="3392078" cy="832936"/>
          </a:xfrm>
        </p:spPr>
        <p:txBody>
          <a:bodyPr>
            <a:normAutofit fontScale="90000"/>
          </a:bodyPr>
          <a:lstStyle/>
          <a:p>
            <a:pPr algn="l"/>
            <a:r>
              <a:rPr lang="en-US" dirty="0" err="1">
                <a:solidFill>
                  <a:srgbClr val="FF0000"/>
                </a:solidFill>
              </a:rPr>
              <a:t>NeuroDOT</a:t>
            </a:r>
            <a:endParaRPr lang="en-US" dirty="0">
              <a:solidFill>
                <a:srgbClr val="FF0000"/>
              </a:solidFill>
            </a:endParaRPr>
          </a:p>
        </p:txBody>
      </p:sp>
      <p:sp>
        <p:nvSpPr>
          <p:cNvPr id="3" name="Subtitle 2"/>
          <p:cNvSpPr>
            <a:spLocks noGrp="1"/>
          </p:cNvSpPr>
          <p:nvPr>
            <p:ph type="subTitle" idx="1"/>
          </p:nvPr>
        </p:nvSpPr>
        <p:spPr>
          <a:xfrm>
            <a:off x="1616218" y="2764435"/>
            <a:ext cx="7107959" cy="1431193"/>
          </a:xfrm>
        </p:spPr>
        <p:txBody>
          <a:bodyPr>
            <a:noAutofit/>
          </a:bodyPr>
          <a:lstStyle/>
          <a:p>
            <a:pPr algn="r"/>
            <a:r>
              <a:rPr lang="en-US" sz="4000" i="1" dirty="0"/>
              <a:t>Exploring Functional Connectivity in NeuroDOT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2838" y="1707805"/>
            <a:ext cx="1584944" cy="2113259"/>
          </a:xfrm>
          <a:prstGeom prst="rect">
            <a:avLst/>
          </a:prstGeom>
          <a:ln>
            <a:solidFill>
              <a:schemeClr val="tx1"/>
            </a:solidFill>
          </a:ln>
        </p:spPr>
      </p:pic>
      <p:cxnSp>
        <p:nvCxnSpPr>
          <p:cNvPr id="6" name="Straight Connector 5">
            <a:extLst>
              <a:ext uri="{FF2B5EF4-FFF2-40B4-BE49-F238E27FC236}">
                <a16:creationId xmlns:a16="http://schemas.microsoft.com/office/drawing/2014/main" id="{086A029A-DA08-9270-41D3-406689214F95}"/>
              </a:ext>
            </a:extLst>
          </p:cNvPr>
          <p:cNvCxnSpPr/>
          <p:nvPr/>
        </p:nvCxnSpPr>
        <p:spPr>
          <a:xfrm>
            <a:off x="1349343" y="2540741"/>
            <a:ext cx="73748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399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9D3A2-B14E-7B92-442A-2DCBB451A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C8D9E-21C8-BBDE-634F-DF6B4999149B}"/>
              </a:ext>
            </a:extLst>
          </p:cNvPr>
          <p:cNvSpPr>
            <a:spLocks noGrp="1"/>
          </p:cNvSpPr>
          <p:nvPr>
            <p:ph type="title"/>
          </p:nvPr>
        </p:nvSpPr>
        <p:spPr>
          <a:xfrm>
            <a:off x="580622" y="230690"/>
            <a:ext cx="10515600" cy="1325563"/>
          </a:xfrm>
        </p:spPr>
        <p:txBody>
          <a:bodyPr/>
          <a:lstStyle/>
          <a:p>
            <a:r>
              <a:rPr lang="en-US" dirty="0">
                <a:solidFill>
                  <a:srgbClr val="FF0000"/>
                </a:solidFill>
                <a:latin typeface="Trebuchet MS" panose="020B0603020202020204" pitchFamily="34" charset="0"/>
              </a:rPr>
              <a:t>FC in NeuroDOT</a:t>
            </a:r>
          </a:p>
        </p:txBody>
      </p:sp>
      <p:sp>
        <p:nvSpPr>
          <p:cNvPr id="6" name="TextBox 5">
            <a:extLst>
              <a:ext uri="{FF2B5EF4-FFF2-40B4-BE49-F238E27FC236}">
                <a16:creationId xmlns:a16="http://schemas.microsoft.com/office/drawing/2014/main" id="{E4F8D6CB-9D50-9256-22D7-206B92D86D37}"/>
              </a:ext>
            </a:extLst>
          </p:cNvPr>
          <p:cNvSpPr txBox="1"/>
          <p:nvPr/>
        </p:nvSpPr>
        <p:spPr>
          <a:xfrm>
            <a:off x="2077277" y="5211593"/>
            <a:ext cx="8483400" cy="1200329"/>
          </a:xfrm>
          <a:prstGeom prst="rect">
            <a:avLst/>
          </a:prstGeom>
          <a:noFill/>
        </p:spPr>
        <p:txBody>
          <a:bodyPr wrap="square" rtlCol="0">
            <a:spAutoFit/>
          </a:bodyPr>
          <a:lstStyle/>
          <a:p>
            <a:r>
              <a:rPr lang="en-US" sz="2400"/>
              <a:t>NeuroDOT includes the function </a:t>
            </a:r>
            <a:r>
              <a:rPr lang="en-US" sz="2400" b="1"/>
              <a:t>ParcelBased_fc </a:t>
            </a:r>
            <a:r>
              <a:rPr lang="en-US" sz="2400"/>
              <a:t>that will generate a cortical map summarizing how recorded activity relates to a given atlas of parcel-based functional connectivity.</a:t>
            </a:r>
          </a:p>
        </p:txBody>
      </p:sp>
      <p:sp>
        <p:nvSpPr>
          <p:cNvPr id="9" name="TextBox 8">
            <a:extLst>
              <a:ext uri="{FF2B5EF4-FFF2-40B4-BE49-F238E27FC236}">
                <a16:creationId xmlns:a16="http://schemas.microsoft.com/office/drawing/2014/main" id="{13774961-FEBA-B03A-A94C-025B662D3540}"/>
              </a:ext>
            </a:extLst>
          </p:cNvPr>
          <p:cNvSpPr txBox="1"/>
          <p:nvPr/>
        </p:nvSpPr>
        <p:spPr>
          <a:xfrm>
            <a:off x="1958703" y="1466101"/>
            <a:ext cx="8483400" cy="3539430"/>
          </a:xfrm>
          <a:prstGeom prst="rect">
            <a:avLst/>
          </a:prstGeom>
          <a:solidFill>
            <a:schemeClr val="tx1"/>
          </a:solidFill>
        </p:spPr>
        <p:txBody>
          <a:bodyPr wrap="square" rtlCol="0">
            <a:spAutoFit/>
          </a:bodyPr>
          <a:lstStyle/>
          <a:p>
            <a:r>
              <a:rPr lang="en-US" sz="1400" b="0" i="0">
                <a:solidFill>
                  <a:srgbClr val="0E00FF"/>
                </a:solidFill>
                <a:effectLst/>
                <a:latin typeface="Menlo" panose="020B0609030804020204" pitchFamily="49" charset="0"/>
              </a:rPr>
              <a:t>function </a:t>
            </a:r>
            <a:r>
              <a:rPr lang="en-US" sz="1400" b="0" i="0">
                <a:solidFill>
                  <a:schemeClr val="bg1"/>
                </a:solidFill>
                <a:effectLst/>
                <a:latin typeface="Menlo" panose="020B0609030804020204" pitchFamily="49" charset="0"/>
              </a:rPr>
              <a:t>[fcMaps,fcMatrix,ParcelTT] = ParcelBased_fc(data,Parcels,dim,params)</a:t>
            </a:r>
          </a:p>
          <a:p>
            <a:r>
              <a:rPr lang="en-US" sz="1400" b="0" i="0">
                <a:solidFill>
                  <a:srgbClr val="008013"/>
                </a:solidFill>
                <a:effectLst/>
                <a:latin typeface="Menlo" panose="020B0609030804020204" pitchFamily="49" charset="0"/>
              </a:rPr>
              <a:t>%</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This function calculates Parcel Based functional connectivity between a</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volumetric data set (data) and a set of volumetrically defined parcels.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To increase computational efficiency, the data are assumed to be in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2 dimensions with time in the 2nd dimension. If data are not in 2D,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data are reshaped to be in 2D.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Parcels are assumed to be in the same space, with both data and Parcels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described by the dim structure.</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Parcels are assumed to be a volume of zeros (background) and integers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defining parcel locations. The Parcel labels need not be contiguous.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The outputs are the Fisher-z transformed maps (fcMaps),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the Fisher-z transformed fc matrix (fcMatrix),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and the ROI timecourses (seedTT). </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A temporal mask delineating time points to keep may also be passed in as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params.tMask.</a:t>
            </a:r>
            <a:endParaRPr lang="en-US" sz="1400" b="0" i="0">
              <a:effectLst/>
              <a:latin typeface="Menlo" panose="020B0609030804020204" pitchFamily="49" charset="0"/>
            </a:endParaRPr>
          </a:p>
        </p:txBody>
      </p:sp>
    </p:spTree>
    <p:extLst>
      <p:ext uri="{BB962C8B-B14F-4D97-AF65-F5344CB8AC3E}">
        <p14:creationId xmlns:p14="http://schemas.microsoft.com/office/powerpoint/2010/main" val="3508443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9E2496-70CF-DCD4-A673-C4BC35FCCEC7}"/>
              </a:ext>
            </a:extLst>
          </p:cNvPr>
          <p:cNvSpPr txBox="1"/>
          <p:nvPr/>
        </p:nvSpPr>
        <p:spPr>
          <a:xfrm>
            <a:off x="965915" y="515155"/>
            <a:ext cx="4430333" cy="646331"/>
          </a:xfrm>
          <a:prstGeom prst="rect">
            <a:avLst/>
          </a:prstGeom>
          <a:noFill/>
        </p:spPr>
        <p:txBody>
          <a:bodyPr wrap="square" rtlCol="0">
            <a:spAutoFit/>
          </a:bodyPr>
          <a:lstStyle/>
          <a:p>
            <a:r>
              <a:rPr lang="en-US" sz="3600">
                <a:solidFill>
                  <a:srgbClr val="FF0000"/>
                </a:solidFill>
              </a:rPr>
              <a:t>Example Use</a:t>
            </a:r>
          </a:p>
        </p:txBody>
      </p:sp>
      <p:sp>
        <p:nvSpPr>
          <p:cNvPr id="7" name="TextBox 6">
            <a:extLst>
              <a:ext uri="{FF2B5EF4-FFF2-40B4-BE49-F238E27FC236}">
                <a16:creationId xmlns:a16="http://schemas.microsoft.com/office/drawing/2014/main" id="{6FFD3D41-5EEA-FB95-62A9-5E3AD2A69273}"/>
              </a:ext>
            </a:extLst>
          </p:cNvPr>
          <p:cNvSpPr txBox="1"/>
          <p:nvPr/>
        </p:nvSpPr>
        <p:spPr>
          <a:xfrm>
            <a:off x="8528766" y="5947912"/>
            <a:ext cx="1625538" cy="369332"/>
          </a:xfrm>
          <a:prstGeom prst="rect">
            <a:avLst/>
          </a:prstGeom>
          <a:noFill/>
        </p:spPr>
        <p:txBody>
          <a:bodyPr wrap="square" rtlCol="0">
            <a:spAutoFit/>
          </a:bodyPr>
          <a:lstStyle/>
          <a:p>
            <a:r>
              <a:rPr lang="en-US"/>
              <a:t>example script</a:t>
            </a:r>
          </a:p>
        </p:txBody>
      </p:sp>
      <p:sp>
        <p:nvSpPr>
          <p:cNvPr id="8" name="TextBox 7">
            <a:extLst>
              <a:ext uri="{FF2B5EF4-FFF2-40B4-BE49-F238E27FC236}">
                <a16:creationId xmlns:a16="http://schemas.microsoft.com/office/drawing/2014/main" id="{BABF6BEE-59E4-BFE6-483F-D5C212F8640F}"/>
              </a:ext>
            </a:extLst>
          </p:cNvPr>
          <p:cNvSpPr txBox="1"/>
          <p:nvPr/>
        </p:nvSpPr>
        <p:spPr>
          <a:xfrm>
            <a:off x="1148522" y="1277397"/>
            <a:ext cx="6362164" cy="4801314"/>
          </a:xfrm>
          <a:prstGeom prst="rect">
            <a:avLst/>
          </a:prstGeom>
          <a:noFill/>
        </p:spPr>
        <p:txBody>
          <a:bodyPr wrap="square" rtlCol="0">
            <a:spAutoFit/>
          </a:bodyPr>
          <a:lstStyle/>
          <a:p>
            <a:r>
              <a:rPr lang="en-US"/>
              <a:t>An example script is provided that demonstrates use of </a:t>
            </a:r>
            <a:r>
              <a:rPr lang="en-US" b="1"/>
              <a:t>ParcelBased_fc</a:t>
            </a:r>
            <a:r>
              <a:rPr lang="en-US"/>
              <a:t>. The analysis is based on the Gordon cortical atlas, which defines 333 cortical parcels comprising 13 functional networks. Because not all of these parcels intersect the field of view of the data, only a subset (of 142) is used.</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r>
              <a:rPr lang="en-US"/>
              <a:t>The following slides explain the code section by section.</a:t>
            </a:r>
          </a:p>
        </p:txBody>
      </p:sp>
      <p:pic>
        <p:nvPicPr>
          <p:cNvPr id="3" name="Picture 2">
            <a:extLst>
              <a:ext uri="{FF2B5EF4-FFF2-40B4-BE49-F238E27FC236}">
                <a16:creationId xmlns:a16="http://schemas.microsoft.com/office/drawing/2014/main" id="{7FE8C5F1-C10B-58C4-DD5D-B4259210E74D}"/>
              </a:ext>
            </a:extLst>
          </p:cNvPr>
          <p:cNvPicPr>
            <a:picLocks noChangeAspect="1"/>
          </p:cNvPicPr>
          <p:nvPr/>
        </p:nvPicPr>
        <p:blipFill>
          <a:blip r:embed="rId2"/>
          <a:stretch>
            <a:fillRect/>
          </a:stretch>
        </p:blipFill>
        <p:spPr>
          <a:xfrm>
            <a:off x="1912239" y="3030862"/>
            <a:ext cx="4090787" cy="2341827"/>
          </a:xfrm>
          <a:prstGeom prst="rect">
            <a:avLst/>
          </a:prstGeom>
          <a:ln>
            <a:solidFill>
              <a:schemeClr val="accent1"/>
            </a:solidFill>
          </a:ln>
        </p:spPr>
      </p:pic>
      <p:grpSp>
        <p:nvGrpSpPr>
          <p:cNvPr id="14" name="Group 13">
            <a:extLst>
              <a:ext uri="{FF2B5EF4-FFF2-40B4-BE49-F238E27FC236}">
                <a16:creationId xmlns:a16="http://schemas.microsoft.com/office/drawing/2014/main" id="{6ACB2D94-E380-AD11-67F5-FB5A57A2E0F7}"/>
              </a:ext>
            </a:extLst>
          </p:cNvPr>
          <p:cNvGrpSpPr/>
          <p:nvPr/>
        </p:nvGrpSpPr>
        <p:grpSpPr>
          <a:xfrm>
            <a:off x="8107095" y="599201"/>
            <a:ext cx="2468880" cy="5300028"/>
            <a:chOff x="8124999" y="222923"/>
            <a:chExt cx="2468880" cy="5300028"/>
          </a:xfrm>
        </p:grpSpPr>
        <p:pic>
          <p:nvPicPr>
            <p:cNvPr id="9" name="Picture 8">
              <a:extLst>
                <a:ext uri="{FF2B5EF4-FFF2-40B4-BE49-F238E27FC236}">
                  <a16:creationId xmlns:a16="http://schemas.microsoft.com/office/drawing/2014/main" id="{1B07E98C-56EB-9DC7-C528-66DA753F6BCD}"/>
                </a:ext>
              </a:extLst>
            </p:cNvPr>
            <p:cNvPicPr>
              <a:picLocks noChangeAspect="1"/>
            </p:cNvPicPr>
            <p:nvPr/>
          </p:nvPicPr>
          <p:blipFill>
            <a:blip r:embed="rId3"/>
            <a:stretch>
              <a:fillRect/>
            </a:stretch>
          </p:blipFill>
          <p:spPr>
            <a:xfrm>
              <a:off x="8124999" y="2654584"/>
              <a:ext cx="2468880" cy="2329928"/>
            </a:xfrm>
            <a:prstGeom prst="rect">
              <a:avLst/>
            </a:prstGeom>
          </p:spPr>
        </p:pic>
        <p:pic>
          <p:nvPicPr>
            <p:cNvPr id="10" name="Picture 9">
              <a:extLst>
                <a:ext uri="{FF2B5EF4-FFF2-40B4-BE49-F238E27FC236}">
                  <a16:creationId xmlns:a16="http://schemas.microsoft.com/office/drawing/2014/main" id="{0C890159-EF02-A9EA-F649-4AF82930C1F7}"/>
                </a:ext>
              </a:extLst>
            </p:cNvPr>
            <p:cNvPicPr>
              <a:picLocks noChangeAspect="1"/>
            </p:cNvPicPr>
            <p:nvPr/>
          </p:nvPicPr>
          <p:blipFill>
            <a:blip r:embed="rId4"/>
            <a:stretch>
              <a:fillRect/>
            </a:stretch>
          </p:blipFill>
          <p:spPr>
            <a:xfrm>
              <a:off x="8124999" y="222923"/>
              <a:ext cx="2468880" cy="2431661"/>
            </a:xfrm>
            <a:prstGeom prst="rect">
              <a:avLst/>
            </a:prstGeom>
          </p:spPr>
        </p:pic>
        <p:pic>
          <p:nvPicPr>
            <p:cNvPr id="11" name="Picture 10">
              <a:extLst>
                <a:ext uri="{FF2B5EF4-FFF2-40B4-BE49-F238E27FC236}">
                  <a16:creationId xmlns:a16="http://schemas.microsoft.com/office/drawing/2014/main" id="{9978B829-2C15-279F-D7A9-5F3E94095C09}"/>
                </a:ext>
              </a:extLst>
            </p:cNvPr>
            <p:cNvPicPr>
              <a:picLocks noChangeAspect="1"/>
            </p:cNvPicPr>
            <p:nvPr/>
          </p:nvPicPr>
          <p:blipFill>
            <a:blip r:embed="rId5"/>
            <a:stretch>
              <a:fillRect/>
            </a:stretch>
          </p:blipFill>
          <p:spPr>
            <a:xfrm>
              <a:off x="8124999" y="4984512"/>
              <a:ext cx="2468880" cy="538439"/>
            </a:xfrm>
            <a:prstGeom prst="rect">
              <a:avLst/>
            </a:prstGeom>
          </p:spPr>
        </p:pic>
      </p:grpSp>
    </p:spTree>
    <p:extLst>
      <p:ext uri="{BB962C8B-B14F-4D97-AF65-F5344CB8AC3E}">
        <p14:creationId xmlns:p14="http://schemas.microsoft.com/office/powerpoint/2010/main" val="23671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5BB2-15A0-2B30-DAD2-34081EDB49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23B965-DD67-A755-BBF6-5C977E159737}"/>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Example Script Details (1/5)</a:t>
            </a:r>
          </a:p>
        </p:txBody>
      </p:sp>
      <p:sp>
        <p:nvSpPr>
          <p:cNvPr id="8" name="TextBox 7">
            <a:extLst>
              <a:ext uri="{FF2B5EF4-FFF2-40B4-BE49-F238E27FC236}">
                <a16:creationId xmlns:a16="http://schemas.microsoft.com/office/drawing/2014/main" id="{180A0A01-888A-E3BE-84E2-4BA60383B707}"/>
              </a:ext>
            </a:extLst>
          </p:cNvPr>
          <p:cNvSpPr txBox="1"/>
          <p:nvPr/>
        </p:nvSpPr>
        <p:spPr>
          <a:xfrm>
            <a:off x="965915" y="3650115"/>
            <a:ext cx="6372257" cy="1754326"/>
          </a:xfrm>
          <a:prstGeom prst="rect">
            <a:avLst/>
          </a:prstGeom>
          <a:noFill/>
        </p:spPr>
        <p:txBody>
          <a:bodyPr wrap="square" rtlCol="0">
            <a:spAutoFit/>
          </a:bodyPr>
          <a:lstStyle/>
          <a:p>
            <a:r>
              <a:rPr lang="en-US"/>
              <a:t>The script requires the location of the data directory (you may leave these lines commented if you move the data to the Matlab current working directory).</a:t>
            </a:r>
          </a:p>
          <a:p>
            <a:endParaRPr lang="en-US"/>
          </a:p>
          <a:p>
            <a:r>
              <a:rPr lang="en-US"/>
              <a:t>The script then loads the example data, which is assumed to have been downloaded and moved to the specified directory.</a:t>
            </a:r>
          </a:p>
        </p:txBody>
      </p:sp>
      <p:sp>
        <p:nvSpPr>
          <p:cNvPr id="10" name="Double Bracket 9">
            <a:extLst>
              <a:ext uri="{FF2B5EF4-FFF2-40B4-BE49-F238E27FC236}">
                <a16:creationId xmlns:a16="http://schemas.microsoft.com/office/drawing/2014/main" id="{635B490F-D060-2BC2-8D9B-28F4287B5910}"/>
              </a:ext>
            </a:extLst>
          </p:cNvPr>
          <p:cNvSpPr/>
          <p:nvPr/>
        </p:nvSpPr>
        <p:spPr>
          <a:xfrm>
            <a:off x="8718997" y="1249250"/>
            <a:ext cx="2991539" cy="772734"/>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a:extLst>
              <a:ext uri="{FF2B5EF4-FFF2-40B4-BE49-F238E27FC236}">
                <a16:creationId xmlns:a16="http://schemas.microsoft.com/office/drawing/2014/main" id="{FEA710C4-6BA7-157D-B2CF-7EBB1DA99225}"/>
              </a:ext>
            </a:extLst>
          </p:cNvPr>
          <p:cNvGrpSpPr/>
          <p:nvPr/>
        </p:nvGrpSpPr>
        <p:grpSpPr>
          <a:xfrm>
            <a:off x="8995025" y="515155"/>
            <a:ext cx="2468880" cy="5300028"/>
            <a:chOff x="8124999" y="222923"/>
            <a:chExt cx="2468880" cy="5300028"/>
          </a:xfrm>
        </p:grpSpPr>
        <p:pic>
          <p:nvPicPr>
            <p:cNvPr id="7" name="Picture 6">
              <a:extLst>
                <a:ext uri="{FF2B5EF4-FFF2-40B4-BE49-F238E27FC236}">
                  <a16:creationId xmlns:a16="http://schemas.microsoft.com/office/drawing/2014/main" id="{39442F61-27CB-5891-645B-7F608EF1D535}"/>
                </a:ext>
              </a:extLst>
            </p:cNvPr>
            <p:cNvPicPr>
              <a:picLocks noChangeAspect="1"/>
            </p:cNvPicPr>
            <p:nvPr/>
          </p:nvPicPr>
          <p:blipFill>
            <a:blip r:embed="rId2"/>
            <a:stretch>
              <a:fillRect/>
            </a:stretch>
          </p:blipFill>
          <p:spPr>
            <a:xfrm>
              <a:off x="8124999" y="2654584"/>
              <a:ext cx="2468880" cy="2329928"/>
            </a:xfrm>
            <a:prstGeom prst="rect">
              <a:avLst/>
            </a:prstGeom>
          </p:spPr>
        </p:pic>
        <p:pic>
          <p:nvPicPr>
            <p:cNvPr id="11" name="Picture 10">
              <a:extLst>
                <a:ext uri="{FF2B5EF4-FFF2-40B4-BE49-F238E27FC236}">
                  <a16:creationId xmlns:a16="http://schemas.microsoft.com/office/drawing/2014/main" id="{6B77A495-BFA8-CF3D-A7D7-55E4EC29BEBF}"/>
                </a:ext>
              </a:extLst>
            </p:cNvPr>
            <p:cNvPicPr>
              <a:picLocks noChangeAspect="1"/>
            </p:cNvPicPr>
            <p:nvPr/>
          </p:nvPicPr>
          <p:blipFill>
            <a:blip r:embed="rId3"/>
            <a:stretch>
              <a:fillRect/>
            </a:stretch>
          </p:blipFill>
          <p:spPr>
            <a:xfrm>
              <a:off x="8124999" y="222923"/>
              <a:ext cx="2468880" cy="2431661"/>
            </a:xfrm>
            <a:prstGeom prst="rect">
              <a:avLst/>
            </a:prstGeom>
          </p:spPr>
        </p:pic>
        <p:pic>
          <p:nvPicPr>
            <p:cNvPr id="12" name="Picture 11">
              <a:extLst>
                <a:ext uri="{FF2B5EF4-FFF2-40B4-BE49-F238E27FC236}">
                  <a16:creationId xmlns:a16="http://schemas.microsoft.com/office/drawing/2014/main" id="{BF0D4121-9202-3FD6-6AD1-3464BDF0C619}"/>
                </a:ext>
              </a:extLst>
            </p:cNvPr>
            <p:cNvPicPr>
              <a:picLocks noChangeAspect="1"/>
            </p:cNvPicPr>
            <p:nvPr/>
          </p:nvPicPr>
          <p:blipFill>
            <a:blip r:embed="rId4"/>
            <a:stretch>
              <a:fillRect/>
            </a:stretch>
          </p:blipFill>
          <p:spPr>
            <a:xfrm>
              <a:off x="8124999" y="4984512"/>
              <a:ext cx="2468880" cy="538439"/>
            </a:xfrm>
            <a:prstGeom prst="rect">
              <a:avLst/>
            </a:prstGeom>
          </p:spPr>
        </p:pic>
      </p:grpSp>
      <p:pic>
        <p:nvPicPr>
          <p:cNvPr id="13" name="Picture 12">
            <a:extLst>
              <a:ext uri="{FF2B5EF4-FFF2-40B4-BE49-F238E27FC236}">
                <a16:creationId xmlns:a16="http://schemas.microsoft.com/office/drawing/2014/main" id="{B37F6D43-AAC0-11A8-F0B6-E8B4A33FCBF3}"/>
              </a:ext>
            </a:extLst>
          </p:cNvPr>
          <p:cNvPicPr>
            <a:picLocks noChangeAspect="1"/>
          </p:cNvPicPr>
          <p:nvPr/>
        </p:nvPicPr>
        <p:blipFill>
          <a:blip r:embed="rId5"/>
          <a:stretch>
            <a:fillRect/>
          </a:stretch>
        </p:blipFill>
        <p:spPr>
          <a:xfrm>
            <a:off x="965915" y="1581515"/>
            <a:ext cx="6372257" cy="1847485"/>
          </a:xfrm>
          <a:prstGeom prst="rect">
            <a:avLst/>
          </a:prstGeom>
        </p:spPr>
      </p:pic>
    </p:spTree>
    <p:extLst>
      <p:ext uri="{BB962C8B-B14F-4D97-AF65-F5344CB8AC3E}">
        <p14:creationId xmlns:p14="http://schemas.microsoft.com/office/powerpoint/2010/main" val="39894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5FD78-FCE8-6842-DAE2-1DA57297CE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24CC50-5D8F-C23A-CB20-015A666DEFBE}"/>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Example Script Details (2/5)</a:t>
            </a:r>
          </a:p>
        </p:txBody>
      </p:sp>
      <p:sp>
        <p:nvSpPr>
          <p:cNvPr id="8" name="TextBox 7">
            <a:extLst>
              <a:ext uri="{FF2B5EF4-FFF2-40B4-BE49-F238E27FC236}">
                <a16:creationId xmlns:a16="http://schemas.microsoft.com/office/drawing/2014/main" id="{08DD05E1-99F6-72F3-4568-B5971E2464FA}"/>
              </a:ext>
            </a:extLst>
          </p:cNvPr>
          <p:cNvSpPr txBox="1"/>
          <p:nvPr/>
        </p:nvSpPr>
        <p:spPr>
          <a:xfrm>
            <a:off x="1105821" y="4313761"/>
            <a:ext cx="6866202" cy="1754326"/>
          </a:xfrm>
          <a:prstGeom prst="rect">
            <a:avLst/>
          </a:prstGeom>
          <a:noFill/>
        </p:spPr>
        <p:txBody>
          <a:bodyPr wrap="square" rtlCol="0">
            <a:spAutoFit/>
          </a:bodyPr>
          <a:lstStyle/>
          <a:p>
            <a:r>
              <a:rPr lang="en-US"/>
              <a:t>Additionally, a number of support files are required for the analysis.</a:t>
            </a:r>
          </a:p>
          <a:p>
            <a:endParaRPr lang="en-US"/>
          </a:p>
          <a:p>
            <a:r>
              <a:rPr lang="en-US"/>
              <a:t>The first group shown here are included with NeuroDOT and so should already be on the Matlab search path. The second group is not included with NeuroDOT. You will likely need to download these files and move them to the data directory specified in the previous slide.</a:t>
            </a:r>
          </a:p>
        </p:txBody>
      </p:sp>
      <p:sp>
        <p:nvSpPr>
          <p:cNvPr id="10" name="Double Bracket 9">
            <a:extLst>
              <a:ext uri="{FF2B5EF4-FFF2-40B4-BE49-F238E27FC236}">
                <a16:creationId xmlns:a16="http://schemas.microsoft.com/office/drawing/2014/main" id="{0FED0EA6-803B-C672-DBFD-7FB80118A05C}"/>
              </a:ext>
            </a:extLst>
          </p:cNvPr>
          <p:cNvSpPr/>
          <p:nvPr/>
        </p:nvSpPr>
        <p:spPr>
          <a:xfrm>
            <a:off x="8718997" y="1878621"/>
            <a:ext cx="2991539" cy="658517"/>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a:extLst>
              <a:ext uri="{FF2B5EF4-FFF2-40B4-BE49-F238E27FC236}">
                <a16:creationId xmlns:a16="http://schemas.microsoft.com/office/drawing/2014/main" id="{95476159-DC12-191D-CEC4-95CE91E9E94C}"/>
              </a:ext>
            </a:extLst>
          </p:cNvPr>
          <p:cNvGrpSpPr/>
          <p:nvPr/>
        </p:nvGrpSpPr>
        <p:grpSpPr>
          <a:xfrm>
            <a:off x="8995025" y="515155"/>
            <a:ext cx="2468880" cy="5300028"/>
            <a:chOff x="8124999" y="222923"/>
            <a:chExt cx="2468880" cy="5300028"/>
          </a:xfrm>
        </p:grpSpPr>
        <p:pic>
          <p:nvPicPr>
            <p:cNvPr id="7" name="Picture 6">
              <a:extLst>
                <a:ext uri="{FF2B5EF4-FFF2-40B4-BE49-F238E27FC236}">
                  <a16:creationId xmlns:a16="http://schemas.microsoft.com/office/drawing/2014/main" id="{23808BB7-D112-3B20-D231-3FABB785557F}"/>
                </a:ext>
              </a:extLst>
            </p:cNvPr>
            <p:cNvPicPr>
              <a:picLocks noChangeAspect="1"/>
            </p:cNvPicPr>
            <p:nvPr/>
          </p:nvPicPr>
          <p:blipFill>
            <a:blip r:embed="rId2"/>
            <a:stretch>
              <a:fillRect/>
            </a:stretch>
          </p:blipFill>
          <p:spPr>
            <a:xfrm>
              <a:off x="8124999" y="2654584"/>
              <a:ext cx="2468880" cy="2329928"/>
            </a:xfrm>
            <a:prstGeom prst="rect">
              <a:avLst/>
            </a:prstGeom>
          </p:spPr>
        </p:pic>
        <p:pic>
          <p:nvPicPr>
            <p:cNvPr id="11" name="Picture 10">
              <a:extLst>
                <a:ext uri="{FF2B5EF4-FFF2-40B4-BE49-F238E27FC236}">
                  <a16:creationId xmlns:a16="http://schemas.microsoft.com/office/drawing/2014/main" id="{A50F66A0-B0E0-E38F-1287-C15250B6F4FA}"/>
                </a:ext>
              </a:extLst>
            </p:cNvPr>
            <p:cNvPicPr>
              <a:picLocks noChangeAspect="1"/>
            </p:cNvPicPr>
            <p:nvPr/>
          </p:nvPicPr>
          <p:blipFill>
            <a:blip r:embed="rId3"/>
            <a:stretch>
              <a:fillRect/>
            </a:stretch>
          </p:blipFill>
          <p:spPr>
            <a:xfrm>
              <a:off x="8124999" y="222923"/>
              <a:ext cx="2468880" cy="2431661"/>
            </a:xfrm>
            <a:prstGeom prst="rect">
              <a:avLst/>
            </a:prstGeom>
          </p:spPr>
        </p:pic>
        <p:pic>
          <p:nvPicPr>
            <p:cNvPr id="12" name="Picture 11">
              <a:extLst>
                <a:ext uri="{FF2B5EF4-FFF2-40B4-BE49-F238E27FC236}">
                  <a16:creationId xmlns:a16="http://schemas.microsoft.com/office/drawing/2014/main" id="{C87B9E08-E585-84CC-A5E8-B516A8D40213}"/>
                </a:ext>
              </a:extLst>
            </p:cNvPr>
            <p:cNvPicPr>
              <a:picLocks noChangeAspect="1"/>
            </p:cNvPicPr>
            <p:nvPr/>
          </p:nvPicPr>
          <p:blipFill>
            <a:blip r:embed="rId4"/>
            <a:stretch>
              <a:fillRect/>
            </a:stretch>
          </p:blipFill>
          <p:spPr>
            <a:xfrm>
              <a:off x="8124999" y="4984512"/>
              <a:ext cx="2468880" cy="538439"/>
            </a:xfrm>
            <a:prstGeom prst="rect">
              <a:avLst/>
            </a:prstGeom>
          </p:spPr>
        </p:pic>
      </p:grpSp>
      <p:pic>
        <p:nvPicPr>
          <p:cNvPr id="3" name="Picture 2">
            <a:extLst>
              <a:ext uri="{FF2B5EF4-FFF2-40B4-BE49-F238E27FC236}">
                <a16:creationId xmlns:a16="http://schemas.microsoft.com/office/drawing/2014/main" id="{BC6A0C6C-01C8-0A7C-D2C4-A42E72F05DD3}"/>
              </a:ext>
            </a:extLst>
          </p:cNvPr>
          <p:cNvPicPr>
            <a:picLocks noChangeAspect="1"/>
          </p:cNvPicPr>
          <p:nvPr/>
        </p:nvPicPr>
        <p:blipFill>
          <a:blip r:embed="rId5"/>
          <a:stretch>
            <a:fillRect/>
          </a:stretch>
        </p:blipFill>
        <p:spPr>
          <a:xfrm>
            <a:off x="1155732" y="1363467"/>
            <a:ext cx="6677992" cy="2748313"/>
          </a:xfrm>
          <a:prstGeom prst="rect">
            <a:avLst/>
          </a:prstGeom>
        </p:spPr>
      </p:pic>
    </p:spTree>
    <p:extLst>
      <p:ext uri="{BB962C8B-B14F-4D97-AF65-F5344CB8AC3E}">
        <p14:creationId xmlns:p14="http://schemas.microsoft.com/office/powerpoint/2010/main" val="3103656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B3843-E747-CF61-E3F7-DC38079750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026A3C-C524-00DD-DBBE-58758BE9EA2A}"/>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Example Script Details (3/5)</a:t>
            </a:r>
          </a:p>
        </p:txBody>
      </p:sp>
      <p:sp>
        <p:nvSpPr>
          <p:cNvPr id="8" name="TextBox 7">
            <a:extLst>
              <a:ext uri="{FF2B5EF4-FFF2-40B4-BE49-F238E27FC236}">
                <a16:creationId xmlns:a16="http://schemas.microsoft.com/office/drawing/2014/main" id="{FA264B2D-A3DA-2603-9657-53C6B18ADA2C}"/>
              </a:ext>
            </a:extLst>
          </p:cNvPr>
          <p:cNvSpPr txBox="1"/>
          <p:nvPr/>
        </p:nvSpPr>
        <p:spPr>
          <a:xfrm>
            <a:off x="813029" y="4646335"/>
            <a:ext cx="7308554" cy="1477328"/>
          </a:xfrm>
          <a:prstGeom prst="rect">
            <a:avLst/>
          </a:prstGeom>
          <a:noFill/>
        </p:spPr>
        <p:txBody>
          <a:bodyPr wrap="square" rtlCol="0">
            <a:spAutoFit/>
          </a:bodyPr>
          <a:lstStyle/>
          <a:p>
            <a:r>
              <a:rPr lang="en-US"/>
              <a:t>Next, the data is prepared for analysis. The variable </a:t>
            </a:r>
            <a:r>
              <a:rPr lang="en-US" b="1"/>
              <a:t>cortex_Hb </a:t>
            </a:r>
            <a:r>
              <a:rPr lang="en-US"/>
              <a:t>includes HbO and HbR – the former is extracted here, and any frames that exceed a GVTD threshold are deleted as high motion frames can introduce spurious correlations. The data is then demeaned, normalized, coverted to a volumetric format, and transformed into MNI space.</a:t>
            </a:r>
          </a:p>
        </p:txBody>
      </p:sp>
      <p:sp>
        <p:nvSpPr>
          <p:cNvPr id="10" name="Double Bracket 9">
            <a:extLst>
              <a:ext uri="{FF2B5EF4-FFF2-40B4-BE49-F238E27FC236}">
                <a16:creationId xmlns:a16="http://schemas.microsoft.com/office/drawing/2014/main" id="{9989AC79-2D12-7B06-5EDE-E1013281F48A}"/>
              </a:ext>
            </a:extLst>
          </p:cNvPr>
          <p:cNvSpPr/>
          <p:nvPr/>
        </p:nvSpPr>
        <p:spPr>
          <a:xfrm>
            <a:off x="8733695" y="2273297"/>
            <a:ext cx="2991539" cy="1281271"/>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a:extLst>
              <a:ext uri="{FF2B5EF4-FFF2-40B4-BE49-F238E27FC236}">
                <a16:creationId xmlns:a16="http://schemas.microsoft.com/office/drawing/2014/main" id="{2A36FD9B-D1B2-34C9-201F-803A3EF76AB9}"/>
              </a:ext>
            </a:extLst>
          </p:cNvPr>
          <p:cNvGrpSpPr/>
          <p:nvPr/>
        </p:nvGrpSpPr>
        <p:grpSpPr>
          <a:xfrm>
            <a:off x="8995025" y="515155"/>
            <a:ext cx="2468880" cy="5300028"/>
            <a:chOff x="8124999" y="222923"/>
            <a:chExt cx="2468880" cy="5300028"/>
          </a:xfrm>
        </p:grpSpPr>
        <p:pic>
          <p:nvPicPr>
            <p:cNvPr id="7" name="Picture 6">
              <a:extLst>
                <a:ext uri="{FF2B5EF4-FFF2-40B4-BE49-F238E27FC236}">
                  <a16:creationId xmlns:a16="http://schemas.microsoft.com/office/drawing/2014/main" id="{096AFC16-92B2-C2A3-6DF8-BDA1B8CF2593}"/>
                </a:ext>
              </a:extLst>
            </p:cNvPr>
            <p:cNvPicPr>
              <a:picLocks noChangeAspect="1"/>
            </p:cNvPicPr>
            <p:nvPr/>
          </p:nvPicPr>
          <p:blipFill>
            <a:blip r:embed="rId2"/>
            <a:stretch>
              <a:fillRect/>
            </a:stretch>
          </p:blipFill>
          <p:spPr>
            <a:xfrm>
              <a:off x="8124999" y="2654584"/>
              <a:ext cx="2468880" cy="2329928"/>
            </a:xfrm>
            <a:prstGeom prst="rect">
              <a:avLst/>
            </a:prstGeom>
          </p:spPr>
        </p:pic>
        <p:pic>
          <p:nvPicPr>
            <p:cNvPr id="11" name="Picture 10">
              <a:extLst>
                <a:ext uri="{FF2B5EF4-FFF2-40B4-BE49-F238E27FC236}">
                  <a16:creationId xmlns:a16="http://schemas.microsoft.com/office/drawing/2014/main" id="{3373F268-725A-BC02-D090-F5611A14C1F6}"/>
                </a:ext>
              </a:extLst>
            </p:cNvPr>
            <p:cNvPicPr>
              <a:picLocks noChangeAspect="1"/>
            </p:cNvPicPr>
            <p:nvPr/>
          </p:nvPicPr>
          <p:blipFill>
            <a:blip r:embed="rId3"/>
            <a:stretch>
              <a:fillRect/>
            </a:stretch>
          </p:blipFill>
          <p:spPr>
            <a:xfrm>
              <a:off x="8124999" y="222923"/>
              <a:ext cx="2468880" cy="2431661"/>
            </a:xfrm>
            <a:prstGeom prst="rect">
              <a:avLst/>
            </a:prstGeom>
          </p:spPr>
        </p:pic>
        <p:pic>
          <p:nvPicPr>
            <p:cNvPr id="12" name="Picture 11">
              <a:extLst>
                <a:ext uri="{FF2B5EF4-FFF2-40B4-BE49-F238E27FC236}">
                  <a16:creationId xmlns:a16="http://schemas.microsoft.com/office/drawing/2014/main" id="{0165DDB5-0A81-EB4A-4CD1-801D52DB3595}"/>
                </a:ext>
              </a:extLst>
            </p:cNvPr>
            <p:cNvPicPr>
              <a:picLocks noChangeAspect="1"/>
            </p:cNvPicPr>
            <p:nvPr/>
          </p:nvPicPr>
          <p:blipFill>
            <a:blip r:embed="rId4"/>
            <a:stretch>
              <a:fillRect/>
            </a:stretch>
          </p:blipFill>
          <p:spPr>
            <a:xfrm>
              <a:off x="8124999" y="4984512"/>
              <a:ext cx="2468880" cy="538439"/>
            </a:xfrm>
            <a:prstGeom prst="rect">
              <a:avLst/>
            </a:prstGeom>
          </p:spPr>
        </p:pic>
      </p:grpSp>
      <p:pic>
        <p:nvPicPr>
          <p:cNvPr id="3" name="Picture 2">
            <a:extLst>
              <a:ext uri="{FF2B5EF4-FFF2-40B4-BE49-F238E27FC236}">
                <a16:creationId xmlns:a16="http://schemas.microsoft.com/office/drawing/2014/main" id="{B122FFDC-35A5-2C2E-4EE8-CF3727CA745F}"/>
              </a:ext>
            </a:extLst>
          </p:cNvPr>
          <p:cNvPicPr>
            <a:picLocks noChangeAspect="1"/>
          </p:cNvPicPr>
          <p:nvPr/>
        </p:nvPicPr>
        <p:blipFill>
          <a:blip r:embed="rId5"/>
          <a:stretch>
            <a:fillRect/>
          </a:stretch>
        </p:blipFill>
        <p:spPr>
          <a:xfrm>
            <a:off x="965915" y="1473001"/>
            <a:ext cx="7002783" cy="2881861"/>
          </a:xfrm>
          <a:prstGeom prst="rect">
            <a:avLst/>
          </a:prstGeom>
        </p:spPr>
      </p:pic>
    </p:spTree>
    <p:extLst>
      <p:ext uri="{BB962C8B-B14F-4D97-AF65-F5344CB8AC3E}">
        <p14:creationId xmlns:p14="http://schemas.microsoft.com/office/powerpoint/2010/main" val="395128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5E42-7568-7C05-5603-84AE31A171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3394BC-71E8-285D-DC93-2DFD40B17F41}"/>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Example Script Details (4/5)</a:t>
            </a:r>
          </a:p>
        </p:txBody>
      </p:sp>
      <p:sp>
        <p:nvSpPr>
          <p:cNvPr id="8" name="TextBox 7">
            <a:extLst>
              <a:ext uri="{FF2B5EF4-FFF2-40B4-BE49-F238E27FC236}">
                <a16:creationId xmlns:a16="http://schemas.microsoft.com/office/drawing/2014/main" id="{7E224F6A-CF6E-4030-9F91-5DB4BF73BB72}"/>
              </a:ext>
            </a:extLst>
          </p:cNvPr>
          <p:cNvSpPr txBox="1"/>
          <p:nvPr/>
        </p:nvSpPr>
        <p:spPr>
          <a:xfrm>
            <a:off x="793950" y="2952861"/>
            <a:ext cx="7098345" cy="2585323"/>
          </a:xfrm>
          <a:prstGeom prst="rect">
            <a:avLst/>
          </a:prstGeom>
          <a:noFill/>
        </p:spPr>
        <p:txBody>
          <a:bodyPr wrap="square" rtlCol="0">
            <a:spAutoFit/>
          </a:bodyPr>
          <a:lstStyle/>
          <a:p>
            <a:r>
              <a:rPr lang="en-US"/>
              <a:t>The processed data is passed to </a:t>
            </a:r>
            <a:r>
              <a:rPr lang="en-US" b="1"/>
              <a:t>ParcelBased_fc </a:t>
            </a:r>
            <a:r>
              <a:rPr lang="en-US"/>
              <a:t>for analysis.</a:t>
            </a:r>
          </a:p>
          <a:p>
            <a:endParaRPr lang="en-US"/>
          </a:p>
          <a:p>
            <a:r>
              <a:rPr lang="en-US"/>
              <a:t>The main result  is returned in </a:t>
            </a:r>
            <a:r>
              <a:rPr lang="en-US" b="1"/>
              <a:t>fcMaps</a:t>
            </a:r>
            <a:r>
              <a:rPr lang="en-US"/>
              <a:t>, which for this data holds 142 3D arrays of correlation coefficients. The k-th array corresponds to the k-th parcel and the array values are the correlation of activity recorded in the k-th parcel to that recorded in every other parcel included in the analysis. </a:t>
            </a:r>
          </a:p>
          <a:p>
            <a:endParaRPr lang="en-US"/>
          </a:p>
          <a:p>
            <a:r>
              <a:rPr lang="en-US"/>
              <a:t>Cortical renders for eight selected parcels are generated in the final code section (see next slide).  </a:t>
            </a:r>
          </a:p>
        </p:txBody>
      </p:sp>
      <p:sp>
        <p:nvSpPr>
          <p:cNvPr id="10" name="Double Bracket 9">
            <a:extLst>
              <a:ext uri="{FF2B5EF4-FFF2-40B4-BE49-F238E27FC236}">
                <a16:creationId xmlns:a16="http://schemas.microsoft.com/office/drawing/2014/main" id="{2D512D0A-E94C-4466-6C29-6559F3066FF2}"/>
              </a:ext>
            </a:extLst>
          </p:cNvPr>
          <p:cNvSpPr/>
          <p:nvPr/>
        </p:nvSpPr>
        <p:spPr>
          <a:xfrm>
            <a:off x="8733695" y="3580354"/>
            <a:ext cx="2991539" cy="386367"/>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a:extLst>
              <a:ext uri="{FF2B5EF4-FFF2-40B4-BE49-F238E27FC236}">
                <a16:creationId xmlns:a16="http://schemas.microsoft.com/office/drawing/2014/main" id="{F3E6622B-828F-0B94-ACB1-428FC011134B}"/>
              </a:ext>
            </a:extLst>
          </p:cNvPr>
          <p:cNvGrpSpPr/>
          <p:nvPr/>
        </p:nvGrpSpPr>
        <p:grpSpPr>
          <a:xfrm>
            <a:off x="8995025" y="515155"/>
            <a:ext cx="2468880" cy="5300028"/>
            <a:chOff x="8124999" y="222923"/>
            <a:chExt cx="2468880" cy="5300028"/>
          </a:xfrm>
        </p:grpSpPr>
        <p:pic>
          <p:nvPicPr>
            <p:cNvPr id="7" name="Picture 6">
              <a:extLst>
                <a:ext uri="{FF2B5EF4-FFF2-40B4-BE49-F238E27FC236}">
                  <a16:creationId xmlns:a16="http://schemas.microsoft.com/office/drawing/2014/main" id="{0182768D-C030-AAF2-6963-7448E1F6FBA3}"/>
                </a:ext>
              </a:extLst>
            </p:cNvPr>
            <p:cNvPicPr>
              <a:picLocks noChangeAspect="1"/>
            </p:cNvPicPr>
            <p:nvPr/>
          </p:nvPicPr>
          <p:blipFill>
            <a:blip r:embed="rId2"/>
            <a:stretch>
              <a:fillRect/>
            </a:stretch>
          </p:blipFill>
          <p:spPr>
            <a:xfrm>
              <a:off x="8124999" y="2654584"/>
              <a:ext cx="2468880" cy="2329928"/>
            </a:xfrm>
            <a:prstGeom prst="rect">
              <a:avLst/>
            </a:prstGeom>
          </p:spPr>
        </p:pic>
        <p:pic>
          <p:nvPicPr>
            <p:cNvPr id="11" name="Picture 10">
              <a:extLst>
                <a:ext uri="{FF2B5EF4-FFF2-40B4-BE49-F238E27FC236}">
                  <a16:creationId xmlns:a16="http://schemas.microsoft.com/office/drawing/2014/main" id="{822D7B64-D219-529B-76CA-F311B45BC15D}"/>
                </a:ext>
              </a:extLst>
            </p:cNvPr>
            <p:cNvPicPr>
              <a:picLocks noChangeAspect="1"/>
            </p:cNvPicPr>
            <p:nvPr/>
          </p:nvPicPr>
          <p:blipFill>
            <a:blip r:embed="rId3"/>
            <a:stretch>
              <a:fillRect/>
            </a:stretch>
          </p:blipFill>
          <p:spPr>
            <a:xfrm>
              <a:off x="8124999" y="222923"/>
              <a:ext cx="2468880" cy="2431661"/>
            </a:xfrm>
            <a:prstGeom prst="rect">
              <a:avLst/>
            </a:prstGeom>
          </p:spPr>
        </p:pic>
        <p:pic>
          <p:nvPicPr>
            <p:cNvPr id="12" name="Picture 11">
              <a:extLst>
                <a:ext uri="{FF2B5EF4-FFF2-40B4-BE49-F238E27FC236}">
                  <a16:creationId xmlns:a16="http://schemas.microsoft.com/office/drawing/2014/main" id="{BCA0A9C7-04DC-4DEC-F119-5F161D848809}"/>
                </a:ext>
              </a:extLst>
            </p:cNvPr>
            <p:cNvPicPr>
              <a:picLocks noChangeAspect="1"/>
            </p:cNvPicPr>
            <p:nvPr/>
          </p:nvPicPr>
          <p:blipFill>
            <a:blip r:embed="rId4"/>
            <a:stretch>
              <a:fillRect/>
            </a:stretch>
          </p:blipFill>
          <p:spPr>
            <a:xfrm>
              <a:off x="8124999" y="4984512"/>
              <a:ext cx="2468880" cy="538439"/>
            </a:xfrm>
            <a:prstGeom prst="rect">
              <a:avLst/>
            </a:prstGeom>
          </p:spPr>
        </p:pic>
      </p:grpSp>
      <p:pic>
        <p:nvPicPr>
          <p:cNvPr id="3" name="Picture 2">
            <a:extLst>
              <a:ext uri="{FF2B5EF4-FFF2-40B4-BE49-F238E27FC236}">
                <a16:creationId xmlns:a16="http://schemas.microsoft.com/office/drawing/2014/main" id="{03B841B3-32B6-F230-0812-4823FB05A125}"/>
              </a:ext>
            </a:extLst>
          </p:cNvPr>
          <p:cNvPicPr>
            <a:picLocks noChangeAspect="1"/>
          </p:cNvPicPr>
          <p:nvPr/>
        </p:nvPicPr>
        <p:blipFill>
          <a:blip r:embed="rId5"/>
          <a:stretch>
            <a:fillRect/>
          </a:stretch>
        </p:blipFill>
        <p:spPr>
          <a:xfrm>
            <a:off x="965915" y="1664288"/>
            <a:ext cx="6926380" cy="1064337"/>
          </a:xfrm>
          <a:prstGeom prst="rect">
            <a:avLst/>
          </a:prstGeom>
        </p:spPr>
      </p:pic>
    </p:spTree>
    <p:extLst>
      <p:ext uri="{BB962C8B-B14F-4D97-AF65-F5344CB8AC3E}">
        <p14:creationId xmlns:p14="http://schemas.microsoft.com/office/powerpoint/2010/main" val="2874068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8B41E-909E-E7B7-A8F1-4CA00EE7DC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6DA750-F29B-C21A-EE4F-2082D8233659}"/>
              </a:ext>
            </a:extLst>
          </p:cNvPr>
          <p:cNvSpPr txBox="1"/>
          <p:nvPr/>
        </p:nvSpPr>
        <p:spPr>
          <a:xfrm>
            <a:off x="463639" y="240639"/>
            <a:ext cx="6766728" cy="646331"/>
          </a:xfrm>
          <a:prstGeom prst="rect">
            <a:avLst/>
          </a:prstGeom>
          <a:noFill/>
        </p:spPr>
        <p:txBody>
          <a:bodyPr wrap="square" rtlCol="0">
            <a:spAutoFit/>
          </a:bodyPr>
          <a:lstStyle/>
          <a:p>
            <a:r>
              <a:rPr lang="en-US" sz="3600">
                <a:solidFill>
                  <a:srgbClr val="FF0000"/>
                </a:solidFill>
              </a:rPr>
              <a:t>Example Script Details (5/5)</a:t>
            </a:r>
          </a:p>
        </p:txBody>
      </p:sp>
      <p:sp>
        <p:nvSpPr>
          <p:cNvPr id="8" name="TextBox 7">
            <a:extLst>
              <a:ext uri="{FF2B5EF4-FFF2-40B4-BE49-F238E27FC236}">
                <a16:creationId xmlns:a16="http://schemas.microsoft.com/office/drawing/2014/main" id="{2475B5AA-29C0-536B-9D3C-8ABB714FDB9B}"/>
              </a:ext>
            </a:extLst>
          </p:cNvPr>
          <p:cNvSpPr txBox="1"/>
          <p:nvPr/>
        </p:nvSpPr>
        <p:spPr>
          <a:xfrm>
            <a:off x="871021" y="5000297"/>
            <a:ext cx="7308554" cy="1477328"/>
          </a:xfrm>
          <a:prstGeom prst="rect">
            <a:avLst/>
          </a:prstGeom>
          <a:noFill/>
        </p:spPr>
        <p:txBody>
          <a:bodyPr wrap="square" rtlCol="0">
            <a:spAutoFit/>
          </a:bodyPr>
          <a:lstStyle/>
          <a:p>
            <a:r>
              <a:rPr lang="en-US"/>
              <a:t>Eight maps are chosen for display, which includes parcels in the visual, auditory, somatomotor, and frontal-parietal networks. The code loop extracts the appropriate data from </a:t>
            </a:r>
            <a:r>
              <a:rPr lang="en-US" b="1"/>
              <a:t>fcMaps</a:t>
            </a:r>
            <a:r>
              <a:rPr lang="en-US"/>
              <a:t>, then renders the map using the NeuroDOT function </a:t>
            </a:r>
            <a:r>
              <a:rPr lang="en-US" b="1"/>
              <a:t>PlotInterpSurfMesh</a:t>
            </a:r>
            <a:r>
              <a:rPr lang="en-US"/>
              <a:t>. The final code block in the script (not shown enlarged) add titles to the plots. See the next slide for results.</a:t>
            </a:r>
          </a:p>
        </p:txBody>
      </p:sp>
      <p:sp>
        <p:nvSpPr>
          <p:cNvPr id="10" name="Double Bracket 9">
            <a:extLst>
              <a:ext uri="{FF2B5EF4-FFF2-40B4-BE49-F238E27FC236}">
                <a16:creationId xmlns:a16="http://schemas.microsoft.com/office/drawing/2014/main" id="{8A2199A2-91A3-F99A-25D9-5555BD24F04E}"/>
              </a:ext>
            </a:extLst>
          </p:cNvPr>
          <p:cNvSpPr/>
          <p:nvPr/>
        </p:nvSpPr>
        <p:spPr>
          <a:xfrm>
            <a:off x="8617785" y="3979573"/>
            <a:ext cx="3223359" cy="1835610"/>
          </a:xfrm>
          <a:prstGeom prst="bracketPair">
            <a:avLst>
              <a:gd name="adj" fmla="val 8248"/>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a:extLst>
              <a:ext uri="{FF2B5EF4-FFF2-40B4-BE49-F238E27FC236}">
                <a16:creationId xmlns:a16="http://schemas.microsoft.com/office/drawing/2014/main" id="{0AD343AE-A0F2-1EA3-F818-4B7709948B35}"/>
              </a:ext>
            </a:extLst>
          </p:cNvPr>
          <p:cNvGrpSpPr/>
          <p:nvPr/>
        </p:nvGrpSpPr>
        <p:grpSpPr>
          <a:xfrm>
            <a:off x="8995025" y="515155"/>
            <a:ext cx="2468880" cy="5300028"/>
            <a:chOff x="8124999" y="222923"/>
            <a:chExt cx="2468880" cy="5300028"/>
          </a:xfrm>
        </p:grpSpPr>
        <p:pic>
          <p:nvPicPr>
            <p:cNvPr id="7" name="Picture 6">
              <a:extLst>
                <a:ext uri="{FF2B5EF4-FFF2-40B4-BE49-F238E27FC236}">
                  <a16:creationId xmlns:a16="http://schemas.microsoft.com/office/drawing/2014/main" id="{1E60733B-B4C5-858D-9A13-10E8C9BE19AE}"/>
                </a:ext>
              </a:extLst>
            </p:cNvPr>
            <p:cNvPicPr>
              <a:picLocks noChangeAspect="1"/>
            </p:cNvPicPr>
            <p:nvPr/>
          </p:nvPicPr>
          <p:blipFill>
            <a:blip r:embed="rId2"/>
            <a:stretch>
              <a:fillRect/>
            </a:stretch>
          </p:blipFill>
          <p:spPr>
            <a:xfrm>
              <a:off x="8124999" y="2654584"/>
              <a:ext cx="2468880" cy="2329928"/>
            </a:xfrm>
            <a:prstGeom prst="rect">
              <a:avLst/>
            </a:prstGeom>
          </p:spPr>
        </p:pic>
        <p:pic>
          <p:nvPicPr>
            <p:cNvPr id="11" name="Picture 10">
              <a:extLst>
                <a:ext uri="{FF2B5EF4-FFF2-40B4-BE49-F238E27FC236}">
                  <a16:creationId xmlns:a16="http://schemas.microsoft.com/office/drawing/2014/main" id="{70DE664D-7775-5AEA-3291-6E72B013FCD5}"/>
                </a:ext>
              </a:extLst>
            </p:cNvPr>
            <p:cNvPicPr>
              <a:picLocks noChangeAspect="1"/>
            </p:cNvPicPr>
            <p:nvPr/>
          </p:nvPicPr>
          <p:blipFill>
            <a:blip r:embed="rId3"/>
            <a:stretch>
              <a:fillRect/>
            </a:stretch>
          </p:blipFill>
          <p:spPr>
            <a:xfrm>
              <a:off x="8124999" y="222923"/>
              <a:ext cx="2468880" cy="2431661"/>
            </a:xfrm>
            <a:prstGeom prst="rect">
              <a:avLst/>
            </a:prstGeom>
          </p:spPr>
        </p:pic>
        <p:pic>
          <p:nvPicPr>
            <p:cNvPr id="12" name="Picture 11">
              <a:extLst>
                <a:ext uri="{FF2B5EF4-FFF2-40B4-BE49-F238E27FC236}">
                  <a16:creationId xmlns:a16="http://schemas.microsoft.com/office/drawing/2014/main" id="{4FF553FF-550F-B73E-56F4-FAEB42D47563}"/>
                </a:ext>
              </a:extLst>
            </p:cNvPr>
            <p:cNvPicPr>
              <a:picLocks noChangeAspect="1"/>
            </p:cNvPicPr>
            <p:nvPr/>
          </p:nvPicPr>
          <p:blipFill>
            <a:blip r:embed="rId4"/>
            <a:stretch>
              <a:fillRect/>
            </a:stretch>
          </p:blipFill>
          <p:spPr>
            <a:xfrm>
              <a:off x="8124999" y="4984512"/>
              <a:ext cx="2468880" cy="538439"/>
            </a:xfrm>
            <a:prstGeom prst="rect">
              <a:avLst/>
            </a:prstGeom>
          </p:spPr>
        </p:pic>
      </p:grpSp>
      <p:pic>
        <p:nvPicPr>
          <p:cNvPr id="3" name="Picture 2">
            <a:extLst>
              <a:ext uri="{FF2B5EF4-FFF2-40B4-BE49-F238E27FC236}">
                <a16:creationId xmlns:a16="http://schemas.microsoft.com/office/drawing/2014/main" id="{3901022C-9BC0-9A6E-CACA-3C38D826036B}"/>
              </a:ext>
            </a:extLst>
          </p:cNvPr>
          <p:cNvPicPr>
            <a:picLocks noChangeAspect="1"/>
          </p:cNvPicPr>
          <p:nvPr/>
        </p:nvPicPr>
        <p:blipFill>
          <a:blip r:embed="rId5"/>
          <a:stretch>
            <a:fillRect/>
          </a:stretch>
        </p:blipFill>
        <p:spPr>
          <a:xfrm>
            <a:off x="1726641" y="1060377"/>
            <a:ext cx="5311462" cy="3772877"/>
          </a:xfrm>
          <a:prstGeom prst="rect">
            <a:avLst/>
          </a:prstGeom>
        </p:spPr>
      </p:pic>
    </p:spTree>
    <p:extLst>
      <p:ext uri="{BB962C8B-B14F-4D97-AF65-F5344CB8AC3E}">
        <p14:creationId xmlns:p14="http://schemas.microsoft.com/office/powerpoint/2010/main" val="3824942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5C7D08-5DE2-204F-7BA5-4853006392D9}"/>
              </a:ext>
            </a:extLst>
          </p:cNvPr>
          <p:cNvSpPr txBox="1"/>
          <p:nvPr/>
        </p:nvSpPr>
        <p:spPr>
          <a:xfrm>
            <a:off x="482118" y="448221"/>
            <a:ext cx="9437135" cy="646331"/>
          </a:xfrm>
          <a:prstGeom prst="rect">
            <a:avLst/>
          </a:prstGeom>
          <a:noFill/>
        </p:spPr>
        <p:txBody>
          <a:bodyPr wrap="square" rtlCol="0">
            <a:spAutoFit/>
          </a:bodyPr>
          <a:lstStyle/>
          <a:p>
            <a:r>
              <a:rPr lang="en-US" sz="3600">
                <a:solidFill>
                  <a:srgbClr val="FF0000"/>
                </a:solidFill>
              </a:rPr>
              <a:t>Example Script – Rendered FC Maps</a:t>
            </a:r>
          </a:p>
        </p:txBody>
      </p:sp>
      <p:sp>
        <p:nvSpPr>
          <p:cNvPr id="2" name="TextBox 1">
            <a:extLst>
              <a:ext uri="{FF2B5EF4-FFF2-40B4-BE49-F238E27FC236}">
                <a16:creationId xmlns:a16="http://schemas.microsoft.com/office/drawing/2014/main" id="{3706E143-0474-74AA-66F9-3E4297E215BD}"/>
              </a:ext>
            </a:extLst>
          </p:cNvPr>
          <p:cNvSpPr txBox="1"/>
          <p:nvPr/>
        </p:nvSpPr>
        <p:spPr>
          <a:xfrm>
            <a:off x="437883" y="1493379"/>
            <a:ext cx="3861298" cy="3970318"/>
          </a:xfrm>
          <a:prstGeom prst="rect">
            <a:avLst/>
          </a:prstGeom>
          <a:noFill/>
        </p:spPr>
        <p:txBody>
          <a:bodyPr wrap="square" rtlCol="0">
            <a:spAutoFit/>
          </a:bodyPr>
          <a:lstStyle/>
          <a:p>
            <a:pPr algn="r"/>
            <a:r>
              <a:rPr lang="en-US"/>
              <a:t>Correlation maps of eight representative parcels are shown here rendered on the cortical surface.</a:t>
            </a:r>
          </a:p>
          <a:p>
            <a:pPr algn="r"/>
            <a:endParaRPr lang="en-US"/>
          </a:p>
          <a:p>
            <a:pPr algn="r"/>
            <a:r>
              <a:rPr lang="en-US"/>
              <a:t>The network for Parcel 42 (upper left panel in top figure) is shown enlarged at bottom. This parcel is located in the left occipital lobe. There is positive correlation in both ipsilateral and contralateral visual cortex, as well as weaker positive correlation in anterior regions bilaterally. Negative correlation values are observed in the left temporal and right prefrontal cortex. </a:t>
            </a:r>
          </a:p>
        </p:txBody>
      </p:sp>
      <p:pic>
        <p:nvPicPr>
          <p:cNvPr id="3" name="Picture 2">
            <a:extLst>
              <a:ext uri="{FF2B5EF4-FFF2-40B4-BE49-F238E27FC236}">
                <a16:creationId xmlns:a16="http://schemas.microsoft.com/office/drawing/2014/main" id="{6A662D59-E90F-9B54-E1FB-FD1E873B6E69}"/>
              </a:ext>
            </a:extLst>
          </p:cNvPr>
          <p:cNvPicPr>
            <a:picLocks noChangeAspect="1"/>
          </p:cNvPicPr>
          <p:nvPr/>
        </p:nvPicPr>
        <p:blipFill>
          <a:blip r:embed="rId2"/>
          <a:stretch>
            <a:fillRect/>
          </a:stretch>
        </p:blipFill>
        <p:spPr>
          <a:xfrm>
            <a:off x="4590292" y="1357669"/>
            <a:ext cx="6781658" cy="2246490"/>
          </a:xfrm>
          <a:prstGeom prst="rect">
            <a:avLst/>
          </a:prstGeom>
          <a:ln>
            <a:solidFill>
              <a:schemeClr val="tx1"/>
            </a:solidFill>
          </a:ln>
        </p:spPr>
      </p:pic>
      <p:pic>
        <p:nvPicPr>
          <p:cNvPr id="6" name="Picture 5">
            <a:extLst>
              <a:ext uri="{FF2B5EF4-FFF2-40B4-BE49-F238E27FC236}">
                <a16:creationId xmlns:a16="http://schemas.microsoft.com/office/drawing/2014/main" id="{D933418E-EDF0-298C-5382-0D99B283E984}"/>
              </a:ext>
            </a:extLst>
          </p:cNvPr>
          <p:cNvPicPr>
            <a:picLocks noChangeAspect="1"/>
          </p:cNvPicPr>
          <p:nvPr/>
        </p:nvPicPr>
        <p:blipFill>
          <a:blip r:embed="rId3"/>
          <a:srcRect t="23312"/>
          <a:stretch/>
        </p:blipFill>
        <p:spPr>
          <a:xfrm>
            <a:off x="5875619" y="3874768"/>
            <a:ext cx="4211004" cy="2246490"/>
          </a:xfrm>
          <a:prstGeom prst="rect">
            <a:avLst/>
          </a:prstGeom>
          <a:ln>
            <a:solidFill>
              <a:schemeClr val="tx1"/>
            </a:solidFill>
          </a:ln>
        </p:spPr>
      </p:pic>
    </p:spTree>
    <p:extLst>
      <p:ext uri="{BB962C8B-B14F-4D97-AF65-F5344CB8AC3E}">
        <p14:creationId xmlns:p14="http://schemas.microsoft.com/office/powerpoint/2010/main" val="15941905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28690</TotalTime>
  <Words>738</Words>
  <Application>Microsoft Macintosh PowerPoint</Application>
  <PresentationFormat>Widescreen</PresentationFormat>
  <Paragraphs>57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Menlo</vt:lpstr>
      <vt:lpstr>Trebuchet MS</vt:lpstr>
      <vt:lpstr>Office Theme</vt:lpstr>
      <vt:lpstr>NeuroDOT</vt:lpstr>
      <vt:lpstr>FC in NeuroDOT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NeuroDOT</dc:title>
  <dc:creator>Ari Segel</dc:creator>
  <cp:lastModifiedBy>Jones, Mike</cp:lastModifiedBy>
  <cp:revision>82</cp:revision>
  <dcterms:created xsi:type="dcterms:W3CDTF">2021-04-22T12:38:26Z</dcterms:created>
  <dcterms:modified xsi:type="dcterms:W3CDTF">2026-05-08T13:41:46Z</dcterms:modified>
</cp:coreProperties>
</file>