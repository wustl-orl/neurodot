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8"/>
  </p:notesMasterIdLst>
  <p:sldIdLst>
    <p:sldId id="277" r:id="rId2"/>
    <p:sldId id="742" r:id="rId3"/>
    <p:sldId id="500" r:id="rId4"/>
    <p:sldId id="632" r:id="rId5"/>
    <p:sldId id="467" r:id="rId6"/>
    <p:sldId id="719" r:id="rId7"/>
    <p:sldId id="553" r:id="rId8"/>
    <p:sldId id="730" r:id="rId9"/>
    <p:sldId id="630" r:id="rId10"/>
    <p:sldId id="651" r:id="rId11"/>
    <p:sldId id="687" r:id="rId12"/>
    <p:sldId id="688" r:id="rId13"/>
    <p:sldId id="646" r:id="rId14"/>
    <p:sldId id="264" r:id="rId15"/>
    <p:sldId id="494" r:id="rId16"/>
    <p:sldId id="743" r:id="rId17"/>
    <p:sldId id="647" r:id="rId18"/>
    <p:sldId id="684" r:id="rId19"/>
    <p:sldId id="629" r:id="rId20"/>
    <p:sldId id="673" r:id="rId21"/>
    <p:sldId id="697" r:id="rId22"/>
    <p:sldId id="696" r:id="rId23"/>
    <p:sldId id="699" r:id="rId24"/>
    <p:sldId id="728" r:id="rId25"/>
    <p:sldId id="705" r:id="rId26"/>
    <p:sldId id="702" r:id="rId27"/>
    <p:sldId id="706" r:id="rId28"/>
    <p:sldId id="703" r:id="rId29"/>
    <p:sldId id="704" r:id="rId30"/>
    <p:sldId id="707" r:id="rId31"/>
    <p:sldId id="708" r:id="rId32"/>
    <p:sldId id="709" r:id="rId33"/>
    <p:sldId id="711" r:id="rId34"/>
    <p:sldId id="712" r:id="rId35"/>
    <p:sldId id="725" r:id="rId36"/>
    <p:sldId id="282" r:id="rId37"/>
    <p:sldId id="694" r:id="rId38"/>
    <p:sldId id="740" r:id="rId39"/>
    <p:sldId id="729" r:id="rId40"/>
    <p:sldId id="517" r:id="rId41"/>
    <p:sldId id="634" r:id="rId42"/>
    <p:sldId id="638" r:id="rId43"/>
    <p:sldId id="648" r:id="rId44"/>
    <p:sldId id="652" r:id="rId45"/>
    <p:sldId id="653" r:id="rId46"/>
    <p:sldId id="654" r:id="rId47"/>
    <p:sldId id="655" r:id="rId48"/>
    <p:sldId id="656" r:id="rId49"/>
    <p:sldId id="657" r:id="rId50"/>
    <p:sldId id="741" r:id="rId51"/>
    <p:sldId id="658" r:id="rId52"/>
    <p:sldId id="659" r:id="rId53"/>
    <p:sldId id="555" r:id="rId54"/>
    <p:sldId id="660" r:id="rId55"/>
    <p:sldId id="661" r:id="rId56"/>
    <p:sldId id="662" r:id="rId57"/>
    <p:sldId id="663" r:id="rId58"/>
    <p:sldId id="670" r:id="rId59"/>
    <p:sldId id="668" r:id="rId60"/>
    <p:sldId id="675" r:id="rId61"/>
    <p:sldId id="676" r:id="rId62"/>
    <p:sldId id="677" r:id="rId63"/>
    <p:sldId id="678" r:id="rId64"/>
    <p:sldId id="671" r:id="rId65"/>
    <p:sldId id="680" r:id="rId66"/>
    <p:sldId id="683"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0FF"/>
    <a:srgbClr val="FF85FF"/>
    <a:srgbClr val="73FD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76"/>
    <p:restoredTop sz="93931"/>
  </p:normalViewPr>
  <p:slideViewPr>
    <p:cSldViewPr snapToGrid="0">
      <p:cViewPr varScale="1">
        <p:scale>
          <a:sx n="106" d="100"/>
          <a:sy n="106" d="100"/>
        </p:scale>
        <p:origin x="216" y="568"/>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B57049-10AF-4D48-840C-6DE8FD481869}" type="datetimeFigureOut">
              <a:t>5/28/26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51195C-B9C6-E546-B546-F8914AE69CD4}" type="slidenum">
              <a:t>‹#›</a:t>
            </a:fld>
            <a:endParaRPr lang="en-US"/>
          </a:p>
        </p:txBody>
      </p:sp>
    </p:spTree>
    <p:extLst>
      <p:ext uri="{BB962C8B-B14F-4D97-AF65-F5344CB8AC3E}">
        <p14:creationId xmlns:p14="http://schemas.microsoft.com/office/powerpoint/2010/main" val="2926605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BBF60-31BD-0EF6-7BA9-5F32DBE80D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D5A5FAA-A799-1F66-3CAA-1255883209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E8AF77E-8243-E4E9-B31A-6B288F91D936}"/>
              </a:ext>
            </a:extLst>
          </p:cNvPr>
          <p:cNvSpPr>
            <a:spLocks noGrp="1"/>
          </p:cNvSpPr>
          <p:nvPr>
            <p:ph type="dt" sz="half" idx="10"/>
          </p:nvPr>
        </p:nvSpPr>
        <p:spPr/>
        <p:txBody>
          <a:bodyPr/>
          <a:lstStyle/>
          <a:p>
            <a:fld id="{2A6C7FDA-4451-384F-9D65-C5F713D8E3E1}" type="datetime1">
              <a:t>5/28/26</a:t>
            </a:fld>
            <a:endParaRPr lang="en-US"/>
          </a:p>
        </p:txBody>
      </p:sp>
      <p:sp>
        <p:nvSpPr>
          <p:cNvPr id="5" name="Footer Placeholder 4">
            <a:extLst>
              <a:ext uri="{FF2B5EF4-FFF2-40B4-BE49-F238E27FC236}">
                <a16:creationId xmlns:a16="http://schemas.microsoft.com/office/drawing/2014/main" id="{DDF1F4FA-0845-C857-EE2C-76FDB7F5D8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A0A9DE-EEF2-20EE-E6AF-99283DF5A90B}"/>
              </a:ext>
            </a:extLst>
          </p:cNvPr>
          <p:cNvSpPr>
            <a:spLocks noGrp="1"/>
          </p:cNvSpPr>
          <p:nvPr>
            <p:ph type="sldNum" sz="quarter" idx="12"/>
          </p:nvPr>
        </p:nvSpPr>
        <p:spPr/>
        <p:txBody>
          <a:bodyPr/>
          <a:lstStyle/>
          <a:p>
            <a:fld id="{6F215E70-FDA5-6C45-8C7C-E922E56675B4}" type="slidenum">
              <a:t>‹#›</a:t>
            </a:fld>
            <a:endParaRPr lang="en-US"/>
          </a:p>
        </p:txBody>
      </p:sp>
    </p:spTree>
    <p:extLst>
      <p:ext uri="{BB962C8B-B14F-4D97-AF65-F5344CB8AC3E}">
        <p14:creationId xmlns:p14="http://schemas.microsoft.com/office/powerpoint/2010/main" val="442635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EB69A-CE81-FF5F-A58A-2068A487A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EE6470-76BF-F621-C7A2-7882114ABF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D110AD-542D-CF1B-0FBB-49A8BBD81B9F}"/>
              </a:ext>
            </a:extLst>
          </p:cNvPr>
          <p:cNvSpPr>
            <a:spLocks noGrp="1"/>
          </p:cNvSpPr>
          <p:nvPr>
            <p:ph type="dt" sz="half" idx="10"/>
          </p:nvPr>
        </p:nvSpPr>
        <p:spPr/>
        <p:txBody>
          <a:bodyPr/>
          <a:lstStyle/>
          <a:p>
            <a:fld id="{8EA29724-DFB2-8641-84C3-AE4F50BBB0AE}" type="datetime1">
              <a:t>5/28/26</a:t>
            </a:fld>
            <a:endParaRPr lang="en-US"/>
          </a:p>
        </p:txBody>
      </p:sp>
      <p:sp>
        <p:nvSpPr>
          <p:cNvPr id="5" name="Footer Placeholder 4">
            <a:extLst>
              <a:ext uri="{FF2B5EF4-FFF2-40B4-BE49-F238E27FC236}">
                <a16:creationId xmlns:a16="http://schemas.microsoft.com/office/drawing/2014/main" id="{E5809F7C-802F-DA7A-B567-A58461C524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FD6331-4FFC-AD4D-0245-4626D38A78FB}"/>
              </a:ext>
            </a:extLst>
          </p:cNvPr>
          <p:cNvSpPr>
            <a:spLocks noGrp="1"/>
          </p:cNvSpPr>
          <p:nvPr>
            <p:ph type="sldNum" sz="quarter" idx="12"/>
          </p:nvPr>
        </p:nvSpPr>
        <p:spPr/>
        <p:txBody>
          <a:bodyPr/>
          <a:lstStyle/>
          <a:p>
            <a:fld id="{6F215E70-FDA5-6C45-8C7C-E922E56675B4}" type="slidenum">
              <a:t>‹#›</a:t>
            </a:fld>
            <a:endParaRPr lang="en-US"/>
          </a:p>
        </p:txBody>
      </p:sp>
    </p:spTree>
    <p:extLst>
      <p:ext uri="{BB962C8B-B14F-4D97-AF65-F5344CB8AC3E}">
        <p14:creationId xmlns:p14="http://schemas.microsoft.com/office/powerpoint/2010/main" val="2505072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6BC5C-213E-B861-A024-EE6739FC14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889182-807E-AA3B-07F2-09EE8D55F7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95928A-F568-F557-55F3-552D50DC1D0B}"/>
              </a:ext>
            </a:extLst>
          </p:cNvPr>
          <p:cNvSpPr>
            <a:spLocks noGrp="1"/>
          </p:cNvSpPr>
          <p:nvPr>
            <p:ph type="dt" sz="half" idx="10"/>
          </p:nvPr>
        </p:nvSpPr>
        <p:spPr/>
        <p:txBody>
          <a:bodyPr/>
          <a:lstStyle/>
          <a:p>
            <a:fld id="{80FE0D52-60BF-E541-969C-EE4DDAAA20A0}" type="datetime1">
              <a:t>5/28/26</a:t>
            </a:fld>
            <a:endParaRPr lang="en-US"/>
          </a:p>
        </p:txBody>
      </p:sp>
      <p:sp>
        <p:nvSpPr>
          <p:cNvPr id="5" name="Footer Placeholder 4">
            <a:extLst>
              <a:ext uri="{FF2B5EF4-FFF2-40B4-BE49-F238E27FC236}">
                <a16:creationId xmlns:a16="http://schemas.microsoft.com/office/drawing/2014/main" id="{CF50DB5C-16B1-8A4F-E0B2-ABF9A62E7F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26E4AD-1160-0D87-0BBC-C480B87D7EBF}"/>
              </a:ext>
            </a:extLst>
          </p:cNvPr>
          <p:cNvSpPr>
            <a:spLocks noGrp="1"/>
          </p:cNvSpPr>
          <p:nvPr>
            <p:ph type="sldNum" sz="quarter" idx="12"/>
          </p:nvPr>
        </p:nvSpPr>
        <p:spPr/>
        <p:txBody>
          <a:bodyPr/>
          <a:lstStyle/>
          <a:p>
            <a:fld id="{6F215E70-FDA5-6C45-8C7C-E922E56675B4}" type="slidenum">
              <a:t>‹#›</a:t>
            </a:fld>
            <a:endParaRPr lang="en-US"/>
          </a:p>
        </p:txBody>
      </p:sp>
    </p:spTree>
    <p:extLst>
      <p:ext uri="{BB962C8B-B14F-4D97-AF65-F5344CB8AC3E}">
        <p14:creationId xmlns:p14="http://schemas.microsoft.com/office/powerpoint/2010/main" val="1853770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24835-F045-4270-5F62-938F4FA75A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0422F1-26CE-1B0B-F5C3-F776B70B91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33076B6-B088-FFE7-3C85-78A6B5D06B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E38F3D-67A0-3A1D-EF4B-EBA28740A2B0}"/>
              </a:ext>
            </a:extLst>
          </p:cNvPr>
          <p:cNvSpPr>
            <a:spLocks noGrp="1"/>
          </p:cNvSpPr>
          <p:nvPr>
            <p:ph type="dt" sz="half" idx="10"/>
          </p:nvPr>
        </p:nvSpPr>
        <p:spPr/>
        <p:txBody>
          <a:bodyPr/>
          <a:lstStyle/>
          <a:p>
            <a:fld id="{DE140B4D-EE51-544A-A342-307F380DC9E4}" type="datetime1">
              <a:t>5/28/26</a:t>
            </a:fld>
            <a:endParaRPr lang="en-US"/>
          </a:p>
        </p:txBody>
      </p:sp>
      <p:sp>
        <p:nvSpPr>
          <p:cNvPr id="6" name="Footer Placeholder 5">
            <a:extLst>
              <a:ext uri="{FF2B5EF4-FFF2-40B4-BE49-F238E27FC236}">
                <a16:creationId xmlns:a16="http://schemas.microsoft.com/office/drawing/2014/main" id="{7CFB09C1-D36B-E3EC-9CC9-33B49E777B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1E2D17-9508-B23A-312D-F8F026C09897}"/>
              </a:ext>
            </a:extLst>
          </p:cNvPr>
          <p:cNvSpPr>
            <a:spLocks noGrp="1"/>
          </p:cNvSpPr>
          <p:nvPr>
            <p:ph type="sldNum" sz="quarter" idx="12"/>
          </p:nvPr>
        </p:nvSpPr>
        <p:spPr/>
        <p:txBody>
          <a:bodyPr/>
          <a:lstStyle/>
          <a:p>
            <a:fld id="{6F215E70-FDA5-6C45-8C7C-E922E56675B4}" type="slidenum">
              <a:t>‹#›</a:t>
            </a:fld>
            <a:endParaRPr lang="en-US"/>
          </a:p>
        </p:txBody>
      </p:sp>
    </p:spTree>
    <p:extLst>
      <p:ext uri="{BB962C8B-B14F-4D97-AF65-F5344CB8AC3E}">
        <p14:creationId xmlns:p14="http://schemas.microsoft.com/office/powerpoint/2010/main" val="2603628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72E4F-C69B-5EE0-3D24-61388FB7A8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4BB130-F8C8-921C-1A1D-2279E5532F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09B848-BFD1-E8BC-14D2-4CA4BDF494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4B782BE-3468-2287-B84D-1B870D8A20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0CBDB1-D481-B969-CE90-A7D8624638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359B455-3A58-084B-DB94-3AC85FA7EA76}"/>
              </a:ext>
            </a:extLst>
          </p:cNvPr>
          <p:cNvSpPr>
            <a:spLocks noGrp="1"/>
          </p:cNvSpPr>
          <p:nvPr>
            <p:ph type="dt" sz="half" idx="10"/>
          </p:nvPr>
        </p:nvSpPr>
        <p:spPr/>
        <p:txBody>
          <a:bodyPr/>
          <a:lstStyle/>
          <a:p>
            <a:fld id="{706EFFA9-062F-FB4F-A440-1D271D961BBF}" type="datetime1">
              <a:t>5/28/26</a:t>
            </a:fld>
            <a:endParaRPr lang="en-US"/>
          </a:p>
        </p:txBody>
      </p:sp>
      <p:sp>
        <p:nvSpPr>
          <p:cNvPr id="8" name="Footer Placeholder 7">
            <a:extLst>
              <a:ext uri="{FF2B5EF4-FFF2-40B4-BE49-F238E27FC236}">
                <a16:creationId xmlns:a16="http://schemas.microsoft.com/office/drawing/2014/main" id="{BC22AEB3-A806-16AC-A546-AC8CE133F1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9DF5A17-4AE5-2F7B-5D00-E52EC45E7C75}"/>
              </a:ext>
            </a:extLst>
          </p:cNvPr>
          <p:cNvSpPr>
            <a:spLocks noGrp="1"/>
          </p:cNvSpPr>
          <p:nvPr>
            <p:ph type="sldNum" sz="quarter" idx="12"/>
          </p:nvPr>
        </p:nvSpPr>
        <p:spPr/>
        <p:txBody>
          <a:bodyPr/>
          <a:lstStyle/>
          <a:p>
            <a:fld id="{6F215E70-FDA5-6C45-8C7C-E922E56675B4}" type="slidenum">
              <a:t>‹#›</a:t>
            </a:fld>
            <a:endParaRPr lang="en-US"/>
          </a:p>
        </p:txBody>
      </p:sp>
    </p:spTree>
    <p:extLst>
      <p:ext uri="{BB962C8B-B14F-4D97-AF65-F5344CB8AC3E}">
        <p14:creationId xmlns:p14="http://schemas.microsoft.com/office/powerpoint/2010/main" val="2154071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E215D-72AA-E6D1-7D16-97306EBC42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498ED0B-EFBA-28FA-7424-AB8B933E34C4}"/>
              </a:ext>
            </a:extLst>
          </p:cNvPr>
          <p:cNvSpPr>
            <a:spLocks noGrp="1"/>
          </p:cNvSpPr>
          <p:nvPr>
            <p:ph type="dt" sz="half" idx="10"/>
          </p:nvPr>
        </p:nvSpPr>
        <p:spPr/>
        <p:txBody>
          <a:bodyPr/>
          <a:lstStyle/>
          <a:p>
            <a:fld id="{FE5026F6-4C30-1B43-ABAC-1D58490B2B8A}" type="datetime1">
              <a:t>5/28/26</a:t>
            </a:fld>
            <a:endParaRPr lang="en-US"/>
          </a:p>
        </p:txBody>
      </p:sp>
      <p:sp>
        <p:nvSpPr>
          <p:cNvPr id="4" name="Footer Placeholder 3">
            <a:extLst>
              <a:ext uri="{FF2B5EF4-FFF2-40B4-BE49-F238E27FC236}">
                <a16:creationId xmlns:a16="http://schemas.microsoft.com/office/drawing/2014/main" id="{C2D76A32-B7DC-9A50-BB65-6524EBFE14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0E0BBD6-0C97-7CBD-D28F-BC427A5E34C9}"/>
              </a:ext>
            </a:extLst>
          </p:cNvPr>
          <p:cNvSpPr>
            <a:spLocks noGrp="1"/>
          </p:cNvSpPr>
          <p:nvPr>
            <p:ph type="sldNum" sz="quarter" idx="12"/>
          </p:nvPr>
        </p:nvSpPr>
        <p:spPr/>
        <p:txBody>
          <a:bodyPr/>
          <a:lstStyle/>
          <a:p>
            <a:fld id="{6F215E70-FDA5-6C45-8C7C-E922E56675B4}" type="slidenum">
              <a:t>‹#›</a:t>
            </a:fld>
            <a:endParaRPr lang="en-US"/>
          </a:p>
        </p:txBody>
      </p:sp>
    </p:spTree>
    <p:extLst>
      <p:ext uri="{BB962C8B-B14F-4D97-AF65-F5344CB8AC3E}">
        <p14:creationId xmlns:p14="http://schemas.microsoft.com/office/powerpoint/2010/main" val="3567529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52A339-2513-EB4B-5F97-7F5D3A3735E2}"/>
              </a:ext>
            </a:extLst>
          </p:cNvPr>
          <p:cNvSpPr>
            <a:spLocks noGrp="1"/>
          </p:cNvSpPr>
          <p:nvPr>
            <p:ph type="dt" sz="half" idx="10"/>
          </p:nvPr>
        </p:nvSpPr>
        <p:spPr/>
        <p:txBody>
          <a:bodyPr/>
          <a:lstStyle/>
          <a:p>
            <a:fld id="{6B8244A9-C2FB-A349-95E2-1C0A97B57BD3}" type="datetime1">
              <a:t>5/28/26</a:t>
            </a:fld>
            <a:endParaRPr lang="en-US"/>
          </a:p>
        </p:txBody>
      </p:sp>
      <p:sp>
        <p:nvSpPr>
          <p:cNvPr id="3" name="Footer Placeholder 2">
            <a:extLst>
              <a:ext uri="{FF2B5EF4-FFF2-40B4-BE49-F238E27FC236}">
                <a16:creationId xmlns:a16="http://schemas.microsoft.com/office/drawing/2014/main" id="{EFE10C39-B41F-B88B-E0CF-694C8FB7B3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73FE59-860D-D808-1B85-571AE35DA747}"/>
              </a:ext>
            </a:extLst>
          </p:cNvPr>
          <p:cNvSpPr>
            <a:spLocks noGrp="1"/>
          </p:cNvSpPr>
          <p:nvPr>
            <p:ph type="sldNum" sz="quarter" idx="12"/>
          </p:nvPr>
        </p:nvSpPr>
        <p:spPr/>
        <p:txBody>
          <a:bodyPr/>
          <a:lstStyle/>
          <a:p>
            <a:fld id="{6F215E70-FDA5-6C45-8C7C-E922E56675B4}" type="slidenum">
              <a:t>‹#›</a:t>
            </a:fld>
            <a:endParaRPr lang="en-US"/>
          </a:p>
        </p:txBody>
      </p:sp>
    </p:spTree>
    <p:extLst>
      <p:ext uri="{BB962C8B-B14F-4D97-AF65-F5344CB8AC3E}">
        <p14:creationId xmlns:p14="http://schemas.microsoft.com/office/powerpoint/2010/main" val="1743087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37527-283E-D49C-5149-3FBE6A145A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7DBD7C8-930C-29D4-704C-C55BA70917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B8E8BA7-DB10-3D77-D65A-1B0D1EBF0A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B26004-C95A-9925-439D-25A6A925D944}"/>
              </a:ext>
            </a:extLst>
          </p:cNvPr>
          <p:cNvSpPr>
            <a:spLocks noGrp="1"/>
          </p:cNvSpPr>
          <p:nvPr>
            <p:ph type="dt" sz="half" idx="10"/>
          </p:nvPr>
        </p:nvSpPr>
        <p:spPr/>
        <p:txBody>
          <a:bodyPr/>
          <a:lstStyle/>
          <a:p>
            <a:fld id="{9F347614-7985-2341-8FB1-D2913CB9263E}" type="datetime1">
              <a:t>5/28/26</a:t>
            </a:fld>
            <a:endParaRPr lang="en-US"/>
          </a:p>
        </p:txBody>
      </p:sp>
      <p:sp>
        <p:nvSpPr>
          <p:cNvPr id="6" name="Footer Placeholder 5">
            <a:extLst>
              <a:ext uri="{FF2B5EF4-FFF2-40B4-BE49-F238E27FC236}">
                <a16:creationId xmlns:a16="http://schemas.microsoft.com/office/drawing/2014/main" id="{92EE4EA9-BB9F-6E3E-5895-834D732EB7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FF61DF-C840-7F14-D775-90C59CCAECF2}"/>
              </a:ext>
            </a:extLst>
          </p:cNvPr>
          <p:cNvSpPr>
            <a:spLocks noGrp="1"/>
          </p:cNvSpPr>
          <p:nvPr>
            <p:ph type="sldNum" sz="quarter" idx="12"/>
          </p:nvPr>
        </p:nvSpPr>
        <p:spPr/>
        <p:txBody>
          <a:bodyPr/>
          <a:lstStyle/>
          <a:p>
            <a:fld id="{6F215E70-FDA5-6C45-8C7C-E922E56675B4}" type="slidenum">
              <a:t>‹#›</a:t>
            </a:fld>
            <a:endParaRPr lang="en-US"/>
          </a:p>
        </p:txBody>
      </p:sp>
    </p:spTree>
    <p:extLst>
      <p:ext uri="{BB962C8B-B14F-4D97-AF65-F5344CB8AC3E}">
        <p14:creationId xmlns:p14="http://schemas.microsoft.com/office/powerpoint/2010/main" val="90505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02DA3-F5F4-1380-8189-2AA23D6C2A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A132C7E-C9A7-CFCF-C753-F52EC18774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AD45874-79C9-60D6-E61C-48176CAD07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D915CD-9578-297C-7379-D01DFF3FD175}"/>
              </a:ext>
            </a:extLst>
          </p:cNvPr>
          <p:cNvSpPr>
            <a:spLocks noGrp="1"/>
          </p:cNvSpPr>
          <p:nvPr>
            <p:ph type="dt" sz="half" idx="10"/>
          </p:nvPr>
        </p:nvSpPr>
        <p:spPr/>
        <p:txBody>
          <a:bodyPr/>
          <a:lstStyle/>
          <a:p>
            <a:fld id="{28548BC5-4196-2647-BF25-9B7C59102AAA}" type="datetime1">
              <a:t>5/28/26</a:t>
            </a:fld>
            <a:endParaRPr lang="en-US"/>
          </a:p>
        </p:txBody>
      </p:sp>
      <p:sp>
        <p:nvSpPr>
          <p:cNvPr id="6" name="Footer Placeholder 5">
            <a:extLst>
              <a:ext uri="{FF2B5EF4-FFF2-40B4-BE49-F238E27FC236}">
                <a16:creationId xmlns:a16="http://schemas.microsoft.com/office/drawing/2014/main" id="{A24B6EB0-6339-4ACA-8DE7-991A397823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D77CB6-15B8-5572-AF42-C8F69EB34FF3}"/>
              </a:ext>
            </a:extLst>
          </p:cNvPr>
          <p:cNvSpPr>
            <a:spLocks noGrp="1"/>
          </p:cNvSpPr>
          <p:nvPr>
            <p:ph type="sldNum" sz="quarter" idx="12"/>
          </p:nvPr>
        </p:nvSpPr>
        <p:spPr/>
        <p:txBody>
          <a:bodyPr/>
          <a:lstStyle/>
          <a:p>
            <a:fld id="{6F215E70-FDA5-6C45-8C7C-E922E56675B4}" type="slidenum">
              <a:t>‹#›</a:t>
            </a:fld>
            <a:endParaRPr lang="en-US"/>
          </a:p>
        </p:txBody>
      </p:sp>
    </p:spTree>
    <p:extLst>
      <p:ext uri="{BB962C8B-B14F-4D97-AF65-F5344CB8AC3E}">
        <p14:creationId xmlns:p14="http://schemas.microsoft.com/office/powerpoint/2010/main" val="2039597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7EEA5-AA86-F82A-595F-C1D9C9264F7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092824-D15E-F2B8-80A2-07196162F4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73B8E9-8A6B-8789-AC71-B7A8EEB038A8}"/>
              </a:ext>
            </a:extLst>
          </p:cNvPr>
          <p:cNvSpPr>
            <a:spLocks noGrp="1"/>
          </p:cNvSpPr>
          <p:nvPr>
            <p:ph type="dt" sz="half" idx="10"/>
          </p:nvPr>
        </p:nvSpPr>
        <p:spPr/>
        <p:txBody>
          <a:bodyPr/>
          <a:lstStyle/>
          <a:p>
            <a:fld id="{BA1333F7-C94D-DE43-9927-A46AEED306D0}" type="datetime1">
              <a:t>5/28/26</a:t>
            </a:fld>
            <a:endParaRPr lang="en-US"/>
          </a:p>
        </p:txBody>
      </p:sp>
      <p:sp>
        <p:nvSpPr>
          <p:cNvPr id="5" name="Footer Placeholder 4">
            <a:extLst>
              <a:ext uri="{FF2B5EF4-FFF2-40B4-BE49-F238E27FC236}">
                <a16:creationId xmlns:a16="http://schemas.microsoft.com/office/drawing/2014/main" id="{F168DA9F-7D7B-0EB7-D557-9455479D8E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C4A563-54F6-79B5-C5F7-478B663A0417}"/>
              </a:ext>
            </a:extLst>
          </p:cNvPr>
          <p:cNvSpPr>
            <a:spLocks noGrp="1"/>
          </p:cNvSpPr>
          <p:nvPr>
            <p:ph type="sldNum" sz="quarter" idx="12"/>
          </p:nvPr>
        </p:nvSpPr>
        <p:spPr/>
        <p:txBody>
          <a:bodyPr/>
          <a:lstStyle/>
          <a:p>
            <a:fld id="{6F215E70-FDA5-6C45-8C7C-E922E56675B4}" type="slidenum">
              <a:t>‹#›</a:t>
            </a:fld>
            <a:endParaRPr lang="en-US"/>
          </a:p>
        </p:txBody>
      </p:sp>
    </p:spTree>
    <p:extLst>
      <p:ext uri="{BB962C8B-B14F-4D97-AF65-F5344CB8AC3E}">
        <p14:creationId xmlns:p14="http://schemas.microsoft.com/office/powerpoint/2010/main" val="2407769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0732E1-D476-8A5C-355D-B62FE3B09AE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14A4C0-ADB8-D31E-6082-C350CAF6E7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7CC028-02BB-9B5A-F81B-1195621D0D18}"/>
              </a:ext>
            </a:extLst>
          </p:cNvPr>
          <p:cNvSpPr>
            <a:spLocks noGrp="1"/>
          </p:cNvSpPr>
          <p:nvPr>
            <p:ph type="dt" sz="half" idx="10"/>
          </p:nvPr>
        </p:nvSpPr>
        <p:spPr/>
        <p:txBody>
          <a:bodyPr/>
          <a:lstStyle/>
          <a:p>
            <a:fld id="{5383BB26-604E-3049-AC47-4F01D9CBDB14}" type="datetime1">
              <a:t>5/28/26</a:t>
            </a:fld>
            <a:endParaRPr lang="en-US"/>
          </a:p>
        </p:txBody>
      </p:sp>
      <p:sp>
        <p:nvSpPr>
          <p:cNvPr id="5" name="Footer Placeholder 4">
            <a:extLst>
              <a:ext uri="{FF2B5EF4-FFF2-40B4-BE49-F238E27FC236}">
                <a16:creationId xmlns:a16="http://schemas.microsoft.com/office/drawing/2014/main" id="{746DFC33-E5DF-428A-283F-5C1F9F778C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6FA805-CA18-84D2-EB6F-EF2983B2CDFB}"/>
              </a:ext>
            </a:extLst>
          </p:cNvPr>
          <p:cNvSpPr>
            <a:spLocks noGrp="1"/>
          </p:cNvSpPr>
          <p:nvPr>
            <p:ph type="sldNum" sz="quarter" idx="12"/>
          </p:nvPr>
        </p:nvSpPr>
        <p:spPr/>
        <p:txBody>
          <a:bodyPr/>
          <a:lstStyle/>
          <a:p>
            <a:fld id="{6F215E70-FDA5-6C45-8C7C-E922E56675B4}" type="slidenum">
              <a:t>‹#›</a:t>
            </a:fld>
            <a:endParaRPr lang="en-US"/>
          </a:p>
        </p:txBody>
      </p:sp>
    </p:spTree>
    <p:extLst>
      <p:ext uri="{BB962C8B-B14F-4D97-AF65-F5344CB8AC3E}">
        <p14:creationId xmlns:p14="http://schemas.microsoft.com/office/powerpoint/2010/main" val="1592567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E869FE-5B67-54BC-7118-E80189B46B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DFEFCDC-49E0-961A-84FC-B64A461786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536EE3-1DCA-0C6E-1D28-6A895BD925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6B5882-BDCC-B243-B3B7-B0E1C2929109}" type="datetime1">
              <a:t>5/28/26</a:t>
            </a:fld>
            <a:endParaRPr lang="en-US"/>
          </a:p>
        </p:txBody>
      </p:sp>
      <p:sp>
        <p:nvSpPr>
          <p:cNvPr id="5" name="Footer Placeholder 4">
            <a:extLst>
              <a:ext uri="{FF2B5EF4-FFF2-40B4-BE49-F238E27FC236}">
                <a16:creationId xmlns:a16="http://schemas.microsoft.com/office/drawing/2014/main" id="{CE904572-38C2-EB2D-476B-5EB93A6EB1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B9B6B26-5501-57A1-3FB9-383FEA8716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F215E70-FDA5-6C45-8C7C-E922E56675B4}" type="slidenum">
              <a:t>‹#›</a:t>
            </a:fld>
            <a:endParaRPr lang="en-US"/>
          </a:p>
        </p:txBody>
      </p:sp>
    </p:spTree>
    <p:extLst>
      <p:ext uri="{BB962C8B-B14F-4D97-AF65-F5344CB8AC3E}">
        <p14:creationId xmlns:p14="http://schemas.microsoft.com/office/powerpoint/2010/main" val="35134942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0.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hyperlink" Target="mailto:neurodot-support@wustl.edu" TargetMode="External"/><Relationship Id="rId2" Type="http://schemas.openxmlformats.org/officeDocument/2006/relationships/hyperlink" Target="https://github.com/WUSTL-ORL/NeuroDOT"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forms.gle/jv6RkX5s784LgQC89" TargetMode="External"/><Relationship Id="rId2" Type="http://schemas.openxmlformats.org/officeDocument/2006/relationships/hyperlink" Target="https://forms.gle/8QNGnx7ZbKuUHg3bA"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9.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42.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43.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44.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45.jpe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46.jpe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47.jpe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47.jpe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48.jpe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67195" y="1707805"/>
            <a:ext cx="3392078" cy="832936"/>
          </a:xfrm>
        </p:spPr>
        <p:txBody>
          <a:bodyPr>
            <a:normAutofit fontScale="90000"/>
          </a:bodyPr>
          <a:lstStyle/>
          <a:p>
            <a:pPr algn="l"/>
            <a:r>
              <a:rPr lang="en-US" dirty="0" err="1">
                <a:solidFill>
                  <a:srgbClr val="FF0000"/>
                </a:solidFill>
              </a:rPr>
              <a:t>NeuroDOT</a:t>
            </a:r>
            <a:endParaRPr lang="en-US" dirty="0">
              <a:solidFill>
                <a:srgbClr val="FF0000"/>
              </a:solidFill>
            </a:endParaRPr>
          </a:p>
        </p:txBody>
      </p:sp>
      <p:sp>
        <p:nvSpPr>
          <p:cNvPr id="3" name="Subtitle 2"/>
          <p:cNvSpPr>
            <a:spLocks noGrp="1"/>
          </p:cNvSpPr>
          <p:nvPr>
            <p:ph type="subTitle" idx="1"/>
          </p:nvPr>
        </p:nvSpPr>
        <p:spPr>
          <a:xfrm>
            <a:off x="1616218" y="2764435"/>
            <a:ext cx="7107959" cy="1431193"/>
          </a:xfrm>
        </p:spPr>
        <p:txBody>
          <a:bodyPr>
            <a:noAutofit/>
          </a:bodyPr>
          <a:lstStyle/>
          <a:p>
            <a:pPr algn="r"/>
            <a:r>
              <a:rPr lang="en-US" sz="4000" i="1" dirty="0">
                <a:solidFill>
                  <a:schemeClr val="bg1"/>
                </a:solidFill>
              </a:rPr>
              <a:t>Spatial  Transforms using affine3d_img</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5835" y="1707805"/>
            <a:ext cx="1584944" cy="2113259"/>
          </a:xfrm>
          <a:prstGeom prst="rect">
            <a:avLst/>
          </a:prstGeom>
          <a:ln>
            <a:solidFill>
              <a:schemeClr val="bg1"/>
            </a:solidFill>
          </a:ln>
        </p:spPr>
      </p:pic>
      <p:cxnSp>
        <p:nvCxnSpPr>
          <p:cNvPr id="6" name="Straight Connector 5">
            <a:extLst>
              <a:ext uri="{FF2B5EF4-FFF2-40B4-BE49-F238E27FC236}">
                <a16:creationId xmlns:a16="http://schemas.microsoft.com/office/drawing/2014/main" id="{086A029A-DA08-9270-41D3-406689214F95}"/>
              </a:ext>
            </a:extLst>
          </p:cNvPr>
          <p:cNvCxnSpPr/>
          <p:nvPr/>
        </p:nvCxnSpPr>
        <p:spPr>
          <a:xfrm>
            <a:off x="1349343" y="2540741"/>
            <a:ext cx="7374834"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8399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2A194-77B4-E145-1036-AF2539620AA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A39B55-7C8F-4B3C-0EC0-F94C6EF196F6}"/>
              </a:ext>
            </a:extLst>
          </p:cNvPr>
          <p:cNvSpPr>
            <a:spLocks noGrp="1"/>
          </p:cNvSpPr>
          <p:nvPr>
            <p:ph type="sldNum" sz="quarter" idx="12"/>
          </p:nvPr>
        </p:nvSpPr>
        <p:spPr/>
        <p:txBody>
          <a:bodyPr/>
          <a:lstStyle/>
          <a:p>
            <a:fld id="{6F215E70-FDA5-6C45-8C7C-E922E56675B4}" type="slidenum">
              <a:rPr lang="en-US"/>
              <a:t>2</a:t>
            </a:fld>
            <a:endParaRPr lang="en-US"/>
          </a:p>
        </p:txBody>
      </p:sp>
      <p:sp>
        <p:nvSpPr>
          <p:cNvPr id="3" name="TextBox 2">
            <a:extLst>
              <a:ext uri="{FF2B5EF4-FFF2-40B4-BE49-F238E27FC236}">
                <a16:creationId xmlns:a16="http://schemas.microsoft.com/office/drawing/2014/main" id="{5A00C1AD-633F-E501-F4CD-DF9E9D8C4376}"/>
              </a:ext>
            </a:extLst>
          </p:cNvPr>
          <p:cNvSpPr txBox="1"/>
          <p:nvPr/>
        </p:nvSpPr>
        <p:spPr>
          <a:xfrm>
            <a:off x="838200" y="457367"/>
            <a:ext cx="10176710" cy="6001643"/>
          </a:xfrm>
          <a:prstGeom prst="rect">
            <a:avLst/>
          </a:prstGeom>
          <a:noFill/>
        </p:spPr>
        <p:txBody>
          <a:bodyPr wrap="square" rtlCol="0">
            <a:spAutoFit/>
          </a:bodyPr>
          <a:lstStyle/>
          <a:p>
            <a:r>
              <a:rPr lang="en-US" sz="2400">
                <a:solidFill>
                  <a:srgbClr val="92D050"/>
                </a:solidFill>
                <a:latin typeface="Trebuchet MS" panose="020B0703020202090204" pitchFamily="34" charset="0"/>
              </a:rPr>
              <a:t>3. </a:t>
            </a:r>
            <a:r>
              <a:rPr lang="en-US" sz="2400">
                <a:solidFill>
                  <a:schemeClr val="bg1"/>
                </a:solidFill>
                <a:latin typeface="Trebuchet MS" panose="020B0703020202090204" pitchFamily="34" charset="0"/>
              </a:rPr>
              <a:t>Motivation : Why spatial transforms?</a:t>
            </a:r>
          </a:p>
          <a:p>
            <a:endParaRPr lang="en-US" sz="2400">
              <a:solidFill>
                <a:schemeClr val="bg1"/>
              </a:solidFill>
              <a:latin typeface="Trebuchet MS" panose="020B0703020202090204" pitchFamily="34" charset="0"/>
            </a:endParaRPr>
          </a:p>
          <a:p>
            <a:r>
              <a:rPr lang="en-US" sz="2400" u="sng">
                <a:solidFill>
                  <a:schemeClr val="bg1"/>
                </a:solidFill>
                <a:latin typeface="Trebuchet MS" panose="020B0703020202090204" pitchFamily="34" charset="0"/>
              </a:rPr>
              <a:t>affine3d_img Usage</a:t>
            </a:r>
          </a:p>
          <a:p>
            <a:r>
              <a:rPr lang="en-US" sz="2400">
                <a:solidFill>
                  <a:srgbClr val="92D050"/>
                </a:solidFill>
                <a:latin typeface="Trebuchet MS" panose="020B0703020202090204" pitchFamily="34" charset="0"/>
              </a:rPr>
              <a:t>8.</a:t>
            </a:r>
            <a:r>
              <a:rPr lang="en-US" sz="2400">
                <a:solidFill>
                  <a:schemeClr val="bg1"/>
                </a:solidFill>
                <a:latin typeface="Trebuchet MS" panose="020B0703020202090204" pitchFamily="34" charset="0"/>
              </a:rPr>
              <a:t>   Basic usage</a:t>
            </a:r>
          </a:p>
          <a:p>
            <a:r>
              <a:rPr lang="en-US" sz="2400">
                <a:solidFill>
                  <a:srgbClr val="92D050"/>
                </a:solidFill>
                <a:latin typeface="Trebuchet MS" panose="020B0703020202090204" pitchFamily="34" charset="0"/>
              </a:rPr>
              <a:t>13. </a:t>
            </a:r>
            <a:r>
              <a:rPr lang="en-US" sz="2400">
                <a:solidFill>
                  <a:schemeClr val="bg1"/>
                </a:solidFill>
                <a:latin typeface="Trebuchet MS" panose="020B0703020202090204" pitchFamily="34" charset="0"/>
              </a:rPr>
              <a:t>Including an explicit transform matrix</a:t>
            </a:r>
          </a:p>
          <a:p>
            <a:r>
              <a:rPr lang="en-US" sz="2400">
                <a:solidFill>
                  <a:srgbClr val="92D050"/>
                </a:solidFill>
                <a:latin typeface="Trebuchet MS" panose="020B0703020202090204" pitchFamily="34" charset="0"/>
              </a:rPr>
              <a:t>17. </a:t>
            </a:r>
            <a:r>
              <a:rPr lang="en-US" sz="2400">
                <a:solidFill>
                  <a:schemeClr val="bg1"/>
                </a:solidFill>
                <a:latin typeface="Trebuchet MS" panose="020B0703020202090204" pitchFamily="34" charset="0"/>
              </a:rPr>
              <a:t>Specifying the interpolation method</a:t>
            </a:r>
          </a:p>
          <a:p>
            <a:pPr lvl="1"/>
            <a:endParaRPr lang="en-US" sz="2400">
              <a:solidFill>
                <a:schemeClr val="bg1"/>
              </a:solidFill>
              <a:latin typeface="Trebuchet MS" panose="020B0703020202090204" pitchFamily="34" charset="0"/>
            </a:endParaRPr>
          </a:p>
          <a:p>
            <a:r>
              <a:rPr lang="en-US" sz="2400" u="sng">
                <a:solidFill>
                  <a:schemeClr val="bg1"/>
                </a:solidFill>
                <a:latin typeface="Trebuchet MS" panose="020B0703020202090204" pitchFamily="34" charset="0"/>
              </a:rPr>
              <a:t>Example Applications</a:t>
            </a:r>
          </a:p>
          <a:p>
            <a:r>
              <a:rPr lang="en-US" sz="2400">
                <a:solidFill>
                  <a:srgbClr val="92D050"/>
                </a:solidFill>
                <a:latin typeface="Trebuchet MS" panose="020B0703020202090204" pitchFamily="34" charset="0"/>
              </a:rPr>
              <a:t>21. </a:t>
            </a:r>
            <a:r>
              <a:rPr lang="en-US" sz="2400">
                <a:solidFill>
                  <a:schemeClr val="bg1"/>
                </a:solidFill>
                <a:latin typeface="Trebuchet MS" panose="020B0703020202090204" pitchFamily="34" charset="0"/>
              </a:rPr>
              <a:t>The NeuroDOT reconstruction script</a:t>
            </a:r>
          </a:p>
          <a:p>
            <a:r>
              <a:rPr lang="en-US" sz="2400">
                <a:solidFill>
                  <a:srgbClr val="92D050"/>
                </a:solidFill>
                <a:latin typeface="Trebuchet MS" panose="020B0703020202090204" pitchFamily="34" charset="0"/>
              </a:rPr>
              <a:t>23. </a:t>
            </a:r>
            <a:r>
              <a:rPr lang="en-US" sz="2400">
                <a:solidFill>
                  <a:schemeClr val="bg1"/>
                </a:solidFill>
                <a:latin typeface="Trebuchet MS" panose="020B0703020202090204" pitchFamily="34" charset="0"/>
              </a:rPr>
              <a:t>Visualizing a Flat Field Reconstruction</a:t>
            </a:r>
          </a:p>
          <a:p>
            <a:r>
              <a:rPr lang="en-US" sz="2400">
                <a:solidFill>
                  <a:srgbClr val="92D050"/>
                </a:solidFill>
                <a:latin typeface="Trebuchet MS" panose="020B0703020202090204" pitchFamily="34" charset="0"/>
              </a:rPr>
              <a:t>32. </a:t>
            </a:r>
            <a:r>
              <a:rPr lang="en-US" sz="2400">
                <a:solidFill>
                  <a:schemeClr val="bg1"/>
                </a:solidFill>
                <a:latin typeface="Trebuchet MS" panose="020B0703020202090204" pitchFamily="34" charset="0"/>
              </a:rPr>
              <a:t>Mapping to Subject-specific Anatomy</a:t>
            </a:r>
          </a:p>
          <a:p>
            <a:endParaRPr lang="en-US" sz="2400">
              <a:solidFill>
                <a:schemeClr val="bg1"/>
              </a:solidFill>
              <a:latin typeface="Trebuchet MS" panose="020B0703020202090204" pitchFamily="34" charset="0"/>
            </a:endParaRPr>
          </a:p>
          <a:p>
            <a:r>
              <a:rPr lang="en-US" sz="2400" u="sng">
                <a:solidFill>
                  <a:schemeClr val="bg1"/>
                </a:solidFill>
                <a:latin typeface="Trebuchet MS" panose="020B0703020202090204" pitchFamily="34" charset="0"/>
              </a:rPr>
              <a:t>Appendices </a:t>
            </a:r>
          </a:p>
          <a:p>
            <a:r>
              <a:rPr lang="en-US" sz="2400">
                <a:solidFill>
                  <a:srgbClr val="92D050"/>
                </a:solidFill>
                <a:latin typeface="Trebuchet MS" panose="020B0703020202090204" pitchFamily="34" charset="0"/>
              </a:rPr>
              <a:t>39. </a:t>
            </a:r>
            <a:r>
              <a:rPr lang="en-US" sz="2400">
                <a:solidFill>
                  <a:schemeClr val="bg1"/>
                </a:solidFill>
                <a:latin typeface="Trebuchet MS" panose="020B0703020202090204" pitchFamily="34" charset="0"/>
              </a:rPr>
              <a:t>A1: The info struct</a:t>
            </a:r>
          </a:p>
          <a:p>
            <a:r>
              <a:rPr lang="en-US" sz="2400">
                <a:solidFill>
                  <a:srgbClr val="92D050"/>
                </a:solidFill>
                <a:latin typeface="Trebuchet MS" panose="020B0703020202090204" pitchFamily="34" charset="0"/>
              </a:rPr>
              <a:t>42. </a:t>
            </a:r>
            <a:r>
              <a:rPr lang="en-US" sz="2400">
                <a:solidFill>
                  <a:schemeClr val="bg1"/>
                </a:solidFill>
                <a:latin typeface="Trebuchet MS" panose="020B0703020202090204" pitchFamily="34" charset="0"/>
              </a:rPr>
              <a:t>A2: A gallery of transforms defined using the info struct</a:t>
            </a:r>
          </a:p>
          <a:p>
            <a:r>
              <a:rPr lang="en-US" sz="2400">
                <a:solidFill>
                  <a:srgbClr val="92D050"/>
                </a:solidFill>
                <a:latin typeface="Trebuchet MS" panose="020B0703020202090204" pitchFamily="34" charset="0"/>
              </a:rPr>
              <a:t>50. </a:t>
            </a:r>
            <a:r>
              <a:rPr lang="en-US" sz="2400">
                <a:solidFill>
                  <a:schemeClr val="bg1"/>
                </a:solidFill>
                <a:latin typeface="Trebuchet MS" panose="020B0703020202090204" pitchFamily="34" charset="0"/>
              </a:rPr>
              <a:t>A3: A gallery of transforms defined using the t4 matrix</a:t>
            </a:r>
          </a:p>
        </p:txBody>
      </p:sp>
      <p:sp>
        <p:nvSpPr>
          <p:cNvPr id="4" name="TextBox 3">
            <a:extLst>
              <a:ext uri="{FF2B5EF4-FFF2-40B4-BE49-F238E27FC236}">
                <a16:creationId xmlns:a16="http://schemas.microsoft.com/office/drawing/2014/main" id="{D7C1A8CA-BF03-0423-3B6B-445DAC554EDE}"/>
              </a:ext>
            </a:extLst>
          </p:cNvPr>
          <p:cNvSpPr txBox="1"/>
          <p:nvPr/>
        </p:nvSpPr>
        <p:spPr>
          <a:xfrm>
            <a:off x="5654842" y="398990"/>
            <a:ext cx="5698958" cy="646331"/>
          </a:xfrm>
          <a:prstGeom prst="rect">
            <a:avLst/>
          </a:prstGeom>
          <a:noFill/>
        </p:spPr>
        <p:txBody>
          <a:bodyPr wrap="square" rtlCol="0">
            <a:spAutoFit/>
          </a:bodyPr>
          <a:lstStyle/>
          <a:p>
            <a:pPr algn="r"/>
            <a:r>
              <a:rPr lang="en-US" sz="3600" u="sng">
                <a:solidFill>
                  <a:srgbClr val="FF0000"/>
                </a:solidFill>
                <a:latin typeface="Trebuchet MS" panose="020B0703020202090204" pitchFamily="34" charset="0"/>
              </a:rPr>
              <a:t>Table of Contents</a:t>
            </a:r>
          </a:p>
        </p:txBody>
      </p:sp>
    </p:spTree>
    <p:extLst>
      <p:ext uri="{BB962C8B-B14F-4D97-AF65-F5344CB8AC3E}">
        <p14:creationId xmlns:p14="http://schemas.microsoft.com/office/powerpoint/2010/main" val="115856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78D32-0E6A-0294-6F31-8EE7D5C61D0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D5E3CF-A7DA-71AA-1234-2EBAAF944268}"/>
              </a:ext>
            </a:extLst>
          </p:cNvPr>
          <p:cNvSpPr>
            <a:spLocks noGrp="1"/>
          </p:cNvSpPr>
          <p:nvPr>
            <p:ph type="sldNum" sz="quarter" idx="12"/>
          </p:nvPr>
        </p:nvSpPr>
        <p:spPr/>
        <p:txBody>
          <a:bodyPr/>
          <a:lstStyle/>
          <a:p>
            <a:fld id="{6F215E70-FDA5-6C45-8C7C-E922E56675B4}" type="slidenum">
              <a:rPr lang="en-US"/>
              <a:t>3</a:t>
            </a:fld>
            <a:endParaRPr lang="en-US"/>
          </a:p>
        </p:txBody>
      </p:sp>
      <p:sp>
        <p:nvSpPr>
          <p:cNvPr id="3" name="TextBox 2">
            <a:extLst>
              <a:ext uri="{FF2B5EF4-FFF2-40B4-BE49-F238E27FC236}">
                <a16:creationId xmlns:a16="http://schemas.microsoft.com/office/drawing/2014/main" id="{73A2A306-8B82-879A-991A-4B7D7CAEDA40}"/>
              </a:ext>
            </a:extLst>
          </p:cNvPr>
          <p:cNvSpPr txBox="1"/>
          <p:nvPr/>
        </p:nvSpPr>
        <p:spPr>
          <a:xfrm>
            <a:off x="2766914" y="2351782"/>
            <a:ext cx="6658171" cy="1569660"/>
          </a:xfrm>
          <a:prstGeom prst="rect">
            <a:avLst/>
          </a:prstGeom>
          <a:noFill/>
        </p:spPr>
        <p:txBody>
          <a:bodyPr wrap="square" rtlCol="0">
            <a:spAutoFit/>
          </a:bodyPr>
          <a:lstStyle/>
          <a:p>
            <a:pPr algn="ctr"/>
            <a:r>
              <a:rPr lang="en-US" sz="3200">
                <a:solidFill>
                  <a:schemeClr val="bg1"/>
                </a:solidFill>
                <a:latin typeface="Trebuchet MS" panose="020B0703020202090204" pitchFamily="34" charset="0"/>
              </a:rPr>
              <a:t>Motivation:</a:t>
            </a:r>
          </a:p>
          <a:p>
            <a:pPr algn="ctr"/>
            <a:r>
              <a:rPr lang="en-US" sz="3200">
                <a:solidFill>
                  <a:schemeClr val="bg1"/>
                </a:solidFill>
                <a:latin typeface="Trebuchet MS" panose="020B0703020202090204" pitchFamily="34" charset="0"/>
              </a:rPr>
              <a:t>Why do we need spatial transforms in NeuroDOT?</a:t>
            </a:r>
          </a:p>
        </p:txBody>
      </p:sp>
    </p:spTree>
    <p:extLst>
      <p:ext uri="{BB962C8B-B14F-4D97-AF65-F5344CB8AC3E}">
        <p14:creationId xmlns:p14="http://schemas.microsoft.com/office/powerpoint/2010/main" val="1899674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390C-1E4F-A278-F70E-111E1DBEBBC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9951C4-8A06-42AD-89B8-2080A70B82E1}"/>
              </a:ext>
            </a:extLst>
          </p:cNvPr>
          <p:cNvSpPr>
            <a:spLocks noGrp="1"/>
          </p:cNvSpPr>
          <p:nvPr>
            <p:ph type="sldNum" sz="quarter" idx="12"/>
          </p:nvPr>
        </p:nvSpPr>
        <p:spPr/>
        <p:txBody>
          <a:bodyPr/>
          <a:lstStyle/>
          <a:p>
            <a:fld id="{6F215E70-FDA5-6C45-8C7C-E922E56675B4}" type="slidenum">
              <a:rPr lang="en-US"/>
              <a:t>4</a:t>
            </a:fld>
            <a:endParaRPr lang="en-US"/>
          </a:p>
        </p:txBody>
      </p:sp>
      <p:sp>
        <p:nvSpPr>
          <p:cNvPr id="7" name="TextBox 6">
            <a:extLst>
              <a:ext uri="{FF2B5EF4-FFF2-40B4-BE49-F238E27FC236}">
                <a16:creationId xmlns:a16="http://schemas.microsoft.com/office/drawing/2014/main" id="{31128D00-A843-C04B-6B0B-7ED14CFBF894}"/>
              </a:ext>
            </a:extLst>
          </p:cNvPr>
          <p:cNvSpPr txBox="1"/>
          <p:nvPr/>
        </p:nvSpPr>
        <p:spPr>
          <a:xfrm>
            <a:off x="4851699" y="5264717"/>
            <a:ext cx="4118130" cy="369332"/>
          </a:xfrm>
          <a:prstGeom prst="rect">
            <a:avLst/>
          </a:prstGeom>
          <a:solidFill>
            <a:schemeClr val="bg1"/>
          </a:solidFill>
        </p:spPr>
        <p:txBody>
          <a:bodyPr wrap="square" rtlCol="0">
            <a:spAutoFit/>
          </a:bodyPr>
          <a:lstStyle/>
          <a:p>
            <a:r>
              <a:rPr lang="en-US" b="1">
                <a:latin typeface="Courier New" panose="02070309020205020404" pitchFamily="49" charset="0"/>
                <a:cs typeface="Courier New" panose="02070309020205020404" pitchFamily="49" charset="0"/>
              </a:rPr>
              <a:t>&gt;&gt; PlotSlices(my_activation)</a:t>
            </a:r>
          </a:p>
        </p:txBody>
      </p:sp>
      <p:pic>
        <p:nvPicPr>
          <p:cNvPr id="8" name="Picture 7">
            <a:extLst>
              <a:ext uri="{FF2B5EF4-FFF2-40B4-BE49-F238E27FC236}">
                <a16:creationId xmlns:a16="http://schemas.microsoft.com/office/drawing/2014/main" id="{D75D378F-C285-1381-0D25-6710DC727D1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2174554" y="2154867"/>
            <a:ext cx="7673920" cy="3126214"/>
          </a:xfrm>
          <a:prstGeom prst="rect">
            <a:avLst/>
          </a:prstGeom>
        </p:spPr>
      </p:pic>
      <p:sp>
        <p:nvSpPr>
          <p:cNvPr id="9" name="TextBox 8">
            <a:extLst>
              <a:ext uri="{FF2B5EF4-FFF2-40B4-BE49-F238E27FC236}">
                <a16:creationId xmlns:a16="http://schemas.microsoft.com/office/drawing/2014/main" id="{F26CF650-0BD1-9F34-174F-4A5811A0994C}"/>
              </a:ext>
            </a:extLst>
          </p:cNvPr>
          <p:cNvSpPr txBox="1"/>
          <p:nvPr/>
        </p:nvSpPr>
        <p:spPr>
          <a:xfrm>
            <a:off x="2282129" y="535593"/>
            <a:ext cx="7872523" cy="1077218"/>
          </a:xfrm>
          <a:prstGeom prst="rect">
            <a:avLst/>
          </a:prstGeom>
          <a:noFill/>
        </p:spPr>
        <p:txBody>
          <a:bodyPr wrap="square" rtlCol="0">
            <a:spAutoFit/>
          </a:bodyPr>
          <a:lstStyle/>
          <a:p>
            <a:pPr algn="ctr"/>
            <a:r>
              <a:rPr lang="en-US" sz="3200">
                <a:solidFill>
                  <a:schemeClr val="bg1"/>
                </a:solidFill>
                <a:latin typeface="Trebuchet MS" panose="020B0703020202090204" pitchFamily="34" charset="0"/>
              </a:rPr>
              <a:t>NeuroDOT provides tools for visualizing activation maps.</a:t>
            </a:r>
          </a:p>
        </p:txBody>
      </p:sp>
    </p:spTree>
    <p:extLst>
      <p:ext uri="{BB962C8B-B14F-4D97-AF65-F5344CB8AC3E}">
        <p14:creationId xmlns:p14="http://schemas.microsoft.com/office/powerpoint/2010/main" val="1237889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BFC76-8C7C-5C64-C8C8-BCCFB1C2CC7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3EC5C6F-128C-610D-34C5-923A7DF7660B}"/>
              </a:ext>
            </a:extLst>
          </p:cNvPr>
          <p:cNvSpPr txBox="1"/>
          <p:nvPr/>
        </p:nvSpPr>
        <p:spPr>
          <a:xfrm>
            <a:off x="1859941" y="530451"/>
            <a:ext cx="8122259" cy="1077218"/>
          </a:xfrm>
          <a:prstGeom prst="rect">
            <a:avLst/>
          </a:prstGeom>
          <a:noFill/>
        </p:spPr>
        <p:txBody>
          <a:bodyPr wrap="square" rtlCol="0">
            <a:spAutoFit/>
          </a:bodyPr>
          <a:lstStyle/>
          <a:p>
            <a:pPr algn="ctr"/>
            <a:r>
              <a:rPr lang="en-US" sz="3200">
                <a:solidFill>
                  <a:schemeClr val="bg1"/>
                </a:solidFill>
                <a:latin typeface="Trebuchet MS" panose="020B0703020202090204" pitchFamily="34" charset="0"/>
              </a:rPr>
              <a:t>We would like to overlay these results on an anatomical template, like so:</a:t>
            </a:r>
          </a:p>
        </p:txBody>
      </p:sp>
      <p:pic>
        <p:nvPicPr>
          <p:cNvPr id="5" name="Picture 4">
            <a:extLst>
              <a:ext uri="{FF2B5EF4-FFF2-40B4-BE49-F238E27FC236}">
                <a16:creationId xmlns:a16="http://schemas.microsoft.com/office/drawing/2014/main" id="{6E99DAB2-1683-CA0C-3896-674668A57E25}"/>
              </a:ext>
            </a:extLst>
          </p:cNvPr>
          <p:cNvPicPr>
            <a:picLocks noChangeAspect="1"/>
          </p:cNvPicPr>
          <p:nvPr/>
        </p:nvPicPr>
        <p:blipFill>
          <a:blip r:embed="rId2"/>
          <a:stretch>
            <a:fillRect/>
          </a:stretch>
        </p:blipFill>
        <p:spPr>
          <a:xfrm>
            <a:off x="1964724" y="2105253"/>
            <a:ext cx="8262552" cy="3225443"/>
          </a:xfrm>
          <a:prstGeom prst="rect">
            <a:avLst/>
          </a:prstGeom>
        </p:spPr>
      </p:pic>
      <p:sp>
        <p:nvSpPr>
          <p:cNvPr id="2" name="Slide Number Placeholder 1">
            <a:extLst>
              <a:ext uri="{FF2B5EF4-FFF2-40B4-BE49-F238E27FC236}">
                <a16:creationId xmlns:a16="http://schemas.microsoft.com/office/drawing/2014/main" id="{B7910971-4C8F-6BA8-BD74-74C1A3C65355}"/>
              </a:ext>
            </a:extLst>
          </p:cNvPr>
          <p:cNvSpPr>
            <a:spLocks noGrp="1"/>
          </p:cNvSpPr>
          <p:nvPr>
            <p:ph type="sldNum" sz="quarter" idx="12"/>
          </p:nvPr>
        </p:nvSpPr>
        <p:spPr/>
        <p:txBody>
          <a:bodyPr/>
          <a:lstStyle/>
          <a:p>
            <a:fld id="{6F215E70-FDA5-6C45-8C7C-E922E56675B4}" type="slidenum">
              <a:rPr lang="en-US"/>
              <a:t>5</a:t>
            </a:fld>
            <a:endParaRPr lang="en-US"/>
          </a:p>
        </p:txBody>
      </p:sp>
      <p:sp>
        <p:nvSpPr>
          <p:cNvPr id="4" name="TextBox 3">
            <a:extLst>
              <a:ext uri="{FF2B5EF4-FFF2-40B4-BE49-F238E27FC236}">
                <a16:creationId xmlns:a16="http://schemas.microsoft.com/office/drawing/2014/main" id="{F52D23D3-8B89-4157-7C55-29F9092726D3}"/>
              </a:ext>
            </a:extLst>
          </p:cNvPr>
          <p:cNvSpPr txBox="1"/>
          <p:nvPr/>
        </p:nvSpPr>
        <p:spPr>
          <a:xfrm>
            <a:off x="950496" y="5525353"/>
            <a:ext cx="10551694" cy="646331"/>
          </a:xfrm>
          <a:prstGeom prst="rect">
            <a:avLst/>
          </a:prstGeom>
          <a:noFill/>
        </p:spPr>
        <p:txBody>
          <a:bodyPr wrap="square" rtlCol="0">
            <a:spAutoFit/>
          </a:bodyPr>
          <a:lstStyle/>
          <a:p>
            <a:pPr algn="ctr"/>
            <a:r>
              <a:rPr lang="en-US">
                <a:solidFill>
                  <a:schemeClr val="bg1"/>
                </a:solidFill>
                <a:latin typeface="Trebuchet MS" panose="020B0703020202090204" pitchFamily="34" charset="0"/>
              </a:rPr>
              <a:t>This figure is taken from the Visualizaton tutorial included with NeuroDOT</a:t>
            </a:r>
          </a:p>
          <a:p>
            <a:pPr algn="ctr"/>
            <a:r>
              <a:rPr lang="en-US" i="1">
                <a:solidFill>
                  <a:srgbClr val="FFFF00"/>
                </a:solidFill>
                <a:latin typeface="Trebuchet MS" panose="020B0703020202090204" pitchFamily="34" charset="0"/>
              </a:rPr>
              <a:t>c</a:t>
            </a:r>
            <a:r>
              <a:rPr lang="en-US" i="1">
                <a:solidFill>
                  <a:srgbClr val="FFC000"/>
                </a:solidFill>
                <a:latin typeface="Trebuchet MS" panose="020B0703020202090204" pitchFamily="34" charset="0"/>
              </a:rPr>
              <a:t>ol</a:t>
            </a:r>
            <a:r>
              <a:rPr lang="en-US" i="1">
                <a:solidFill>
                  <a:srgbClr val="FF0000"/>
                </a:solidFill>
                <a:latin typeface="Trebuchet MS" panose="020B0703020202090204" pitchFamily="34" charset="0"/>
              </a:rPr>
              <a:t>o</a:t>
            </a:r>
            <a:r>
              <a:rPr lang="en-US" i="1">
                <a:solidFill>
                  <a:srgbClr val="00B0F0"/>
                </a:solidFill>
                <a:latin typeface="Trebuchet MS" panose="020B0703020202090204" pitchFamily="34" charset="0"/>
              </a:rPr>
              <a:t>r </a:t>
            </a:r>
            <a:r>
              <a:rPr lang="en-US" i="1">
                <a:solidFill>
                  <a:schemeClr val="bg1"/>
                </a:solidFill>
                <a:latin typeface="Trebuchet MS" panose="020B0703020202090204" pitchFamily="34" charset="0"/>
              </a:rPr>
              <a:t>= activation; </a:t>
            </a:r>
            <a:r>
              <a:rPr lang="en-US" i="1">
                <a:solidFill>
                  <a:schemeClr val="bg2">
                    <a:lumMod val="90000"/>
                  </a:schemeClr>
                </a:solidFill>
                <a:latin typeface="Trebuchet MS" panose="020B0703020202090204" pitchFamily="34" charset="0"/>
              </a:rPr>
              <a:t>greyscale image </a:t>
            </a:r>
            <a:r>
              <a:rPr lang="en-US" i="1">
                <a:solidFill>
                  <a:schemeClr val="bg1"/>
                </a:solidFill>
                <a:latin typeface="Trebuchet MS" panose="020B0703020202090204" pitchFamily="34" charset="0"/>
              </a:rPr>
              <a:t>= anatomical template</a:t>
            </a:r>
          </a:p>
        </p:txBody>
      </p:sp>
    </p:spTree>
    <p:extLst>
      <p:ext uri="{BB962C8B-B14F-4D97-AF65-F5344CB8AC3E}">
        <p14:creationId xmlns:p14="http://schemas.microsoft.com/office/powerpoint/2010/main" val="35001181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CEEC6A-E4DD-3666-D730-FCA23C088674}"/>
              </a:ext>
            </a:extLst>
          </p:cNvPr>
          <p:cNvSpPr>
            <a:spLocks noGrp="1"/>
          </p:cNvSpPr>
          <p:nvPr>
            <p:ph type="sldNum" sz="quarter" idx="12"/>
          </p:nvPr>
        </p:nvSpPr>
        <p:spPr/>
        <p:txBody>
          <a:bodyPr/>
          <a:lstStyle/>
          <a:p>
            <a:fld id="{6F215E70-FDA5-6C45-8C7C-E922E56675B4}" type="slidenum">
              <a:rPr lang="en-US"/>
              <a:t>6</a:t>
            </a:fld>
            <a:endParaRPr lang="en-US"/>
          </a:p>
        </p:txBody>
      </p:sp>
      <p:sp>
        <p:nvSpPr>
          <p:cNvPr id="4" name="TextBox 3">
            <a:extLst>
              <a:ext uri="{FF2B5EF4-FFF2-40B4-BE49-F238E27FC236}">
                <a16:creationId xmlns:a16="http://schemas.microsoft.com/office/drawing/2014/main" id="{5FF23ABA-4944-CEC2-4DFA-A3ABF314B188}"/>
              </a:ext>
            </a:extLst>
          </p:cNvPr>
          <p:cNvSpPr txBox="1"/>
          <p:nvPr/>
        </p:nvSpPr>
        <p:spPr>
          <a:xfrm>
            <a:off x="2731605" y="3082351"/>
            <a:ext cx="8587408" cy="369332"/>
          </a:xfrm>
          <a:prstGeom prst="rect">
            <a:avLst/>
          </a:prstGeom>
          <a:noFill/>
          <a:ln>
            <a:noFill/>
          </a:ln>
        </p:spPr>
        <p:txBody>
          <a:bodyPr wrap="square" rtlCol="0">
            <a:spAutoFit/>
          </a:bodyPr>
          <a:lstStyle/>
          <a:p>
            <a:r>
              <a:rPr lang="en-US" b="1">
                <a:solidFill>
                  <a:schemeClr val="bg1"/>
                </a:solidFill>
                <a:effectLst/>
                <a:latin typeface="Courier New" panose="02070309020205020404" pitchFamily="49" charset="0"/>
                <a:cs typeface="Courier New" panose="02070309020205020404" pitchFamily="49" charset="0"/>
              </a:rPr>
              <a:t>/NeuroDOT/Functions/Visualizations/PlotSlices.m</a:t>
            </a:r>
          </a:p>
        </p:txBody>
      </p:sp>
      <p:sp>
        <p:nvSpPr>
          <p:cNvPr id="5" name="TextBox 4">
            <a:extLst>
              <a:ext uri="{FF2B5EF4-FFF2-40B4-BE49-F238E27FC236}">
                <a16:creationId xmlns:a16="http://schemas.microsoft.com/office/drawing/2014/main" id="{DAC2BA91-482E-3DFE-A5C6-FE459F918E9E}"/>
              </a:ext>
            </a:extLst>
          </p:cNvPr>
          <p:cNvSpPr txBox="1"/>
          <p:nvPr/>
        </p:nvSpPr>
        <p:spPr>
          <a:xfrm>
            <a:off x="2766392" y="1430344"/>
            <a:ext cx="7095581" cy="1077218"/>
          </a:xfrm>
          <a:prstGeom prst="rect">
            <a:avLst/>
          </a:prstGeom>
          <a:noFill/>
        </p:spPr>
        <p:txBody>
          <a:bodyPr wrap="square" rtlCol="0">
            <a:spAutoFit/>
          </a:bodyPr>
          <a:lstStyle/>
          <a:p>
            <a:pPr algn="ctr"/>
            <a:r>
              <a:rPr lang="en-US" sz="3200">
                <a:solidFill>
                  <a:schemeClr val="bg1"/>
                </a:solidFill>
                <a:latin typeface="Trebuchet MS" panose="020B0703020202090204" pitchFamily="34" charset="0"/>
              </a:rPr>
              <a:t>This requires passing our data </a:t>
            </a:r>
            <a:r>
              <a:rPr lang="en-US" sz="3200" u="sng">
                <a:solidFill>
                  <a:schemeClr val="bg1"/>
                </a:solidFill>
                <a:latin typeface="Trebuchet MS" panose="020B0703020202090204" pitchFamily="34" charset="0"/>
              </a:rPr>
              <a:t>and</a:t>
            </a:r>
            <a:r>
              <a:rPr lang="en-US" sz="3200">
                <a:solidFill>
                  <a:schemeClr val="bg1"/>
                </a:solidFill>
                <a:latin typeface="Trebuchet MS" panose="020B0703020202090204" pitchFamily="34" charset="0"/>
              </a:rPr>
              <a:t> a template to Plotslices:</a:t>
            </a:r>
          </a:p>
        </p:txBody>
      </p:sp>
      <p:sp>
        <p:nvSpPr>
          <p:cNvPr id="6" name="TextBox 5">
            <a:extLst>
              <a:ext uri="{FF2B5EF4-FFF2-40B4-BE49-F238E27FC236}">
                <a16:creationId xmlns:a16="http://schemas.microsoft.com/office/drawing/2014/main" id="{6E05CF68-6609-D937-8395-B2C326BF3284}"/>
              </a:ext>
            </a:extLst>
          </p:cNvPr>
          <p:cNvSpPr txBox="1"/>
          <p:nvPr/>
        </p:nvSpPr>
        <p:spPr>
          <a:xfrm>
            <a:off x="2766393" y="3497849"/>
            <a:ext cx="7542048" cy="461665"/>
          </a:xfrm>
          <a:prstGeom prst="rect">
            <a:avLst/>
          </a:prstGeom>
          <a:noFill/>
          <a:ln>
            <a:solidFill>
              <a:schemeClr val="bg1"/>
            </a:solidFill>
          </a:ln>
        </p:spPr>
        <p:txBody>
          <a:bodyPr wrap="square" rtlCol="0">
            <a:spAutoFit/>
          </a:bodyPr>
          <a:lstStyle/>
          <a:p>
            <a:r>
              <a:rPr lang="en-US" sz="2400" b="1">
                <a:solidFill>
                  <a:schemeClr val="bg1"/>
                </a:solidFill>
                <a:effectLst/>
                <a:latin typeface="Courier New" panose="02070309020205020404" pitchFamily="49" charset="0"/>
                <a:cs typeface="Courier New" panose="02070309020205020404" pitchFamily="49" charset="0"/>
              </a:rPr>
              <a:t>PlotSlices(template,[],[],my_activation)</a:t>
            </a:r>
            <a:endParaRPr lang="en-US" b="1">
              <a:solidFill>
                <a:schemeClr val="bg1"/>
              </a:solidFill>
              <a:effectLst/>
              <a:latin typeface="Courier New" panose="02070309020205020404" pitchFamily="49" charset="0"/>
              <a:cs typeface="Courier New" panose="02070309020205020404" pitchFamily="49" charset="0"/>
            </a:endParaRPr>
          </a:p>
        </p:txBody>
      </p:sp>
      <p:sp>
        <p:nvSpPr>
          <p:cNvPr id="7" name="TextBox 6">
            <a:extLst>
              <a:ext uri="{FF2B5EF4-FFF2-40B4-BE49-F238E27FC236}">
                <a16:creationId xmlns:a16="http://schemas.microsoft.com/office/drawing/2014/main" id="{2D51A0C2-F816-8133-251F-DFAB83C89238}"/>
              </a:ext>
            </a:extLst>
          </p:cNvPr>
          <p:cNvSpPr txBox="1"/>
          <p:nvPr/>
        </p:nvSpPr>
        <p:spPr>
          <a:xfrm>
            <a:off x="2766392" y="4026453"/>
            <a:ext cx="8587408" cy="369332"/>
          </a:xfrm>
          <a:prstGeom prst="rect">
            <a:avLst/>
          </a:prstGeom>
          <a:noFill/>
          <a:ln>
            <a:noFill/>
          </a:ln>
        </p:spPr>
        <p:txBody>
          <a:bodyPr wrap="square" rtlCol="0">
            <a:spAutoFit/>
          </a:bodyPr>
          <a:lstStyle/>
          <a:p>
            <a:r>
              <a:rPr lang="en-US" b="1">
                <a:solidFill>
                  <a:schemeClr val="bg1"/>
                </a:solidFill>
                <a:effectLst/>
                <a:latin typeface="Courier New" panose="02070309020205020404" pitchFamily="49" charset="0"/>
                <a:cs typeface="Courier New" panose="02070309020205020404" pitchFamily="49" charset="0"/>
              </a:rPr>
              <a:t>(optional parameters are omitted here for clarity)</a:t>
            </a:r>
          </a:p>
        </p:txBody>
      </p:sp>
    </p:spTree>
    <p:extLst>
      <p:ext uri="{BB962C8B-B14F-4D97-AF65-F5344CB8AC3E}">
        <p14:creationId xmlns:p14="http://schemas.microsoft.com/office/powerpoint/2010/main" val="3114121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1E111-8B18-6518-1EF1-DA3F0D62522F}"/>
            </a:ext>
          </a:extLst>
        </p:cNvPr>
        <p:cNvGrpSpPr/>
        <p:nvPr/>
      </p:nvGrpSpPr>
      <p:grpSpPr>
        <a:xfrm>
          <a:off x="0" y="0"/>
          <a:ext cx="0" cy="0"/>
          <a:chOff x="0" y="0"/>
          <a:chExt cx="0" cy="0"/>
        </a:xfrm>
      </p:grpSpPr>
      <p:pic>
        <p:nvPicPr>
          <p:cNvPr id="4" name="Picture 4" descr="BIC - The McConnell Brain Imaging Centre: ICBM 152 N Lin 2009">
            <a:extLst>
              <a:ext uri="{FF2B5EF4-FFF2-40B4-BE49-F238E27FC236}">
                <a16:creationId xmlns:a16="http://schemas.microsoft.com/office/drawing/2014/main" id="{0894C050-7DE8-594E-389D-0A2AAF4023B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l="-6"/>
          <a:stretch/>
        </p:blipFill>
        <p:spPr bwMode="auto">
          <a:xfrm>
            <a:off x="7407659" y="1457825"/>
            <a:ext cx="2715694" cy="2710907"/>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0F6C5334-48C6-3D00-191B-BDA6C04F4A15}"/>
              </a:ext>
            </a:extLst>
          </p:cNvPr>
          <p:cNvSpPr>
            <a:spLocks noGrp="1"/>
          </p:cNvSpPr>
          <p:nvPr>
            <p:ph type="sldNum" sz="quarter" idx="12"/>
          </p:nvPr>
        </p:nvSpPr>
        <p:spPr/>
        <p:txBody>
          <a:bodyPr/>
          <a:lstStyle/>
          <a:p>
            <a:fld id="{6F215E70-FDA5-6C45-8C7C-E922E56675B4}" type="slidenum">
              <a:rPr lang="en-US"/>
              <a:t>7</a:t>
            </a:fld>
            <a:endParaRPr lang="en-US"/>
          </a:p>
        </p:txBody>
      </p:sp>
      <p:pic>
        <p:nvPicPr>
          <p:cNvPr id="3" name="Picture 2">
            <a:extLst>
              <a:ext uri="{FF2B5EF4-FFF2-40B4-BE49-F238E27FC236}">
                <a16:creationId xmlns:a16="http://schemas.microsoft.com/office/drawing/2014/main" id="{608CDD30-94A6-4B26-0C2B-7370DB4A0415}"/>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8037854" y="3590367"/>
            <a:ext cx="1433383" cy="521294"/>
          </a:xfrm>
          <a:prstGeom prst="rect">
            <a:avLst/>
          </a:prstGeom>
          <a:ln w="25400">
            <a:solidFill>
              <a:srgbClr val="FFFF00"/>
            </a:solidFill>
          </a:ln>
        </p:spPr>
      </p:pic>
      <p:sp>
        <p:nvSpPr>
          <p:cNvPr id="11" name="TextBox 10">
            <a:extLst>
              <a:ext uri="{FF2B5EF4-FFF2-40B4-BE49-F238E27FC236}">
                <a16:creationId xmlns:a16="http://schemas.microsoft.com/office/drawing/2014/main" id="{6BCA9103-022E-BD2D-3E7A-85EE381ABC60}"/>
              </a:ext>
            </a:extLst>
          </p:cNvPr>
          <p:cNvSpPr txBox="1"/>
          <p:nvPr/>
        </p:nvSpPr>
        <p:spPr>
          <a:xfrm>
            <a:off x="1171006" y="5393575"/>
            <a:ext cx="10034141" cy="400110"/>
          </a:xfrm>
          <a:prstGeom prst="rect">
            <a:avLst/>
          </a:prstGeom>
          <a:noFill/>
          <a:ln>
            <a:solidFill>
              <a:schemeClr val="bg1"/>
            </a:solidFill>
          </a:ln>
        </p:spPr>
        <p:txBody>
          <a:bodyPr wrap="square" rtlCol="0">
            <a:spAutoFit/>
          </a:bodyPr>
          <a:lstStyle/>
          <a:p>
            <a:r>
              <a:rPr lang="en-US">
                <a:solidFill>
                  <a:schemeClr val="bg1"/>
                </a:solidFill>
                <a:latin typeface="Trebuchet MS" panose="020B0703020202090204" pitchFamily="34" charset="0"/>
              </a:rPr>
              <a:t>Such transformations are performed in NeuroDOT using the function </a:t>
            </a:r>
            <a:r>
              <a:rPr lang="en-US" sz="2000" b="1">
                <a:solidFill>
                  <a:schemeClr val="bg1"/>
                </a:solidFill>
                <a:latin typeface="Courier New" panose="02070309020205020404" pitchFamily="49" charset="0"/>
                <a:cs typeface="Courier New" panose="02070309020205020404" pitchFamily="49" charset="0"/>
              </a:rPr>
              <a:t>affine3d_img</a:t>
            </a:r>
            <a:endParaRPr lang="en-US" sz="2000">
              <a:solidFill>
                <a:schemeClr val="bg1"/>
              </a:solidFill>
              <a:latin typeface="Avenir Next Condensed" panose="020B0506020202020204" pitchFamily="34" charset="0"/>
            </a:endParaRPr>
          </a:p>
        </p:txBody>
      </p:sp>
      <p:sp>
        <p:nvSpPr>
          <p:cNvPr id="8" name="TextBox 7">
            <a:extLst>
              <a:ext uri="{FF2B5EF4-FFF2-40B4-BE49-F238E27FC236}">
                <a16:creationId xmlns:a16="http://schemas.microsoft.com/office/drawing/2014/main" id="{1122FB5F-A10E-C8B0-B81E-F78111001764}"/>
              </a:ext>
            </a:extLst>
          </p:cNvPr>
          <p:cNvSpPr txBox="1"/>
          <p:nvPr/>
        </p:nvSpPr>
        <p:spPr>
          <a:xfrm>
            <a:off x="9021747" y="1150829"/>
            <a:ext cx="2567606" cy="923330"/>
          </a:xfrm>
          <a:prstGeom prst="rect">
            <a:avLst/>
          </a:prstGeom>
          <a:noFill/>
          <a:ln>
            <a:noFill/>
          </a:ln>
        </p:spPr>
        <p:txBody>
          <a:bodyPr wrap="square" rtlCol="0">
            <a:spAutoFit/>
          </a:bodyPr>
          <a:lstStyle/>
          <a:p>
            <a:pPr algn="r"/>
            <a:r>
              <a:rPr lang="en-US">
                <a:solidFill>
                  <a:srgbClr val="FFFF00"/>
                </a:solidFill>
                <a:latin typeface="Trebuchet MS" panose="020B0703020202090204" pitchFamily="34" charset="0"/>
              </a:rPr>
              <a:t>anatomical template</a:t>
            </a:r>
          </a:p>
          <a:p>
            <a:pPr algn="r"/>
            <a:r>
              <a:rPr lang="en-US">
                <a:solidFill>
                  <a:srgbClr val="FFFF00"/>
                </a:solidFill>
                <a:latin typeface="Trebuchet MS" panose="020B0703020202090204" pitchFamily="34" charset="0"/>
              </a:rPr>
              <a:t>(one of many included with NeuroDOT)</a:t>
            </a:r>
          </a:p>
        </p:txBody>
      </p:sp>
      <p:sp>
        <p:nvSpPr>
          <p:cNvPr id="12" name="TextBox 11">
            <a:extLst>
              <a:ext uri="{FF2B5EF4-FFF2-40B4-BE49-F238E27FC236}">
                <a16:creationId xmlns:a16="http://schemas.microsoft.com/office/drawing/2014/main" id="{AEB0D573-CA7E-7D5A-C32D-C33061FDBF1A}"/>
              </a:ext>
            </a:extLst>
          </p:cNvPr>
          <p:cNvSpPr txBox="1"/>
          <p:nvPr/>
        </p:nvSpPr>
        <p:spPr>
          <a:xfrm>
            <a:off x="6908695" y="4309265"/>
            <a:ext cx="3489874" cy="369332"/>
          </a:xfrm>
          <a:prstGeom prst="rect">
            <a:avLst/>
          </a:prstGeom>
          <a:noFill/>
        </p:spPr>
        <p:txBody>
          <a:bodyPr wrap="square" rtlCol="0">
            <a:spAutoFit/>
          </a:bodyPr>
          <a:lstStyle/>
          <a:p>
            <a:pPr algn="r"/>
            <a:r>
              <a:rPr lang="en-US">
                <a:solidFill>
                  <a:srgbClr val="FFFF00"/>
                </a:solidFill>
                <a:latin typeface="Trebuchet MS" panose="020B0703020202090204" pitchFamily="34" charset="0"/>
              </a:rPr>
              <a:t>our data (and its bounding box)</a:t>
            </a:r>
          </a:p>
        </p:txBody>
      </p:sp>
      <p:sp>
        <p:nvSpPr>
          <p:cNvPr id="5" name="TextBox 4">
            <a:extLst>
              <a:ext uri="{FF2B5EF4-FFF2-40B4-BE49-F238E27FC236}">
                <a16:creationId xmlns:a16="http://schemas.microsoft.com/office/drawing/2014/main" id="{4204D96F-4782-3BA6-333B-705DF79637D0}"/>
              </a:ext>
            </a:extLst>
          </p:cNvPr>
          <p:cNvSpPr txBox="1"/>
          <p:nvPr/>
        </p:nvSpPr>
        <p:spPr>
          <a:xfrm>
            <a:off x="1171006" y="956398"/>
            <a:ext cx="5584537" cy="3785652"/>
          </a:xfrm>
          <a:prstGeom prst="rect">
            <a:avLst/>
          </a:prstGeom>
          <a:noFill/>
        </p:spPr>
        <p:txBody>
          <a:bodyPr wrap="square" rtlCol="0">
            <a:spAutoFit/>
          </a:bodyPr>
          <a:lstStyle/>
          <a:p>
            <a:r>
              <a:rPr lang="en-US" sz="2000">
                <a:solidFill>
                  <a:schemeClr val="bg1"/>
                </a:solidFill>
                <a:latin typeface="Trebuchet MS" panose="020B0703020202090204" pitchFamily="34" charset="0"/>
              </a:rPr>
              <a:t>However, in this example, we need to extract the region of the template that is inside the bounding box of the data, and change the voxel size of the template to match the voxel size of the overlay.</a:t>
            </a:r>
          </a:p>
          <a:p>
            <a:endParaRPr lang="en-US" sz="2000">
              <a:solidFill>
                <a:schemeClr val="bg1"/>
              </a:solidFill>
              <a:latin typeface="Trebuchet MS" panose="020B0703020202090204" pitchFamily="34" charset="0"/>
            </a:endParaRPr>
          </a:p>
          <a:p>
            <a:r>
              <a:rPr lang="en-US" sz="2000">
                <a:solidFill>
                  <a:schemeClr val="bg1"/>
                </a:solidFill>
                <a:latin typeface="Trebuchet MS" panose="020B0703020202090204" pitchFamily="34" charset="0"/>
              </a:rPr>
              <a:t>Sometimes we may also need to scale, translate, and/or rotate the template to match the orientation of the overlay.</a:t>
            </a:r>
          </a:p>
          <a:p>
            <a:endParaRPr lang="en-US" sz="2000">
              <a:solidFill>
                <a:schemeClr val="bg1"/>
              </a:solidFill>
              <a:latin typeface="Trebuchet MS" panose="020B0703020202090204" pitchFamily="34" charset="0"/>
            </a:endParaRPr>
          </a:p>
          <a:p>
            <a:r>
              <a:rPr lang="en-US" sz="2000">
                <a:solidFill>
                  <a:schemeClr val="bg1"/>
                </a:solidFill>
                <a:latin typeface="Trebuchet MS" panose="020B0703020202090204" pitchFamily="34" charset="0"/>
              </a:rPr>
              <a:t>That is, we “affine transform the template into the space of the target image.”</a:t>
            </a:r>
          </a:p>
        </p:txBody>
      </p:sp>
      <p:sp>
        <p:nvSpPr>
          <p:cNvPr id="6" name="Up Arrow 5">
            <a:extLst>
              <a:ext uri="{FF2B5EF4-FFF2-40B4-BE49-F238E27FC236}">
                <a16:creationId xmlns:a16="http://schemas.microsoft.com/office/drawing/2014/main" id="{D571ACB8-6158-A49D-D4F8-5EE020B44B96}"/>
              </a:ext>
            </a:extLst>
          </p:cNvPr>
          <p:cNvSpPr/>
          <p:nvPr/>
        </p:nvSpPr>
        <p:spPr>
          <a:xfrm rot="12600000">
            <a:off x="8998374" y="1043015"/>
            <a:ext cx="235103" cy="389001"/>
          </a:xfrm>
          <a:prstGeom prst="upArrow">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2937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01E65-29FB-B4E4-D019-6CE09449AFD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0F1CD47-ADFA-EBE8-CFB0-8811C33491F2}"/>
              </a:ext>
            </a:extLst>
          </p:cNvPr>
          <p:cNvSpPr>
            <a:spLocks noGrp="1"/>
          </p:cNvSpPr>
          <p:nvPr>
            <p:ph type="sldNum" sz="quarter" idx="12"/>
          </p:nvPr>
        </p:nvSpPr>
        <p:spPr/>
        <p:txBody>
          <a:bodyPr/>
          <a:lstStyle/>
          <a:p>
            <a:fld id="{6F215E70-FDA5-6C45-8C7C-E922E56675B4}" type="slidenum">
              <a:rPr lang="en-US"/>
              <a:t>8</a:t>
            </a:fld>
            <a:endParaRPr lang="en-US"/>
          </a:p>
        </p:txBody>
      </p:sp>
      <p:sp>
        <p:nvSpPr>
          <p:cNvPr id="10" name="TextBox 9">
            <a:extLst>
              <a:ext uri="{FF2B5EF4-FFF2-40B4-BE49-F238E27FC236}">
                <a16:creationId xmlns:a16="http://schemas.microsoft.com/office/drawing/2014/main" id="{FFC99FE9-D368-6225-00C1-04C212542F71}"/>
              </a:ext>
            </a:extLst>
          </p:cNvPr>
          <p:cNvSpPr txBox="1"/>
          <p:nvPr/>
        </p:nvSpPr>
        <p:spPr>
          <a:xfrm>
            <a:off x="1630821" y="2333404"/>
            <a:ext cx="10319266" cy="461665"/>
          </a:xfrm>
          <a:prstGeom prst="rect">
            <a:avLst/>
          </a:prstGeom>
          <a:noFill/>
        </p:spPr>
        <p:txBody>
          <a:bodyPr wrap="square" rtlCol="0">
            <a:spAutoFit/>
          </a:bodyPr>
          <a:lstStyle/>
          <a:p>
            <a:r>
              <a:rPr lang="en-US" sz="2400">
                <a:solidFill>
                  <a:schemeClr val="bg1"/>
                </a:solidFill>
                <a:latin typeface="Trebuchet MS" panose="020B0703020202090204" pitchFamily="34" charset="0"/>
              </a:rPr>
              <a:t>In words: Match </a:t>
            </a:r>
            <a:r>
              <a:rPr lang="en-US" sz="2400">
                <a:solidFill>
                  <a:srgbClr val="FF0000"/>
                </a:solidFill>
                <a:latin typeface="Trebuchet MS" panose="020B0703020202090204" pitchFamily="34" charset="0"/>
              </a:rPr>
              <a:t>image</a:t>
            </a:r>
            <a:r>
              <a:rPr lang="en-US" sz="2400">
                <a:solidFill>
                  <a:schemeClr val="bg1"/>
                </a:solidFill>
                <a:latin typeface="Trebuchet MS" panose="020B0703020202090204" pitchFamily="34" charset="0"/>
              </a:rPr>
              <a:t> to </a:t>
            </a:r>
            <a:r>
              <a:rPr lang="en-US" sz="2400">
                <a:solidFill>
                  <a:srgbClr val="FFFF00"/>
                </a:solidFill>
                <a:latin typeface="Trebuchet MS" panose="020B0703020202090204" pitchFamily="34" charset="0"/>
              </a:rPr>
              <a:t>target</a:t>
            </a:r>
            <a:r>
              <a:rPr lang="en-US" sz="2400">
                <a:solidFill>
                  <a:schemeClr val="bg1"/>
                </a:solidFill>
                <a:latin typeface="Trebuchet MS" panose="020B0703020202090204" pitchFamily="34" charset="0"/>
              </a:rPr>
              <a:t> and return as  </a:t>
            </a:r>
            <a:r>
              <a:rPr lang="en-US" sz="2400">
                <a:solidFill>
                  <a:srgbClr val="00B050"/>
                </a:solidFill>
                <a:latin typeface="Trebuchet MS" panose="020B0703020202090204" pitchFamily="34" charset="0"/>
              </a:rPr>
              <a:t>transformed_image</a:t>
            </a:r>
          </a:p>
        </p:txBody>
      </p:sp>
      <p:sp>
        <p:nvSpPr>
          <p:cNvPr id="15" name="TextBox 14">
            <a:extLst>
              <a:ext uri="{FF2B5EF4-FFF2-40B4-BE49-F238E27FC236}">
                <a16:creationId xmlns:a16="http://schemas.microsoft.com/office/drawing/2014/main" id="{89EF0E59-B7EB-0BD3-D026-8EC74E18C4B4}"/>
              </a:ext>
            </a:extLst>
          </p:cNvPr>
          <p:cNvSpPr txBox="1"/>
          <p:nvPr/>
        </p:nvSpPr>
        <p:spPr>
          <a:xfrm>
            <a:off x="842223" y="550831"/>
            <a:ext cx="5410120" cy="584775"/>
          </a:xfrm>
          <a:prstGeom prst="rect">
            <a:avLst/>
          </a:prstGeom>
          <a:noFill/>
        </p:spPr>
        <p:txBody>
          <a:bodyPr wrap="square" rtlCol="0">
            <a:spAutoFit/>
          </a:bodyPr>
          <a:lstStyle/>
          <a:p>
            <a:r>
              <a:rPr lang="en-US" sz="3200">
                <a:solidFill>
                  <a:schemeClr val="bg1"/>
                </a:solidFill>
                <a:latin typeface="Trebuchet MS" panose="020B0703020202090204" pitchFamily="34" charset="0"/>
                <a:cs typeface="Courier New" panose="02070309020205020404" pitchFamily="49" charset="0"/>
              </a:rPr>
              <a:t>affine3d_img : </a:t>
            </a:r>
            <a:r>
              <a:rPr lang="en-US" sz="3200" u="sng">
                <a:solidFill>
                  <a:schemeClr val="bg1"/>
                </a:solidFill>
                <a:latin typeface="Trebuchet MS" panose="020B0703020202090204" pitchFamily="34" charset="0"/>
                <a:cs typeface="Courier New" panose="02070309020205020404" pitchFamily="49" charset="0"/>
              </a:rPr>
              <a:t>Basic usage</a:t>
            </a:r>
          </a:p>
        </p:txBody>
      </p:sp>
      <p:sp>
        <p:nvSpPr>
          <p:cNvPr id="18" name="TextBox 17">
            <a:extLst>
              <a:ext uri="{FF2B5EF4-FFF2-40B4-BE49-F238E27FC236}">
                <a16:creationId xmlns:a16="http://schemas.microsoft.com/office/drawing/2014/main" id="{3FD216D1-2CD7-1DD3-2F37-B8C9EEC9C3F3}"/>
              </a:ext>
            </a:extLst>
          </p:cNvPr>
          <p:cNvSpPr txBox="1"/>
          <p:nvPr/>
        </p:nvSpPr>
        <p:spPr>
          <a:xfrm>
            <a:off x="1546600" y="3452325"/>
            <a:ext cx="9411486" cy="2246769"/>
          </a:xfrm>
          <a:prstGeom prst="rect">
            <a:avLst/>
          </a:prstGeom>
          <a:noFill/>
        </p:spPr>
        <p:txBody>
          <a:bodyPr wrap="square" rtlCol="0">
            <a:spAutoFit/>
          </a:bodyPr>
          <a:lstStyle/>
          <a:p>
            <a:pPr algn="just"/>
            <a:r>
              <a:rPr lang="en-US" sz="2000">
                <a:solidFill>
                  <a:schemeClr val="bg1"/>
                </a:solidFill>
                <a:latin typeface="Trebuchet MS" panose="020B0703020202090204" pitchFamily="34" charset="0"/>
              </a:rPr>
              <a:t>The image may be an anatomical atlas and the target functional data to be superimposed on the atlas. Or, the functional data might be the image and the anatomical atlas the target. The goal is to align data that is in one space (image) with data that is in a different space (target) – which data we pass as ”image” and which as “target” depends on the application (examples to come).</a:t>
            </a:r>
          </a:p>
          <a:p>
            <a:pPr algn="just"/>
            <a:endParaRPr lang="en-US" sz="2000">
              <a:solidFill>
                <a:schemeClr val="bg1"/>
              </a:solidFill>
              <a:latin typeface="Trebuchet MS" panose="020B0703020202090204" pitchFamily="34" charset="0"/>
            </a:endParaRPr>
          </a:p>
          <a:p>
            <a:pPr algn="just"/>
            <a:r>
              <a:rPr lang="en-US" sz="2000">
                <a:solidFill>
                  <a:schemeClr val="bg1"/>
                </a:solidFill>
                <a:latin typeface="Trebuchet MS" panose="020B0703020202090204" pitchFamily="34" charset="0"/>
              </a:rPr>
              <a:t>Conceptually, we can think of the operation as proceeding in two steps…</a:t>
            </a:r>
          </a:p>
        </p:txBody>
      </p:sp>
      <p:sp>
        <p:nvSpPr>
          <p:cNvPr id="19" name="TextBox 18">
            <a:extLst>
              <a:ext uri="{FF2B5EF4-FFF2-40B4-BE49-F238E27FC236}">
                <a16:creationId xmlns:a16="http://schemas.microsoft.com/office/drawing/2014/main" id="{3E9DEE56-C9E0-2265-512B-46482C0DCAAB}"/>
              </a:ext>
            </a:extLst>
          </p:cNvPr>
          <p:cNvSpPr txBox="1"/>
          <p:nvPr/>
        </p:nvSpPr>
        <p:spPr>
          <a:xfrm>
            <a:off x="1138922" y="1592807"/>
            <a:ext cx="10226841" cy="400110"/>
          </a:xfrm>
          <a:prstGeom prst="rect">
            <a:avLst/>
          </a:prstGeom>
          <a:noFill/>
          <a:ln>
            <a:solidFill>
              <a:schemeClr val="bg1"/>
            </a:solidFill>
          </a:ln>
        </p:spPr>
        <p:txBody>
          <a:bodyPr wrap="square" rtlCol="0">
            <a:spAutoFit/>
          </a:bodyPr>
          <a:lstStyle/>
          <a:p>
            <a:r>
              <a:rPr lang="en-US" sz="2000" b="1">
                <a:solidFill>
                  <a:srgbClr val="00B050"/>
                </a:solidFill>
                <a:latin typeface="Courier New" panose="02070309020205020404" pitchFamily="49" charset="0"/>
                <a:cs typeface="Courier New" panose="02070309020205020404" pitchFamily="49" charset="0"/>
              </a:rPr>
              <a:t>  transformed_image </a:t>
            </a:r>
            <a:r>
              <a:rPr lang="en-US" sz="2000" b="1">
                <a:solidFill>
                  <a:schemeClr val="bg1"/>
                </a:solidFill>
                <a:latin typeface="Courier New" panose="02070309020205020404" pitchFamily="49" charset="0"/>
                <a:cs typeface="Courier New" panose="02070309020205020404" pitchFamily="49" charset="0"/>
              </a:rPr>
              <a:t>= affine3d_img(</a:t>
            </a:r>
            <a:r>
              <a:rPr lang="en-US" sz="2000" b="1">
                <a:solidFill>
                  <a:srgbClr val="FF0000"/>
                </a:solidFill>
                <a:latin typeface="Courier New" panose="02070309020205020404" pitchFamily="49" charset="0"/>
                <a:cs typeface="Courier New" panose="02070309020205020404" pitchFamily="49" charset="0"/>
              </a:rPr>
              <a:t>image</a:t>
            </a:r>
            <a:r>
              <a:rPr lang="en-US" sz="2000" b="1">
                <a:solidFill>
                  <a:schemeClr val="bg1"/>
                </a:solidFill>
                <a:latin typeface="Courier New" panose="02070309020205020404" pitchFamily="49" charset="0"/>
                <a:cs typeface="Courier New" panose="02070309020205020404" pitchFamily="49" charset="0"/>
              </a:rPr>
              <a:t>,</a:t>
            </a:r>
            <a:r>
              <a:rPr lang="en-US" sz="2000" b="1">
                <a:solidFill>
                  <a:srgbClr val="FF0000"/>
                </a:solidFill>
                <a:latin typeface="Courier New" panose="02070309020205020404" pitchFamily="49" charset="0"/>
                <a:cs typeface="Courier New" panose="02070309020205020404" pitchFamily="49" charset="0"/>
              </a:rPr>
              <a:t>image_info</a:t>
            </a:r>
            <a:r>
              <a:rPr lang="en-US" sz="2000" b="1">
                <a:solidFill>
                  <a:schemeClr val="bg1"/>
                </a:solidFill>
                <a:latin typeface="Courier New" panose="02070309020205020404" pitchFamily="49" charset="0"/>
                <a:cs typeface="Courier New" panose="02070309020205020404" pitchFamily="49" charset="0"/>
              </a:rPr>
              <a:t>,</a:t>
            </a:r>
            <a:r>
              <a:rPr lang="en-US" sz="2000" b="1">
                <a:solidFill>
                  <a:srgbClr val="FFFF00"/>
                </a:solidFill>
                <a:latin typeface="Courier New" panose="02070309020205020404" pitchFamily="49" charset="0"/>
                <a:cs typeface="Courier New" panose="02070309020205020404" pitchFamily="49" charset="0"/>
              </a:rPr>
              <a:t>target_info</a:t>
            </a:r>
            <a:r>
              <a:rPr lang="en-US" sz="2000" b="1">
                <a:solidFill>
                  <a:schemeClr val="bg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015504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57E0D-7F8F-107B-21EB-7756CA5AB027}"/>
            </a:ext>
          </a:extLst>
        </p:cNvPr>
        <p:cNvGrpSpPr/>
        <p:nvPr/>
      </p:nvGrpSpPr>
      <p:grpSpPr>
        <a:xfrm>
          <a:off x="0" y="0"/>
          <a:ext cx="0" cy="0"/>
          <a:chOff x="0" y="0"/>
          <a:chExt cx="0" cy="0"/>
        </a:xfrm>
      </p:grpSpPr>
      <p:pic>
        <p:nvPicPr>
          <p:cNvPr id="9" name="Picture 4" descr="BIC - The McConnell Brain Imaging Centre: ICBM 152 N Lin 2009">
            <a:extLst>
              <a:ext uri="{FF2B5EF4-FFF2-40B4-BE49-F238E27FC236}">
                <a16:creationId xmlns:a16="http://schemas.microsoft.com/office/drawing/2014/main" id="{CA4007D4-B89E-B85A-00A3-1E1DCB19830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l="-6"/>
          <a:stretch/>
        </p:blipFill>
        <p:spPr bwMode="auto">
          <a:xfrm>
            <a:off x="1019958" y="2556350"/>
            <a:ext cx="4464908" cy="3457799"/>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pic>
        <p:nvPicPr>
          <p:cNvPr id="6" name="Picture 4" descr="BIC - The McConnell Brain Imaging Centre: ICBM 152 N Lin 2009">
            <a:extLst>
              <a:ext uri="{FF2B5EF4-FFF2-40B4-BE49-F238E27FC236}">
                <a16:creationId xmlns:a16="http://schemas.microsoft.com/office/drawing/2014/main" id="{C472FBF7-1A2A-3674-326C-663C41135F54}"/>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l="-6"/>
          <a:stretch/>
        </p:blipFill>
        <p:spPr bwMode="auto">
          <a:xfrm>
            <a:off x="5740612" y="2608323"/>
            <a:ext cx="2824833" cy="2210683"/>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pic>
        <p:nvPicPr>
          <p:cNvPr id="4" name="Picture 4" descr="BIC - The McConnell Brain Imaging Centre: ICBM 152 N Lin 2009">
            <a:extLst>
              <a:ext uri="{FF2B5EF4-FFF2-40B4-BE49-F238E27FC236}">
                <a16:creationId xmlns:a16="http://schemas.microsoft.com/office/drawing/2014/main" id="{287FBCE5-9C6A-5213-A426-3DB204ADC490}"/>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l="-6"/>
          <a:stretch/>
        </p:blipFill>
        <p:spPr bwMode="auto">
          <a:xfrm>
            <a:off x="8821191" y="718093"/>
            <a:ext cx="2715694" cy="2710907"/>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386EE788-02BF-E199-F9B3-4E02CD8B61D3}"/>
              </a:ext>
            </a:extLst>
          </p:cNvPr>
          <p:cNvSpPr>
            <a:spLocks noGrp="1"/>
          </p:cNvSpPr>
          <p:nvPr>
            <p:ph type="sldNum" sz="quarter" idx="12"/>
          </p:nvPr>
        </p:nvSpPr>
        <p:spPr/>
        <p:txBody>
          <a:bodyPr/>
          <a:lstStyle/>
          <a:p>
            <a:fld id="{6F215E70-FDA5-6C45-8C7C-E922E56675B4}" type="slidenum">
              <a:rPr lang="en-US"/>
              <a:t>9</a:t>
            </a:fld>
            <a:endParaRPr lang="en-US"/>
          </a:p>
        </p:txBody>
      </p:sp>
      <p:pic>
        <p:nvPicPr>
          <p:cNvPr id="3" name="Picture 2">
            <a:extLst>
              <a:ext uri="{FF2B5EF4-FFF2-40B4-BE49-F238E27FC236}">
                <a16:creationId xmlns:a16="http://schemas.microsoft.com/office/drawing/2014/main" id="{396447D7-9274-D9C6-C1B5-875B4EF2B6DC}"/>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9338778" y="2833488"/>
            <a:ext cx="1680520" cy="642552"/>
          </a:xfrm>
          <a:prstGeom prst="rect">
            <a:avLst/>
          </a:prstGeom>
          <a:ln w="38100">
            <a:solidFill>
              <a:srgbClr val="FFFF00"/>
            </a:solidFill>
          </a:ln>
        </p:spPr>
      </p:pic>
      <p:pic>
        <p:nvPicPr>
          <p:cNvPr id="5" name="Picture 4">
            <a:extLst>
              <a:ext uri="{FF2B5EF4-FFF2-40B4-BE49-F238E27FC236}">
                <a16:creationId xmlns:a16="http://schemas.microsoft.com/office/drawing/2014/main" id="{A765C36E-AE23-1B32-CF26-0C2C992219C5}"/>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13275" y="3317658"/>
            <a:ext cx="1396313" cy="1217139"/>
          </a:xfrm>
          <a:prstGeom prst="rect">
            <a:avLst/>
          </a:prstGeom>
          <a:ln w="38100">
            <a:solidFill>
              <a:srgbClr val="FFFF00"/>
            </a:solidFill>
          </a:ln>
        </p:spPr>
      </p:pic>
      <p:pic>
        <p:nvPicPr>
          <p:cNvPr id="7" name="Picture 6">
            <a:extLst>
              <a:ext uri="{FF2B5EF4-FFF2-40B4-BE49-F238E27FC236}">
                <a16:creationId xmlns:a16="http://schemas.microsoft.com/office/drawing/2014/main" id="{79111F65-6040-4B74-7CE5-02F4D0539142}"/>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957802" y="3520443"/>
            <a:ext cx="1430662" cy="2493706"/>
          </a:xfrm>
          <a:prstGeom prst="rect">
            <a:avLst/>
          </a:prstGeom>
          <a:ln w="38100">
            <a:solidFill>
              <a:srgbClr val="FFFF00"/>
            </a:solidFill>
          </a:ln>
        </p:spPr>
      </p:pic>
      <p:sp>
        <p:nvSpPr>
          <p:cNvPr id="8" name="TextBox 7">
            <a:extLst>
              <a:ext uri="{FF2B5EF4-FFF2-40B4-BE49-F238E27FC236}">
                <a16:creationId xmlns:a16="http://schemas.microsoft.com/office/drawing/2014/main" id="{1147983D-59EE-8C06-C4DA-8614C855EAD7}"/>
              </a:ext>
            </a:extLst>
          </p:cNvPr>
          <p:cNvSpPr txBox="1"/>
          <p:nvPr/>
        </p:nvSpPr>
        <p:spPr>
          <a:xfrm>
            <a:off x="5917022" y="5066676"/>
            <a:ext cx="5255020" cy="923330"/>
          </a:xfrm>
          <a:prstGeom prst="rect">
            <a:avLst/>
          </a:prstGeom>
          <a:noFill/>
          <a:ln>
            <a:noFill/>
          </a:ln>
        </p:spPr>
        <p:txBody>
          <a:bodyPr wrap="square" rtlCol="0">
            <a:spAutoFit/>
          </a:bodyPr>
          <a:lstStyle/>
          <a:p>
            <a:r>
              <a:rPr lang="en-US">
                <a:solidFill>
                  <a:schemeClr val="bg1"/>
                </a:solidFill>
                <a:latin typeface="Trebuchet MS" panose="020B0703020202090204" pitchFamily="34" charset="0"/>
              </a:rPr>
              <a:t>in this example, the </a:t>
            </a:r>
            <a:r>
              <a:rPr lang="en-US">
                <a:solidFill>
                  <a:srgbClr val="FF0000"/>
                </a:solidFill>
                <a:latin typeface="Trebuchet MS" panose="020B0703020202090204" pitchFamily="34" charset="0"/>
              </a:rPr>
              <a:t>anatomical template </a:t>
            </a:r>
            <a:r>
              <a:rPr lang="en-US">
                <a:solidFill>
                  <a:schemeClr val="bg1"/>
                </a:solidFill>
                <a:latin typeface="Trebuchet MS" panose="020B0703020202090204" pitchFamily="34" charset="0"/>
              </a:rPr>
              <a:t>is the </a:t>
            </a:r>
            <a:r>
              <a:rPr lang="en-US">
                <a:solidFill>
                  <a:srgbClr val="FF0000"/>
                </a:solidFill>
                <a:latin typeface="Trebuchet MS" panose="020B0703020202090204" pitchFamily="34" charset="0"/>
              </a:rPr>
              <a:t>IMAGE </a:t>
            </a:r>
            <a:r>
              <a:rPr lang="en-US">
                <a:solidFill>
                  <a:schemeClr val="bg1"/>
                </a:solidFill>
                <a:latin typeface="Trebuchet MS" panose="020B0703020202090204" pitchFamily="34" charset="0"/>
              </a:rPr>
              <a:t>and the </a:t>
            </a:r>
            <a:r>
              <a:rPr lang="en-US">
                <a:solidFill>
                  <a:srgbClr val="FFFF00"/>
                </a:solidFill>
                <a:latin typeface="Trebuchet MS" panose="020B0703020202090204" pitchFamily="34" charset="0"/>
              </a:rPr>
              <a:t>functional data </a:t>
            </a:r>
            <a:r>
              <a:rPr lang="en-US">
                <a:solidFill>
                  <a:schemeClr val="bg1"/>
                </a:solidFill>
                <a:latin typeface="Trebuchet MS" panose="020B0703020202090204" pitchFamily="34" charset="0"/>
              </a:rPr>
              <a:t>is the </a:t>
            </a:r>
            <a:r>
              <a:rPr lang="en-US">
                <a:solidFill>
                  <a:srgbClr val="FFFF00"/>
                </a:solidFill>
                <a:latin typeface="Trebuchet MS" panose="020B0703020202090204" pitchFamily="34" charset="0"/>
              </a:rPr>
              <a:t>TARGET</a:t>
            </a:r>
            <a:r>
              <a:rPr lang="en-US">
                <a:solidFill>
                  <a:schemeClr val="bg1"/>
                </a:solidFill>
                <a:latin typeface="Trebuchet MS" panose="020B0703020202090204" pitchFamily="34" charset="0"/>
              </a:rPr>
              <a:t> (this will not always be the case).</a:t>
            </a:r>
          </a:p>
        </p:txBody>
      </p:sp>
      <p:sp>
        <p:nvSpPr>
          <p:cNvPr id="14" name="TextBox 13">
            <a:extLst>
              <a:ext uri="{FF2B5EF4-FFF2-40B4-BE49-F238E27FC236}">
                <a16:creationId xmlns:a16="http://schemas.microsoft.com/office/drawing/2014/main" id="{9600695E-02B2-888E-6D98-4E6B22671FC6}"/>
              </a:ext>
            </a:extLst>
          </p:cNvPr>
          <p:cNvSpPr txBox="1"/>
          <p:nvPr/>
        </p:nvSpPr>
        <p:spPr>
          <a:xfrm>
            <a:off x="957802" y="554483"/>
            <a:ext cx="7013614" cy="954107"/>
          </a:xfrm>
          <a:prstGeom prst="rect">
            <a:avLst/>
          </a:prstGeom>
          <a:noFill/>
        </p:spPr>
        <p:txBody>
          <a:bodyPr wrap="square" rtlCol="0">
            <a:spAutoFit/>
          </a:bodyPr>
          <a:lstStyle/>
          <a:p>
            <a:r>
              <a:rPr lang="en-US" sz="2800" u="sng">
                <a:solidFill>
                  <a:schemeClr val="bg1"/>
                </a:solidFill>
                <a:latin typeface="Trebuchet MS" panose="020B0703020202090204" pitchFamily="34" charset="0"/>
              </a:rPr>
              <a:t>Step 1</a:t>
            </a:r>
            <a:r>
              <a:rPr lang="en-US" sz="2800">
                <a:solidFill>
                  <a:schemeClr val="bg1"/>
                </a:solidFill>
                <a:latin typeface="Trebuchet MS" panose="020B0703020202090204" pitchFamily="34" charset="0"/>
              </a:rPr>
              <a:t>: Extract the region of the </a:t>
            </a:r>
            <a:r>
              <a:rPr lang="en-US" sz="2800">
                <a:solidFill>
                  <a:srgbClr val="FF0000"/>
                </a:solidFill>
                <a:latin typeface="Trebuchet MS" panose="020B0703020202090204" pitchFamily="34" charset="0"/>
              </a:rPr>
              <a:t>image</a:t>
            </a:r>
            <a:r>
              <a:rPr lang="en-US" sz="2800">
                <a:solidFill>
                  <a:schemeClr val="bg1"/>
                </a:solidFill>
                <a:latin typeface="Trebuchet MS" panose="020B0703020202090204" pitchFamily="34" charset="0"/>
              </a:rPr>
              <a:t> inside the </a:t>
            </a:r>
            <a:r>
              <a:rPr lang="en-US" sz="2800">
                <a:solidFill>
                  <a:srgbClr val="FFFF00"/>
                </a:solidFill>
                <a:latin typeface="Trebuchet MS" panose="020B0703020202090204" pitchFamily="34" charset="0"/>
              </a:rPr>
              <a:t>bounding box of the target.</a:t>
            </a:r>
          </a:p>
        </p:txBody>
      </p:sp>
    </p:spTree>
    <p:extLst>
      <p:ext uri="{BB962C8B-B14F-4D97-AF65-F5344CB8AC3E}">
        <p14:creationId xmlns:p14="http://schemas.microsoft.com/office/powerpoint/2010/main" val="3289378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E7107-0FBB-FA57-4689-8AD35CEA04E9}"/>
            </a:ext>
          </a:extLst>
        </p:cNvPr>
        <p:cNvGrpSpPr/>
        <p:nvPr/>
      </p:nvGrpSpPr>
      <p:grpSpPr>
        <a:xfrm>
          <a:off x="0" y="0"/>
          <a:ext cx="0" cy="0"/>
          <a:chOff x="0" y="0"/>
          <a:chExt cx="0" cy="0"/>
        </a:xfrm>
      </p:grpSpPr>
      <p:pic>
        <p:nvPicPr>
          <p:cNvPr id="9" name="Picture 4" descr="BIC - The McConnell Brain Imaging Centre: ICBM 152 N Lin 2009">
            <a:extLst>
              <a:ext uri="{FF2B5EF4-FFF2-40B4-BE49-F238E27FC236}">
                <a16:creationId xmlns:a16="http://schemas.microsoft.com/office/drawing/2014/main" id="{7F2B255C-2F24-2F9F-F79E-DE4672C3D01D}"/>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l="-6"/>
          <a:stretch/>
        </p:blipFill>
        <p:spPr bwMode="auto">
          <a:xfrm>
            <a:off x="1019958" y="2556350"/>
            <a:ext cx="4464908" cy="3457799"/>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pic>
        <p:nvPicPr>
          <p:cNvPr id="6" name="Picture 4" descr="BIC - The McConnell Brain Imaging Centre: ICBM 152 N Lin 2009">
            <a:extLst>
              <a:ext uri="{FF2B5EF4-FFF2-40B4-BE49-F238E27FC236}">
                <a16:creationId xmlns:a16="http://schemas.microsoft.com/office/drawing/2014/main" id="{3CF28158-232B-3F9E-3C7D-FD19DCE03D1D}"/>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l="-6"/>
          <a:stretch/>
        </p:blipFill>
        <p:spPr bwMode="auto">
          <a:xfrm>
            <a:off x="5740612" y="2608323"/>
            <a:ext cx="2824833" cy="2210683"/>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pic>
        <p:nvPicPr>
          <p:cNvPr id="4" name="Picture 4" descr="BIC - The McConnell Brain Imaging Centre: ICBM 152 N Lin 2009">
            <a:extLst>
              <a:ext uri="{FF2B5EF4-FFF2-40B4-BE49-F238E27FC236}">
                <a16:creationId xmlns:a16="http://schemas.microsoft.com/office/drawing/2014/main" id="{44981817-F7F8-D092-1DC9-6D9B602A6577}"/>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l="-6"/>
          <a:stretch/>
        </p:blipFill>
        <p:spPr bwMode="auto">
          <a:xfrm>
            <a:off x="8821191" y="718093"/>
            <a:ext cx="2715694" cy="2710907"/>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75D1698C-5EF0-F143-F3F3-060DD27C6FEE}"/>
              </a:ext>
            </a:extLst>
          </p:cNvPr>
          <p:cNvSpPr>
            <a:spLocks noGrp="1"/>
          </p:cNvSpPr>
          <p:nvPr>
            <p:ph type="sldNum" sz="quarter" idx="12"/>
          </p:nvPr>
        </p:nvSpPr>
        <p:spPr/>
        <p:txBody>
          <a:bodyPr/>
          <a:lstStyle/>
          <a:p>
            <a:fld id="{6F215E70-FDA5-6C45-8C7C-E922E56675B4}" type="slidenum">
              <a:rPr lang="en-US"/>
              <a:t>10</a:t>
            </a:fld>
            <a:endParaRPr lang="en-US"/>
          </a:p>
        </p:txBody>
      </p:sp>
      <p:sp>
        <p:nvSpPr>
          <p:cNvPr id="14" name="TextBox 13">
            <a:extLst>
              <a:ext uri="{FF2B5EF4-FFF2-40B4-BE49-F238E27FC236}">
                <a16:creationId xmlns:a16="http://schemas.microsoft.com/office/drawing/2014/main" id="{4535F4AB-BEEF-5D53-42A9-EA7DDDDBD744}"/>
              </a:ext>
            </a:extLst>
          </p:cNvPr>
          <p:cNvSpPr txBox="1"/>
          <p:nvPr/>
        </p:nvSpPr>
        <p:spPr>
          <a:xfrm>
            <a:off x="957802" y="554483"/>
            <a:ext cx="7013614" cy="954107"/>
          </a:xfrm>
          <a:prstGeom prst="rect">
            <a:avLst/>
          </a:prstGeom>
          <a:noFill/>
        </p:spPr>
        <p:txBody>
          <a:bodyPr wrap="square" rtlCol="0">
            <a:spAutoFit/>
          </a:bodyPr>
          <a:lstStyle/>
          <a:p>
            <a:r>
              <a:rPr lang="en-US" sz="2800" u="sng">
                <a:solidFill>
                  <a:schemeClr val="bg1"/>
                </a:solidFill>
                <a:latin typeface="Trebuchet MS" panose="020B0703020202090204" pitchFamily="34" charset="0"/>
              </a:rPr>
              <a:t>Step 1</a:t>
            </a:r>
            <a:r>
              <a:rPr lang="en-US" sz="2800">
                <a:solidFill>
                  <a:schemeClr val="bg1"/>
                </a:solidFill>
                <a:latin typeface="Trebuchet MS" panose="020B0703020202090204" pitchFamily="34" charset="0"/>
              </a:rPr>
              <a:t>: Extract the region of the </a:t>
            </a:r>
            <a:r>
              <a:rPr lang="en-US" sz="2800">
                <a:solidFill>
                  <a:srgbClr val="FF0000"/>
                </a:solidFill>
                <a:latin typeface="Trebuchet MS" panose="020B0703020202090204" pitchFamily="34" charset="0"/>
              </a:rPr>
              <a:t>image</a:t>
            </a:r>
            <a:r>
              <a:rPr lang="en-US" sz="2800">
                <a:solidFill>
                  <a:schemeClr val="bg1"/>
                </a:solidFill>
                <a:latin typeface="Trebuchet MS" panose="020B0703020202090204" pitchFamily="34" charset="0"/>
              </a:rPr>
              <a:t> inside the </a:t>
            </a:r>
            <a:r>
              <a:rPr lang="en-US" sz="2800">
                <a:solidFill>
                  <a:srgbClr val="FFFF00"/>
                </a:solidFill>
                <a:latin typeface="Trebuchet MS" panose="020B0703020202090204" pitchFamily="34" charset="0"/>
              </a:rPr>
              <a:t>bounding box of the target.</a:t>
            </a:r>
          </a:p>
        </p:txBody>
      </p:sp>
      <p:sp>
        <p:nvSpPr>
          <p:cNvPr id="10" name="Rectangle 9">
            <a:extLst>
              <a:ext uri="{FF2B5EF4-FFF2-40B4-BE49-F238E27FC236}">
                <a16:creationId xmlns:a16="http://schemas.microsoft.com/office/drawing/2014/main" id="{D404B146-1673-39C4-3C24-A319A93E4EFC}"/>
              </a:ext>
            </a:extLst>
          </p:cNvPr>
          <p:cNvSpPr>
            <a:spLocks/>
          </p:cNvSpPr>
          <p:nvPr/>
        </p:nvSpPr>
        <p:spPr>
          <a:xfrm>
            <a:off x="957802" y="3508314"/>
            <a:ext cx="1426464" cy="2496312"/>
          </a:xfrm>
          <a:prstGeom prst="rect">
            <a:avLst/>
          </a:prstGeom>
          <a:no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826451D-CA0D-938A-C57F-D4D827DCF796}"/>
              </a:ext>
            </a:extLst>
          </p:cNvPr>
          <p:cNvSpPr>
            <a:spLocks/>
          </p:cNvSpPr>
          <p:nvPr/>
        </p:nvSpPr>
        <p:spPr>
          <a:xfrm>
            <a:off x="6398199" y="3286641"/>
            <a:ext cx="1426464" cy="1248156"/>
          </a:xfrm>
          <a:prstGeom prst="rect">
            <a:avLst/>
          </a:prstGeom>
          <a:no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9CDE4B9-ABC8-A68A-3C49-E8A6055ED43A}"/>
              </a:ext>
            </a:extLst>
          </p:cNvPr>
          <p:cNvSpPr>
            <a:spLocks/>
          </p:cNvSpPr>
          <p:nvPr/>
        </p:nvSpPr>
        <p:spPr>
          <a:xfrm>
            <a:off x="9338777" y="2833488"/>
            <a:ext cx="1680519" cy="674826"/>
          </a:xfrm>
          <a:prstGeom prst="rect">
            <a:avLst/>
          </a:prstGeom>
          <a:no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60932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827F6-D297-0401-9A21-5EDDD196DDAC}"/>
            </a:ext>
          </a:extLst>
        </p:cNvPr>
        <p:cNvGrpSpPr/>
        <p:nvPr/>
      </p:nvGrpSpPr>
      <p:grpSpPr>
        <a:xfrm>
          <a:off x="0" y="0"/>
          <a:ext cx="0" cy="0"/>
          <a:chOff x="0" y="0"/>
          <a:chExt cx="0" cy="0"/>
        </a:xfrm>
      </p:grpSpPr>
      <p:pic>
        <p:nvPicPr>
          <p:cNvPr id="9" name="Picture 4" descr="BIC - The McConnell Brain Imaging Centre: ICBM 152 N Lin 2009">
            <a:extLst>
              <a:ext uri="{FF2B5EF4-FFF2-40B4-BE49-F238E27FC236}">
                <a16:creationId xmlns:a16="http://schemas.microsoft.com/office/drawing/2014/main" id="{35C6C66B-8926-FA6B-92E2-4CAEFE18E904}"/>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l="-19"/>
          <a:stretch/>
        </p:blipFill>
        <p:spPr bwMode="auto">
          <a:xfrm>
            <a:off x="1019958" y="3517837"/>
            <a:ext cx="1364308" cy="2496312"/>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6" name="Picture 4" descr="BIC - The McConnell Brain Imaging Centre: ICBM 152 N Lin 2009">
            <a:extLst>
              <a:ext uri="{FF2B5EF4-FFF2-40B4-BE49-F238E27FC236}">
                <a16:creationId xmlns:a16="http://schemas.microsoft.com/office/drawing/2014/main" id="{B7F818BB-AB6B-6ADD-3B13-73DB4F67142A}"/>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6398199" y="3286642"/>
            <a:ext cx="1426464" cy="1248156"/>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4" name="Picture 4" descr="BIC - The McConnell Brain Imaging Centre: ICBM 152 N Lin 2009">
            <a:extLst>
              <a:ext uri="{FF2B5EF4-FFF2-40B4-BE49-F238E27FC236}">
                <a16:creationId xmlns:a16="http://schemas.microsoft.com/office/drawing/2014/main" id="{30F86DA5-AC4F-CB11-0343-6DD0B315D0D8}"/>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9338777" y="2833488"/>
            <a:ext cx="1680519" cy="674826"/>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E502B9AD-0ABA-70B2-C4BD-B3DF24819259}"/>
              </a:ext>
            </a:extLst>
          </p:cNvPr>
          <p:cNvSpPr>
            <a:spLocks noGrp="1"/>
          </p:cNvSpPr>
          <p:nvPr>
            <p:ph type="sldNum" sz="quarter" idx="12"/>
          </p:nvPr>
        </p:nvSpPr>
        <p:spPr/>
        <p:txBody>
          <a:bodyPr/>
          <a:lstStyle/>
          <a:p>
            <a:fld id="{6F215E70-FDA5-6C45-8C7C-E922E56675B4}" type="slidenum">
              <a:rPr lang="en-US"/>
              <a:t>11</a:t>
            </a:fld>
            <a:endParaRPr lang="en-US"/>
          </a:p>
        </p:txBody>
      </p:sp>
      <p:sp>
        <p:nvSpPr>
          <p:cNvPr id="14" name="TextBox 13">
            <a:extLst>
              <a:ext uri="{FF2B5EF4-FFF2-40B4-BE49-F238E27FC236}">
                <a16:creationId xmlns:a16="http://schemas.microsoft.com/office/drawing/2014/main" id="{03227179-B612-A53C-6D03-8C449F6D6723}"/>
              </a:ext>
            </a:extLst>
          </p:cNvPr>
          <p:cNvSpPr txBox="1"/>
          <p:nvPr/>
        </p:nvSpPr>
        <p:spPr>
          <a:xfrm>
            <a:off x="957802" y="554483"/>
            <a:ext cx="7013614" cy="954107"/>
          </a:xfrm>
          <a:prstGeom prst="rect">
            <a:avLst/>
          </a:prstGeom>
          <a:noFill/>
        </p:spPr>
        <p:txBody>
          <a:bodyPr wrap="square" rtlCol="0">
            <a:spAutoFit/>
          </a:bodyPr>
          <a:lstStyle/>
          <a:p>
            <a:r>
              <a:rPr lang="en-US" sz="2800" u="sng">
                <a:solidFill>
                  <a:schemeClr val="bg1"/>
                </a:solidFill>
                <a:latin typeface="Trebuchet MS" panose="020B0703020202090204" pitchFamily="34" charset="0"/>
              </a:rPr>
              <a:t>Step 1</a:t>
            </a:r>
            <a:r>
              <a:rPr lang="en-US" sz="2800">
                <a:solidFill>
                  <a:schemeClr val="bg1"/>
                </a:solidFill>
                <a:latin typeface="Trebuchet MS" panose="020B0703020202090204" pitchFamily="34" charset="0"/>
              </a:rPr>
              <a:t>: Extract the region of the </a:t>
            </a:r>
            <a:r>
              <a:rPr lang="en-US" sz="2800">
                <a:solidFill>
                  <a:srgbClr val="FF0000"/>
                </a:solidFill>
                <a:latin typeface="Trebuchet MS" panose="020B0703020202090204" pitchFamily="34" charset="0"/>
              </a:rPr>
              <a:t>image</a:t>
            </a:r>
            <a:r>
              <a:rPr lang="en-US" sz="2800">
                <a:solidFill>
                  <a:schemeClr val="bg1"/>
                </a:solidFill>
                <a:latin typeface="Trebuchet MS" panose="020B0703020202090204" pitchFamily="34" charset="0"/>
              </a:rPr>
              <a:t> inside the </a:t>
            </a:r>
            <a:r>
              <a:rPr lang="en-US" sz="2800">
                <a:solidFill>
                  <a:srgbClr val="FFFF00"/>
                </a:solidFill>
                <a:latin typeface="Trebuchet MS" panose="020B0703020202090204" pitchFamily="34" charset="0"/>
              </a:rPr>
              <a:t>bounding box of the target.</a:t>
            </a:r>
          </a:p>
        </p:txBody>
      </p:sp>
      <p:sp>
        <p:nvSpPr>
          <p:cNvPr id="10" name="Rectangle 9">
            <a:extLst>
              <a:ext uri="{FF2B5EF4-FFF2-40B4-BE49-F238E27FC236}">
                <a16:creationId xmlns:a16="http://schemas.microsoft.com/office/drawing/2014/main" id="{9F5AC7FE-5639-9E5C-022F-47E4EEB847DE}"/>
              </a:ext>
            </a:extLst>
          </p:cNvPr>
          <p:cNvSpPr>
            <a:spLocks/>
          </p:cNvSpPr>
          <p:nvPr/>
        </p:nvSpPr>
        <p:spPr>
          <a:xfrm>
            <a:off x="957802" y="3508314"/>
            <a:ext cx="1426464" cy="2496312"/>
          </a:xfrm>
          <a:prstGeom prst="rect">
            <a:avLst/>
          </a:prstGeom>
          <a:no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3E2E925-7C22-6E32-EFB1-0D4E3E51DF6A}"/>
              </a:ext>
            </a:extLst>
          </p:cNvPr>
          <p:cNvSpPr>
            <a:spLocks/>
          </p:cNvSpPr>
          <p:nvPr/>
        </p:nvSpPr>
        <p:spPr>
          <a:xfrm>
            <a:off x="6398199" y="3286641"/>
            <a:ext cx="1426464" cy="1248156"/>
          </a:xfrm>
          <a:prstGeom prst="rect">
            <a:avLst/>
          </a:prstGeom>
          <a:no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BBAD347-A40B-86A0-D2CC-EE4D22FE5D4E}"/>
              </a:ext>
            </a:extLst>
          </p:cNvPr>
          <p:cNvSpPr>
            <a:spLocks/>
          </p:cNvSpPr>
          <p:nvPr/>
        </p:nvSpPr>
        <p:spPr>
          <a:xfrm>
            <a:off x="9338777" y="2833488"/>
            <a:ext cx="1680519" cy="674826"/>
          </a:xfrm>
          <a:prstGeom prst="rect">
            <a:avLst/>
          </a:prstGeom>
          <a:no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9270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78E3C-8D8D-EF50-9B39-4F50C78CCD78}"/>
            </a:ext>
          </a:extLst>
        </p:cNvPr>
        <p:cNvGrpSpPr/>
        <p:nvPr/>
      </p:nvGrpSpPr>
      <p:grpSpPr>
        <a:xfrm>
          <a:off x="0" y="0"/>
          <a:ext cx="0" cy="0"/>
          <a:chOff x="0" y="0"/>
          <a:chExt cx="0" cy="0"/>
        </a:xfrm>
      </p:grpSpPr>
      <p:pic>
        <p:nvPicPr>
          <p:cNvPr id="7" name="Picture 6" descr="A collage of images of a brain&#10;&#10;Description automatically generated">
            <a:extLst>
              <a:ext uri="{FF2B5EF4-FFF2-40B4-BE49-F238E27FC236}">
                <a16:creationId xmlns:a16="http://schemas.microsoft.com/office/drawing/2014/main" id="{D8776831-B2E9-AA59-AD0A-5DEBB46B4DBF}"/>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8340" y="3542402"/>
            <a:ext cx="1269935" cy="2496311"/>
          </a:xfrm>
          <a:prstGeom prst="rect">
            <a:avLst/>
          </a:prstGeom>
          <a:ln w="69850">
            <a:noFill/>
          </a:ln>
        </p:spPr>
      </p:pic>
      <p:pic>
        <p:nvPicPr>
          <p:cNvPr id="8" name="Picture 7" descr="A collage of images of a brain&#10;&#10;Description automatically generated">
            <a:extLst>
              <a:ext uri="{FF2B5EF4-FFF2-40B4-BE49-F238E27FC236}">
                <a16:creationId xmlns:a16="http://schemas.microsoft.com/office/drawing/2014/main" id="{049AE815-C913-03C1-EBED-FD8DB657831F}"/>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9311779" y="2890350"/>
            <a:ext cx="1799062" cy="674826"/>
          </a:xfrm>
          <a:prstGeom prst="rect">
            <a:avLst/>
          </a:prstGeom>
          <a:ln w="69850">
            <a:noFill/>
          </a:ln>
        </p:spPr>
      </p:pic>
      <p:sp>
        <p:nvSpPr>
          <p:cNvPr id="2" name="Slide Number Placeholder 1">
            <a:extLst>
              <a:ext uri="{FF2B5EF4-FFF2-40B4-BE49-F238E27FC236}">
                <a16:creationId xmlns:a16="http://schemas.microsoft.com/office/drawing/2014/main" id="{66681CA4-FA50-F5E8-9B86-4AC2118C2C6B}"/>
              </a:ext>
            </a:extLst>
          </p:cNvPr>
          <p:cNvSpPr>
            <a:spLocks noGrp="1"/>
          </p:cNvSpPr>
          <p:nvPr>
            <p:ph type="sldNum" sz="quarter" idx="12"/>
          </p:nvPr>
        </p:nvSpPr>
        <p:spPr/>
        <p:txBody>
          <a:bodyPr/>
          <a:lstStyle/>
          <a:p>
            <a:fld id="{6F215E70-FDA5-6C45-8C7C-E922E56675B4}" type="slidenum">
              <a:rPr lang="en-US"/>
              <a:t>12</a:t>
            </a:fld>
            <a:endParaRPr lang="en-US"/>
          </a:p>
        </p:txBody>
      </p:sp>
      <p:sp>
        <p:nvSpPr>
          <p:cNvPr id="14" name="TextBox 13">
            <a:extLst>
              <a:ext uri="{FF2B5EF4-FFF2-40B4-BE49-F238E27FC236}">
                <a16:creationId xmlns:a16="http://schemas.microsoft.com/office/drawing/2014/main" id="{F9475FAB-2E5C-62BC-20F0-A9C34AA3DC04}"/>
              </a:ext>
            </a:extLst>
          </p:cNvPr>
          <p:cNvSpPr txBox="1"/>
          <p:nvPr/>
        </p:nvSpPr>
        <p:spPr>
          <a:xfrm>
            <a:off x="957802" y="554483"/>
            <a:ext cx="7013614" cy="954107"/>
          </a:xfrm>
          <a:prstGeom prst="rect">
            <a:avLst/>
          </a:prstGeom>
          <a:noFill/>
        </p:spPr>
        <p:txBody>
          <a:bodyPr wrap="square" rtlCol="0">
            <a:spAutoFit/>
          </a:bodyPr>
          <a:lstStyle/>
          <a:p>
            <a:r>
              <a:rPr lang="en-US" sz="2800" u="sng">
                <a:solidFill>
                  <a:schemeClr val="bg1"/>
                </a:solidFill>
                <a:latin typeface="Trebuchet MS" panose="020B0703020202090204" pitchFamily="34" charset="0"/>
              </a:rPr>
              <a:t>Step 1</a:t>
            </a:r>
            <a:r>
              <a:rPr lang="en-US" sz="2800">
                <a:solidFill>
                  <a:schemeClr val="bg1"/>
                </a:solidFill>
                <a:latin typeface="Trebuchet MS" panose="020B0703020202090204" pitchFamily="34" charset="0"/>
              </a:rPr>
              <a:t>: Extract the region of the </a:t>
            </a:r>
            <a:r>
              <a:rPr lang="en-US" sz="2800">
                <a:solidFill>
                  <a:srgbClr val="FF0000"/>
                </a:solidFill>
                <a:latin typeface="Trebuchet MS" panose="020B0703020202090204" pitchFamily="34" charset="0"/>
              </a:rPr>
              <a:t>image</a:t>
            </a:r>
            <a:r>
              <a:rPr lang="en-US" sz="2800">
                <a:solidFill>
                  <a:schemeClr val="bg1"/>
                </a:solidFill>
                <a:latin typeface="Trebuchet MS" panose="020B0703020202090204" pitchFamily="34" charset="0"/>
              </a:rPr>
              <a:t> inside the </a:t>
            </a:r>
            <a:r>
              <a:rPr lang="en-US" sz="2800">
                <a:solidFill>
                  <a:srgbClr val="FFFF00"/>
                </a:solidFill>
                <a:latin typeface="Trebuchet MS" panose="020B0703020202090204" pitchFamily="34" charset="0"/>
              </a:rPr>
              <a:t>bounding box of the target.</a:t>
            </a:r>
          </a:p>
        </p:txBody>
      </p:sp>
      <p:sp>
        <p:nvSpPr>
          <p:cNvPr id="10" name="Rectangle 9">
            <a:extLst>
              <a:ext uri="{FF2B5EF4-FFF2-40B4-BE49-F238E27FC236}">
                <a16:creationId xmlns:a16="http://schemas.microsoft.com/office/drawing/2014/main" id="{CF653B11-71A8-C519-FEA3-9367638FF1A1}"/>
              </a:ext>
            </a:extLst>
          </p:cNvPr>
          <p:cNvSpPr>
            <a:spLocks/>
          </p:cNvSpPr>
          <p:nvPr/>
        </p:nvSpPr>
        <p:spPr>
          <a:xfrm>
            <a:off x="957802" y="3508314"/>
            <a:ext cx="1426464" cy="2496312"/>
          </a:xfrm>
          <a:prstGeom prst="rect">
            <a:avLst/>
          </a:prstGeom>
          <a:noFill/>
          <a:ln w="254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4EAFDB9-ED12-24EE-D851-293922DDF31E}"/>
              </a:ext>
            </a:extLst>
          </p:cNvPr>
          <p:cNvSpPr>
            <a:spLocks/>
          </p:cNvSpPr>
          <p:nvPr/>
        </p:nvSpPr>
        <p:spPr>
          <a:xfrm>
            <a:off x="6398199" y="3286641"/>
            <a:ext cx="1426464" cy="1248156"/>
          </a:xfrm>
          <a:prstGeom prst="rect">
            <a:avLst/>
          </a:prstGeom>
          <a:noFill/>
          <a:ln w="254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B6BF7CE-FCA4-B30E-5190-70D384CA0305}"/>
              </a:ext>
            </a:extLst>
          </p:cNvPr>
          <p:cNvSpPr>
            <a:spLocks/>
          </p:cNvSpPr>
          <p:nvPr/>
        </p:nvSpPr>
        <p:spPr>
          <a:xfrm>
            <a:off x="9338777" y="2833488"/>
            <a:ext cx="1680519" cy="674826"/>
          </a:xfrm>
          <a:prstGeom prst="rect">
            <a:avLst/>
          </a:prstGeom>
          <a:noFill/>
          <a:ln w="254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007387D-2CA0-9084-1273-8FFE90FE6CC7}"/>
              </a:ext>
            </a:extLst>
          </p:cNvPr>
          <p:cNvSpPr txBox="1"/>
          <p:nvPr/>
        </p:nvSpPr>
        <p:spPr>
          <a:xfrm>
            <a:off x="957800" y="1650598"/>
            <a:ext cx="7652799" cy="1384995"/>
          </a:xfrm>
          <a:prstGeom prst="rect">
            <a:avLst/>
          </a:prstGeom>
          <a:noFill/>
        </p:spPr>
        <p:txBody>
          <a:bodyPr wrap="square" rtlCol="0">
            <a:spAutoFit/>
          </a:bodyPr>
          <a:lstStyle/>
          <a:p>
            <a:r>
              <a:rPr lang="en-US" sz="2800" u="sng">
                <a:solidFill>
                  <a:schemeClr val="bg1"/>
                </a:solidFill>
                <a:latin typeface="Trebuchet MS" panose="020B0703020202090204" pitchFamily="34" charset="0"/>
              </a:rPr>
              <a:t>Step 2</a:t>
            </a:r>
            <a:r>
              <a:rPr lang="en-US" sz="2800">
                <a:solidFill>
                  <a:schemeClr val="bg1"/>
                </a:solidFill>
                <a:latin typeface="Trebuchet MS" panose="020B0703020202090204" pitchFamily="34" charset="0"/>
              </a:rPr>
              <a:t>: Change the voxel size of the </a:t>
            </a:r>
            <a:r>
              <a:rPr lang="en-US" sz="2800">
                <a:solidFill>
                  <a:srgbClr val="00B050"/>
                </a:solidFill>
                <a:latin typeface="Trebuchet MS" panose="020B0703020202090204" pitchFamily="34" charset="0"/>
              </a:rPr>
              <a:t>transformed image </a:t>
            </a:r>
            <a:r>
              <a:rPr lang="en-US" sz="2800">
                <a:solidFill>
                  <a:schemeClr val="bg1"/>
                </a:solidFill>
                <a:latin typeface="Trebuchet MS" panose="020B0703020202090204" pitchFamily="34" charset="0"/>
              </a:rPr>
              <a:t>to match the target (this may require resampling / interpolation).</a:t>
            </a:r>
          </a:p>
        </p:txBody>
      </p:sp>
      <p:pic>
        <p:nvPicPr>
          <p:cNvPr id="12" name="Picture 11" descr="A collage of images of a brain&#10;&#10;Description automatically generated">
            <a:extLst>
              <a:ext uri="{FF2B5EF4-FFF2-40B4-BE49-F238E27FC236}">
                <a16:creationId xmlns:a16="http://schemas.microsoft.com/office/drawing/2014/main" id="{F9D519A5-CEEA-091D-BE33-176105791F98}"/>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6425323" y="3340430"/>
            <a:ext cx="1399340" cy="1132272"/>
          </a:xfrm>
          <a:prstGeom prst="rect">
            <a:avLst/>
          </a:prstGeom>
          <a:ln w="69850">
            <a:noFill/>
          </a:ln>
        </p:spPr>
      </p:pic>
      <p:sp>
        <p:nvSpPr>
          <p:cNvPr id="15" name="TextBox 14">
            <a:extLst>
              <a:ext uri="{FF2B5EF4-FFF2-40B4-BE49-F238E27FC236}">
                <a16:creationId xmlns:a16="http://schemas.microsoft.com/office/drawing/2014/main" id="{272AD67D-B3F7-C312-499F-AAEB533F0042}"/>
              </a:ext>
            </a:extLst>
          </p:cNvPr>
          <p:cNvSpPr txBox="1"/>
          <p:nvPr/>
        </p:nvSpPr>
        <p:spPr>
          <a:xfrm>
            <a:off x="3109002" y="4976569"/>
            <a:ext cx="8244798" cy="461665"/>
          </a:xfrm>
          <a:prstGeom prst="rect">
            <a:avLst/>
          </a:prstGeom>
          <a:noFill/>
        </p:spPr>
        <p:txBody>
          <a:bodyPr wrap="square" rtlCol="0">
            <a:spAutoFit/>
          </a:bodyPr>
          <a:lstStyle/>
          <a:p>
            <a:r>
              <a:rPr lang="en-US" sz="2400">
                <a:solidFill>
                  <a:schemeClr val="bg1"/>
                </a:solidFill>
                <a:latin typeface="Trebuchet MS" panose="020B0703020202090204" pitchFamily="34" charset="0"/>
              </a:rPr>
              <a:t>The transformed image can now be used for visualization.</a:t>
            </a:r>
          </a:p>
        </p:txBody>
      </p:sp>
    </p:spTree>
    <p:extLst>
      <p:ext uri="{BB962C8B-B14F-4D97-AF65-F5344CB8AC3E}">
        <p14:creationId xmlns:p14="http://schemas.microsoft.com/office/powerpoint/2010/main" val="3749832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B96A6-54F2-6273-3F92-C93477DC3B80}"/>
            </a:ext>
          </a:extLst>
        </p:cNvPr>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D8AEB534-D317-E117-9BE6-7DCFDC2C7E9B}"/>
              </a:ext>
            </a:extLst>
          </p:cNvPr>
          <p:cNvSpPr>
            <a:spLocks noGrp="1"/>
          </p:cNvSpPr>
          <p:nvPr>
            <p:ph type="sldNum" sz="quarter" idx="12"/>
          </p:nvPr>
        </p:nvSpPr>
        <p:spPr>
          <a:xfrm>
            <a:off x="8647670" y="6169318"/>
            <a:ext cx="2743200" cy="365125"/>
          </a:xfrm>
        </p:spPr>
        <p:txBody>
          <a:bodyPr/>
          <a:lstStyle/>
          <a:p>
            <a:fld id="{6F215E70-FDA5-6C45-8C7C-E922E56675B4}" type="slidenum">
              <a:rPr lang="en-US"/>
              <a:t>13</a:t>
            </a:fld>
            <a:endParaRPr lang="en-US"/>
          </a:p>
        </p:txBody>
      </p:sp>
      <p:sp>
        <p:nvSpPr>
          <p:cNvPr id="4" name="TextBox 3">
            <a:extLst>
              <a:ext uri="{FF2B5EF4-FFF2-40B4-BE49-F238E27FC236}">
                <a16:creationId xmlns:a16="http://schemas.microsoft.com/office/drawing/2014/main" id="{0F10108E-C62E-6224-0817-EF50E9703C7E}"/>
              </a:ext>
            </a:extLst>
          </p:cNvPr>
          <p:cNvSpPr txBox="1"/>
          <p:nvPr/>
        </p:nvSpPr>
        <p:spPr>
          <a:xfrm>
            <a:off x="1624867" y="2309553"/>
            <a:ext cx="9258364" cy="3508653"/>
          </a:xfrm>
          <a:prstGeom prst="rect">
            <a:avLst/>
          </a:prstGeom>
          <a:noFill/>
        </p:spPr>
        <p:txBody>
          <a:bodyPr wrap="square" rtlCol="0">
            <a:spAutoFit/>
          </a:bodyPr>
          <a:lstStyle/>
          <a:p>
            <a:r>
              <a:rPr lang="en-US" sz="2400">
                <a:solidFill>
                  <a:schemeClr val="bg1"/>
                </a:solidFill>
                <a:latin typeface="Trebuchet MS" panose="020B0703020202090204" pitchFamily="34" charset="0"/>
              </a:rPr>
              <a:t>In addition to clipping the image to the bounding box of the target and matching the voxel size, it may be necessary to scale, translate, rotate, and/or shear the image.</a:t>
            </a:r>
          </a:p>
          <a:p>
            <a:endParaRPr lang="en-US" sz="2400">
              <a:solidFill>
                <a:schemeClr val="bg1"/>
              </a:solidFill>
              <a:latin typeface="Trebuchet MS" panose="020B0703020202090204" pitchFamily="34" charset="0"/>
            </a:endParaRPr>
          </a:p>
          <a:p>
            <a:r>
              <a:rPr lang="en-US" sz="2400">
                <a:solidFill>
                  <a:schemeClr val="bg1"/>
                </a:solidFill>
                <a:latin typeface="Trebuchet MS" panose="020B0703020202090204" pitchFamily="34" charset="0"/>
              </a:rPr>
              <a:t> These operations can be included by passing an optional</a:t>
            </a:r>
            <a:r>
              <a:rPr lang="en-US" sz="2400" baseline="30000">
                <a:solidFill>
                  <a:schemeClr val="bg1"/>
                </a:solidFill>
                <a:latin typeface="Trebuchet MS" panose="020B0703020202090204" pitchFamily="34" charset="0"/>
              </a:rPr>
              <a:t>1</a:t>
            </a:r>
            <a:r>
              <a:rPr lang="en-US" sz="2400">
                <a:solidFill>
                  <a:schemeClr val="bg1"/>
                </a:solidFill>
                <a:latin typeface="Trebuchet MS" panose="020B0703020202090204" pitchFamily="34" charset="0"/>
              </a:rPr>
              <a:t> 4x4 matrix </a:t>
            </a:r>
            <a:r>
              <a:rPr lang="en-US" sz="2400">
                <a:solidFill>
                  <a:srgbClr val="00B0F0"/>
                </a:solidFill>
                <a:latin typeface="Trebuchet MS" panose="020B0703020202090204" pitchFamily="34" charset="0"/>
              </a:rPr>
              <a:t>t4 </a:t>
            </a:r>
            <a:r>
              <a:rPr lang="en-US" sz="2400">
                <a:solidFill>
                  <a:schemeClr val="bg1"/>
                </a:solidFill>
                <a:latin typeface="Trebuchet MS" panose="020B0703020202090204" pitchFamily="34" charset="0"/>
              </a:rPr>
              <a:t>to affine3d_img that defines an </a:t>
            </a:r>
            <a:r>
              <a:rPr lang="en-US" sz="2400">
                <a:solidFill>
                  <a:srgbClr val="00B0F0"/>
                </a:solidFill>
                <a:latin typeface="Trebuchet MS" panose="020B0703020202090204" pitchFamily="34" charset="0"/>
              </a:rPr>
              <a:t>affine transform </a:t>
            </a:r>
            <a:r>
              <a:rPr lang="en-US" sz="2400">
                <a:solidFill>
                  <a:schemeClr val="bg1"/>
                </a:solidFill>
                <a:latin typeface="Trebuchet MS" panose="020B0703020202090204" pitchFamily="34" charset="0"/>
              </a:rPr>
              <a:t>to be applied as part of processing.</a:t>
            </a:r>
          </a:p>
          <a:p>
            <a:endParaRPr lang="en-US">
              <a:solidFill>
                <a:schemeClr val="bg1"/>
              </a:solidFill>
              <a:latin typeface="Trebuchet MS" panose="020B0703020202090204" pitchFamily="34" charset="0"/>
            </a:endParaRPr>
          </a:p>
          <a:p>
            <a:r>
              <a:rPr lang="en-US">
                <a:solidFill>
                  <a:schemeClr val="bg1"/>
                </a:solidFill>
                <a:latin typeface="Trebuchet MS" panose="020B0703020202090204" pitchFamily="34" charset="0"/>
              </a:rPr>
              <a:t>1. A transform is </a:t>
            </a:r>
            <a:r>
              <a:rPr lang="en-US" u="sng">
                <a:solidFill>
                  <a:schemeClr val="bg1"/>
                </a:solidFill>
                <a:latin typeface="Trebuchet MS" panose="020B0703020202090204" pitchFamily="34" charset="0"/>
              </a:rPr>
              <a:t>always</a:t>
            </a:r>
            <a:r>
              <a:rPr lang="en-US">
                <a:solidFill>
                  <a:schemeClr val="bg1"/>
                </a:solidFill>
                <a:latin typeface="Trebuchet MS" panose="020B0703020202090204" pitchFamily="34" charset="0"/>
              </a:rPr>
              <a:t> applied in affine3d_img – however, the default t4 is simply an identity matrix.</a:t>
            </a:r>
          </a:p>
        </p:txBody>
      </p:sp>
      <p:sp>
        <p:nvSpPr>
          <p:cNvPr id="3" name="TextBox 2">
            <a:extLst>
              <a:ext uri="{FF2B5EF4-FFF2-40B4-BE49-F238E27FC236}">
                <a16:creationId xmlns:a16="http://schemas.microsoft.com/office/drawing/2014/main" id="{0D8878E7-C05C-8925-23F1-00E1466260BB}"/>
              </a:ext>
            </a:extLst>
          </p:cNvPr>
          <p:cNvSpPr txBox="1"/>
          <p:nvPr/>
        </p:nvSpPr>
        <p:spPr>
          <a:xfrm>
            <a:off x="1222269" y="568869"/>
            <a:ext cx="10257148" cy="584775"/>
          </a:xfrm>
          <a:prstGeom prst="rect">
            <a:avLst/>
          </a:prstGeom>
          <a:noFill/>
        </p:spPr>
        <p:txBody>
          <a:bodyPr wrap="square" rtlCol="0">
            <a:spAutoFit/>
          </a:bodyPr>
          <a:lstStyle/>
          <a:p>
            <a:r>
              <a:rPr lang="en-US" sz="3200">
                <a:solidFill>
                  <a:schemeClr val="bg1"/>
                </a:solidFill>
                <a:latin typeface="Trebuchet MS" panose="020B0703020202090204" pitchFamily="34" charset="0"/>
                <a:cs typeface="Courier New" panose="02070309020205020404" pitchFamily="49" charset="0"/>
              </a:rPr>
              <a:t>affine3d_img : </a:t>
            </a:r>
            <a:r>
              <a:rPr lang="en-US" sz="3200" u="sng">
                <a:solidFill>
                  <a:schemeClr val="bg1"/>
                </a:solidFill>
                <a:latin typeface="Trebuchet MS" panose="020B0703020202090204" pitchFamily="34" charset="0"/>
                <a:cs typeface="Courier New" panose="02070309020205020404" pitchFamily="49" charset="0"/>
              </a:rPr>
              <a:t>Including an explicit transform matrix</a:t>
            </a:r>
          </a:p>
        </p:txBody>
      </p:sp>
      <p:sp>
        <p:nvSpPr>
          <p:cNvPr id="5" name="TextBox 4">
            <a:extLst>
              <a:ext uri="{FF2B5EF4-FFF2-40B4-BE49-F238E27FC236}">
                <a16:creationId xmlns:a16="http://schemas.microsoft.com/office/drawing/2014/main" id="{6E3EE16A-2AA9-8BAF-D095-774FD740A479}"/>
              </a:ext>
            </a:extLst>
          </p:cNvPr>
          <p:cNvSpPr txBox="1"/>
          <p:nvPr/>
        </p:nvSpPr>
        <p:spPr>
          <a:xfrm>
            <a:off x="712582" y="1558332"/>
            <a:ext cx="10766835" cy="400110"/>
          </a:xfrm>
          <a:prstGeom prst="rect">
            <a:avLst/>
          </a:prstGeom>
          <a:noFill/>
          <a:ln>
            <a:solidFill>
              <a:schemeClr val="bg1"/>
            </a:solidFill>
          </a:ln>
        </p:spPr>
        <p:txBody>
          <a:bodyPr wrap="square" rtlCol="0">
            <a:spAutoFit/>
          </a:bodyPr>
          <a:lstStyle/>
          <a:p>
            <a:r>
              <a:rPr lang="en-US" sz="2000" b="1">
                <a:solidFill>
                  <a:srgbClr val="00B050"/>
                </a:solidFill>
                <a:latin typeface="Courier New" panose="02070309020205020404" pitchFamily="49" charset="0"/>
                <a:cs typeface="Courier New" panose="02070309020205020404" pitchFamily="49" charset="0"/>
              </a:rPr>
              <a:t>  transformed_image </a:t>
            </a:r>
            <a:r>
              <a:rPr lang="en-US" sz="2000" b="1">
                <a:solidFill>
                  <a:schemeClr val="bg1"/>
                </a:solidFill>
                <a:latin typeface="Courier New" panose="02070309020205020404" pitchFamily="49" charset="0"/>
                <a:cs typeface="Courier New" panose="02070309020205020404" pitchFamily="49" charset="0"/>
              </a:rPr>
              <a:t>= affine3d_img(</a:t>
            </a:r>
            <a:r>
              <a:rPr lang="en-US" sz="2000" b="1">
                <a:solidFill>
                  <a:srgbClr val="FF0000"/>
                </a:solidFill>
                <a:latin typeface="Courier New" panose="02070309020205020404" pitchFamily="49" charset="0"/>
                <a:cs typeface="Courier New" panose="02070309020205020404" pitchFamily="49" charset="0"/>
              </a:rPr>
              <a:t>image</a:t>
            </a:r>
            <a:r>
              <a:rPr lang="en-US" sz="2000" b="1">
                <a:solidFill>
                  <a:schemeClr val="bg1"/>
                </a:solidFill>
                <a:latin typeface="Courier New" panose="02070309020205020404" pitchFamily="49" charset="0"/>
                <a:cs typeface="Courier New" panose="02070309020205020404" pitchFamily="49" charset="0"/>
              </a:rPr>
              <a:t>,</a:t>
            </a:r>
            <a:r>
              <a:rPr lang="en-US" sz="2000" b="1">
                <a:solidFill>
                  <a:srgbClr val="FF0000"/>
                </a:solidFill>
                <a:latin typeface="Courier New" panose="02070309020205020404" pitchFamily="49" charset="0"/>
                <a:cs typeface="Courier New" panose="02070309020205020404" pitchFamily="49" charset="0"/>
              </a:rPr>
              <a:t>image_info</a:t>
            </a:r>
            <a:r>
              <a:rPr lang="en-US" sz="2000" b="1">
                <a:solidFill>
                  <a:schemeClr val="bg1"/>
                </a:solidFill>
                <a:latin typeface="Courier New" panose="02070309020205020404" pitchFamily="49" charset="0"/>
                <a:cs typeface="Courier New" panose="02070309020205020404" pitchFamily="49" charset="0"/>
              </a:rPr>
              <a:t>,</a:t>
            </a:r>
            <a:r>
              <a:rPr lang="en-US" sz="2000" b="1">
                <a:solidFill>
                  <a:srgbClr val="FFFF00"/>
                </a:solidFill>
                <a:latin typeface="Courier New" panose="02070309020205020404" pitchFamily="49" charset="0"/>
                <a:cs typeface="Courier New" panose="02070309020205020404" pitchFamily="49" charset="0"/>
              </a:rPr>
              <a:t>target_info</a:t>
            </a:r>
            <a:r>
              <a:rPr lang="en-US" sz="2000" b="1">
                <a:solidFill>
                  <a:srgbClr val="00B0F0"/>
                </a:solidFill>
                <a:latin typeface="Courier New" panose="02070309020205020404" pitchFamily="49" charset="0"/>
                <a:cs typeface="Courier New" panose="02070309020205020404" pitchFamily="49" charset="0"/>
              </a:rPr>
              <a:t>,t4</a:t>
            </a:r>
            <a:r>
              <a:rPr lang="en-US" sz="2000" b="1">
                <a:solidFill>
                  <a:schemeClr val="bg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192663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DE04F-EB21-C9B5-BFC4-B78EDA3C573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27098DC-3715-B829-9E67-E680A8F5FA4B}"/>
              </a:ext>
            </a:extLst>
          </p:cNvPr>
          <p:cNvPicPr>
            <a:picLocks noChangeAspect="1"/>
          </p:cNvPicPr>
          <p:nvPr/>
        </p:nvPicPr>
        <p:blipFill>
          <a:blip r:embed="rId2"/>
          <a:stretch>
            <a:fillRect/>
          </a:stretch>
        </p:blipFill>
        <p:spPr>
          <a:xfrm>
            <a:off x="5547163" y="1198220"/>
            <a:ext cx="6314402" cy="2940169"/>
          </a:xfrm>
          <a:prstGeom prst="rect">
            <a:avLst/>
          </a:prstGeom>
          <a:ln>
            <a:noFill/>
          </a:ln>
        </p:spPr>
      </p:pic>
      <p:sp>
        <p:nvSpPr>
          <p:cNvPr id="3" name="TextBox 2">
            <a:extLst>
              <a:ext uri="{FF2B5EF4-FFF2-40B4-BE49-F238E27FC236}">
                <a16:creationId xmlns:a16="http://schemas.microsoft.com/office/drawing/2014/main" id="{6588A901-B379-AD33-0DDA-C07231712C14}"/>
              </a:ext>
            </a:extLst>
          </p:cNvPr>
          <p:cNvSpPr txBox="1"/>
          <p:nvPr/>
        </p:nvSpPr>
        <p:spPr>
          <a:xfrm>
            <a:off x="523401" y="945187"/>
            <a:ext cx="4877640" cy="4031873"/>
          </a:xfrm>
          <a:prstGeom prst="rect">
            <a:avLst/>
          </a:prstGeom>
          <a:noFill/>
        </p:spPr>
        <p:txBody>
          <a:bodyPr wrap="square" rtlCol="0">
            <a:spAutoFit/>
          </a:bodyPr>
          <a:lstStyle/>
          <a:p>
            <a:r>
              <a:rPr lang="en-US" sz="1600">
                <a:solidFill>
                  <a:schemeClr val="bg1"/>
                </a:solidFill>
                <a:latin typeface="Trebuchet MS" panose="020B0703020202090204" pitchFamily="34" charset="0"/>
              </a:rPr>
              <a:t>Each double arrow in this figure represents a 4x4 affine transform matrix (and its inverse). The </a:t>
            </a:r>
            <a:r>
              <a:rPr lang="en-US" sz="1600" b="1">
                <a:solidFill>
                  <a:schemeClr val="bg1"/>
                </a:solidFill>
                <a:latin typeface="Trebuchet MS" panose="020B0703020202090204" pitchFamily="34" charset="0"/>
              </a:rPr>
              <a:t>WHITE</a:t>
            </a:r>
            <a:r>
              <a:rPr lang="en-US" sz="1600">
                <a:solidFill>
                  <a:schemeClr val="bg1"/>
                </a:solidFill>
                <a:latin typeface="Trebuchet MS" panose="020B0703020202090204" pitchFamily="34" charset="0"/>
              </a:rPr>
              <a:t> arrows represent coregistration of native space data from different modalities, such as the participant’s T1, T2, and functional data. The </a:t>
            </a:r>
            <a:r>
              <a:rPr lang="en-US" sz="1600">
                <a:solidFill>
                  <a:srgbClr val="FF0000"/>
                </a:solidFill>
                <a:latin typeface="Trebuchet MS" panose="020B0703020202090204" pitchFamily="34" charset="0"/>
              </a:rPr>
              <a:t>RED</a:t>
            </a:r>
            <a:r>
              <a:rPr lang="en-US" sz="1600">
                <a:solidFill>
                  <a:schemeClr val="bg1"/>
                </a:solidFill>
                <a:latin typeface="Trebuchet MS" panose="020B0703020202090204" pitchFamily="34" charset="0"/>
              </a:rPr>
              <a:t> arrow represents an affine transform between native space and atlas space</a:t>
            </a:r>
            <a:r>
              <a:rPr lang="en-US" sz="1600" baseline="30000">
                <a:solidFill>
                  <a:schemeClr val="bg1"/>
                </a:solidFill>
                <a:latin typeface="Trebuchet MS" panose="020B0703020202090204" pitchFamily="34" charset="0"/>
              </a:rPr>
              <a:t>1</a:t>
            </a:r>
            <a:r>
              <a:rPr lang="en-US" sz="1600">
                <a:solidFill>
                  <a:schemeClr val="bg1"/>
                </a:solidFill>
                <a:latin typeface="Trebuchet MS" panose="020B0703020202090204" pitchFamily="34" charset="0"/>
              </a:rPr>
              <a:t>. This can be calculated using a tool such as FSL FLIRT, although the matrix returned may need to be modified for use with affine3d_img.  The </a:t>
            </a:r>
            <a:r>
              <a:rPr lang="en-US" sz="1600">
                <a:solidFill>
                  <a:srgbClr val="00B0F0"/>
                </a:solidFill>
                <a:latin typeface="Trebuchet MS" panose="020B0703020202090204" pitchFamily="34" charset="0"/>
              </a:rPr>
              <a:t>CYAN</a:t>
            </a:r>
            <a:r>
              <a:rPr lang="en-US" sz="1600">
                <a:solidFill>
                  <a:schemeClr val="bg1"/>
                </a:solidFill>
                <a:latin typeface="Trebuchet MS" panose="020B0703020202090204" pitchFamily="34" charset="0"/>
              </a:rPr>
              <a:t> arrow represents a transform of native space data applied by Freesurfer</a:t>
            </a:r>
            <a:r>
              <a:rPr lang="en-US" sz="1600" baseline="30000">
                <a:solidFill>
                  <a:schemeClr val="bg1"/>
                </a:solidFill>
                <a:latin typeface="Trebuchet MS" panose="020B0703020202090204" pitchFamily="34" charset="0"/>
              </a:rPr>
              <a:t>2</a:t>
            </a:r>
            <a:r>
              <a:rPr lang="en-US" sz="1600">
                <a:solidFill>
                  <a:schemeClr val="bg1"/>
                </a:solidFill>
                <a:latin typeface="Trebuchet MS" panose="020B0703020202090204" pitchFamily="34" charset="0"/>
              </a:rPr>
              <a:t> in preparation for processing. Freesurfer results are transformed into atlas space first by transforming into Talairach space</a:t>
            </a:r>
            <a:r>
              <a:rPr lang="en-US" sz="1600" baseline="30000">
                <a:solidFill>
                  <a:schemeClr val="bg1"/>
                </a:solidFill>
                <a:latin typeface="Trebuchet MS" panose="020B0703020202090204" pitchFamily="34" charset="0"/>
              </a:rPr>
              <a:t>3</a:t>
            </a:r>
            <a:r>
              <a:rPr lang="en-US" sz="1600">
                <a:solidFill>
                  <a:schemeClr val="bg1"/>
                </a:solidFill>
                <a:latin typeface="Trebuchet MS" panose="020B0703020202090204" pitchFamily="34" charset="0"/>
              </a:rPr>
              <a:t> followed by a second transform into MNI space</a:t>
            </a:r>
            <a:r>
              <a:rPr lang="en-US" sz="1600" baseline="30000">
                <a:solidFill>
                  <a:schemeClr val="bg1"/>
                </a:solidFill>
                <a:latin typeface="Trebuchet MS" panose="020B0703020202090204" pitchFamily="34" charset="0"/>
              </a:rPr>
              <a:t>4</a:t>
            </a:r>
            <a:r>
              <a:rPr lang="en-US" sz="1600">
                <a:solidFill>
                  <a:schemeClr val="bg1"/>
                </a:solidFill>
                <a:latin typeface="Trebuchet MS" panose="020B0703020202090204" pitchFamily="34" charset="0"/>
              </a:rPr>
              <a:t> (</a:t>
            </a:r>
            <a:r>
              <a:rPr lang="en-US" sz="1600">
                <a:solidFill>
                  <a:srgbClr val="00B050"/>
                </a:solidFill>
                <a:latin typeface="Trebuchet MS" panose="020B0703020202090204" pitchFamily="34" charset="0"/>
              </a:rPr>
              <a:t>GREEN</a:t>
            </a:r>
            <a:r>
              <a:rPr lang="en-US" sz="1600">
                <a:solidFill>
                  <a:schemeClr val="bg1"/>
                </a:solidFill>
                <a:latin typeface="Trebuchet MS" panose="020B0703020202090204" pitchFamily="34" charset="0"/>
              </a:rPr>
              <a:t> arrows). </a:t>
            </a:r>
          </a:p>
        </p:txBody>
      </p:sp>
      <p:sp>
        <p:nvSpPr>
          <p:cNvPr id="4" name="TextBox 3">
            <a:extLst>
              <a:ext uri="{FF2B5EF4-FFF2-40B4-BE49-F238E27FC236}">
                <a16:creationId xmlns:a16="http://schemas.microsoft.com/office/drawing/2014/main" id="{C484F979-D6EB-8320-57A0-69A839824CD4}"/>
              </a:ext>
            </a:extLst>
          </p:cNvPr>
          <p:cNvSpPr txBox="1"/>
          <p:nvPr/>
        </p:nvSpPr>
        <p:spPr>
          <a:xfrm>
            <a:off x="559333" y="302410"/>
            <a:ext cx="6997605" cy="461665"/>
          </a:xfrm>
          <a:prstGeom prst="rect">
            <a:avLst/>
          </a:prstGeom>
          <a:noFill/>
        </p:spPr>
        <p:txBody>
          <a:bodyPr wrap="square" rtlCol="0">
            <a:spAutoFit/>
          </a:bodyPr>
          <a:lstStyle/>
          <a:p>
            <a:r>
              <a:rPr lang="en-US" sz="2400" u="sng">
                <a:solidFill>
                  <a:schemeClr val="bg1"/>
                </a:solidFill>
                <a:latin typeface="Trebuchet MS" panose="020B0703020202090204" pitchFamily="34" charset="0"/>
              </a:rPr>
              <a:t>Common Affine Transforms Used in NeuroDOT</a:t>
            </a:r>
          </a:p>
        </p:txBody>
      </p:sp>
      <p:sp>
        <p:nvSpPr>
          <p:cNvPr id="5" name="TextBox 4">
            <a:extLst>
              <a:ext uri="{FF2B5EF4-FFF2-40B4-BE49-F238E27FC236}">
                <a16:creationId xmlns:a16="http://schemas.microsoft.com/office/drawing/2014/main" id="{DE263627-0306-9666-9CE0-096EB95D99B4}"/>
              </a:ext>
            </a:extLst>
          </p:cNvPr>
          <p:cNvSpPr txBox="1"/>
          <p:nvPr/>
        </p:nvSpPr>
        <p:spPr>
          <a:xfrm>
            <a:off x="559333" y="5182726"/>
            <a:ext cx="11153592" cy="954107"/>
          </a:xfrm>
          <a:prstGeom prst="rect">
            <a:avLst/>
          </a:prstGeom>
          <a:noFill/>
        </p:spPr>
        <p:txBody>
          <a:bodyPr wrap="square" rtlCol="0">
            <a:spAutoFit/>
          </a:bodyPr>
          <a:lstStyle/>
          <a:p>
            <a:r>
              <a:rPr lang="en-US" sz="1400">
                <a:solidFill>
                  <a:schemeClr val="bg1"/>
                </a:solidFill>
                <a:latin typeface="Trebuchet MS" panose="020B0703020202090204" pitchFamily="34" charset="0"/>
              </a:rPr>
              <a:t>1. NeuroDOT includes several anatomical atlases based on the MNI152nl  template. See …/Support_Files/Atlases in your distribution.</a:t>
            </a:r>
          </a:p>
          <a:p>
            <a:r>
              <a:rPr lang="en-US" sz="1400">
                <a:solidFill>
                  <a:schemeClr val="bg1"/>
                </a:solidFill>
                <a:latin typeface="Trebuchet MS" panose="020B0703020202090204" pitchFamily="34" charset="0"/>
              </a:rPr>
              <a:t>2. FreeSurfer is used to generate participant-specific head models. See: </a:t>
            </a:r>
            <a:r>
              <a:rPr lang="en-US" sz="1400" i="1">
                <a:solidFill>
                  <a:schemeClr val="bg1"/>
                </a:solidFill>
                <a:latin typeface="Trebuchet MS" panose="020B0703020202090204" pitchFamily="34" charset="0"/>
              </a:rPr>
              <a:t>NeuroDOT_Tutorial_Participant_Specific_Head_Modeling.pptx.</a:t>
            </a:r>
          </a:p>
          <a:p>
            <a:r>
              <a:rPr lang="en-US" sz="1400">
                <a:solidFill>
                  <a:schemeClr val="bg1"/>
                </a:solidFill>
                <a:latin typeface="Trebuchet MS" panose="020B0703020202090204" pitchFamily="34" charset="0"/>
              </a:rPr>
              <a:t>3. This t4 matrix is generated by Freesurfer as …/mri/transforms/talairach.xfm.</a:t>
            </a:r>
          </a:p>
          <a:p>
            <a:r>
              <a:rPr lang="en-US" sz="1400">
                <a:solidFill>
                  <a:schemeClr val="bg1"/>
                </a:solidFill>
                <a:latin typeface="Trebuchet MS" panose="020B0703020202090204" pitchFamily="34" charset="0"/>
              </a:rPr>
              <a:t>4. This t4 matrix is included in the NeuroDOT distribution as …/Support_Files/Atlases/TT_to_MNI152_t4.</a:t>
            </a:r>
          </a:p>
        </p:txBody>
      </p:sp>
    </p:spTree>
    <p:extLst>
      <p:ext uri="{BB962C8B-B14F-4D97-AF65-F5344CB8AC3E}">
        <p14:creationId xmlns:p14="http://schemas.microsoft.com/office/powerpoint/2010/main" val="36381062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D110FC-343E-C56B-EB1B-BD68D7B530E7}"/>
              </a:ext>
            </a:extLst>
          </p:cNvPr>
          <p:cNvSpPr txBox="1"/>
          <p:nvPr/>
        </p:nvSpPr>
        <p:spPr>
          <a:xfrm>
            <a:off x="647664" y="2348659"/>
            <a:ext cx="11064875" cy="3600986"/>
          </a:xfrm>
          <a:prstGeom prst="rect">
            <a:avLst/>
          </a:prstGeom>
          <a:noFill/>
        </p:spPr>
        <p:txBody>
          <a:bodyPr wrap="square" rtlCol="0">
            <a:spAutoFit/>
          </a:bodyPr>
          <a:lstStyle/>
          <a:p>
            <a:r>
              <a:rPr lang="en-US" sz="3200">
                <a:solidFill>
                  <a:schemeClr val="bg1"/>
                </a:solidFill>
                <a:latin typeface="Trebuchet MS" panose="020B0703020202090204" pitchFamily="34" charset="0"/>
              </a:rPr>
              <a:t>    The parameter </a:t>
            </a:r>
            <a:r>
              <a:rPr lang="en-US" sz="3200">
                <a:solidFill>
                  <a:srgbClr val="00B0F0"/>
                </a:solidFill>
                <a:latin typeface="Trebuchet MS" panose="020B0703020202090204" pitchFamily="34" charset="0"/>
              </a:rPr>
              <a:t>t4</a:t>
            </a:r>
            <a:r>
              <a:rPr lang="en-US" sz="3200">
                <a:solidFill>
                  <a:schemeClr val="bg1"/>
                </a:solidFill>
                <a:latin typeface="Trebuchet MS" panose="020B0703020202090204" pitchFamily="34" charset="0"/>
              </a:rPr>
              <a:t> is a 4x4 matrix:</a:t>
            </a:r>
          </a:p>
          <a:p>
            <a:r>
              <a:rPr lang="en-US" sz="3200">
                <a:solidFill>
                  <a:srgbClr val="00B0F0"/>
                </a:solidFill>
                <a:latin typeface="Trebuchet MS" panose="020B0703020202090204" pitchFamily="34" charset="0"/>
              </a:rPr>
              <a:t>						          </a:t>
            </a:r>
            <a:r>
              <a:rPr lang="en-US" sz="3200" b="1">
                <a:solidFill>
                  <a:srgbClr val="00B0F0"/>
                </a:solidFill>
                <a:latin typeface="Courier New" panose="02070309020205020404" pitchFamily="49" charset="0"/>
                <a:cs typeface="Courier New" panose="02070309020205020404" pitchFamily="49" charset="0"/>
              </a:rPr>
              <a:t> </a:t>
            </a:r>
            <a:endParaRPr lang="en-US" sz="3200">
              <a:solidFill>
                <a:schemeClr val="bg1"/>
              </a:solidFill>
              <a:latin typeface="Trebuchet MS" panose="020B0703020202090204" pitchFamily="34" charset="0"/>
            </a:endParaRPr>
          </a:p>
          <a:p>
            <a:endParaRPr lang="en-US" sz="3200">
              <a:solidFill>
                <a:schemeClr val="bg1"/>
              </a:solidFill>
              <a:latin typeface="Trebuchet MS" panose="020B0703020202090204" pitchFamily="34" charset="0"/>
            </a:endParaRPr>
          </a:p>
          <a:p>
            <a:endParaRPr lang="en-US" sz="3200">
              <a:solidFill>
                <a:schemeClr val="bg1"/>
              </a:solidFill>
              <a:latin typeface="Trebuchet MS" panose="020B0703020202090204" pitchFamily="34" charset="0"/>
            </a:endParaRPr>
          </a:p>
          <a:p>
            <a:r>
              <a:rPr lang="en-US" sz="2000">
                <a:solidFill>
                  <a:schemeClr val="bg1"/>
                </a:solidFill>
                <a:latin typeface="Trebuchet MS" panose="020B0703020202090204" pitchFamily="34" charset="0"/>
              </a:rPr>
              <a:t>• The diagonal elements (</a:t>
            </a:r>
            <a:r>
              <a:rPr lang="en-US" sz="2000">
                <a:solidFill>
                  <a:schemeClr val="bg1"/>
                </a:solidFill>
                <a:latin typeface="Trebuchet MS" panose="020B0703020202090204" pitchFamily="34" charset="0"/>
                <a:cs typeface="Courier New" panose="02070309020205020404" pitchFamily="49" charset="0"/>
              </a:rPr>
              <a:t>s</a:t>
            </a:r>
            <a:r>
              <a:rPr lang="en-US" sz="2000" baseline="-25000">
                <a:solidFill>
                  <a:schemeClr val="bg1"/>
                </a:solidFill>
                <a:latin typeface="Trebuchet MS" panose="020B0703020202090204" pitchFamily="34" charset="0"/>
                <a:cs typeface="Courier New" panose="02070309020205020404" pitchFamily="49" charset="0"/>
              </a:rPr>
              <a:t>•</a:t>
            </a:r>
            <a:r>
              <a:rPr lang="en-US" sz="2000">
                <a:solidFill>
                  <a:schemeClr val="bg1"/>
                </a:solidFill>
                <a:latin typeface="Trebuchet MS" panose="020B0703020202090204" pitchFamily="34" charset="0"/>
              </a:rPr>
              <a:t>) define xyz </a:t>
            </a:r>
            <a:r>
              <a:rPr lang="en-US" sz="2000" u="sng">
                <a:solidFill>
                  <a:schemeClr val="bg1"/>
                </a:solidFill>
                <a:latin typeface="Trebuchet MS" panose="020B0703020202090204" pitchFamily="34" charset="0"/>
              </a:rPr>
              <a:t>scaling</a:t>
            </a:r>
            <a:r>
              <a:rPr lang="en-US" sz="2000">
                <a:solidFill>
                  <a:schemeClr val="bg1"/>
                </a:solidFill>
                <a:latin typeface="Trebuchet MS" panose="020B0703020202090204" pitchFamily="34" charset="0"/>
              </a:rPr>
              <a:t> </a:t>
            </a:r>
          </a:p>
          <a:p>
            <a:r>
              <a:rPr lang="en-US" sz="2000">
                <a:solidFill>
                  <a:schemeClr val="bg1"/>
                </a:solidFill>
                <a:latin typeface="Trebuchet MS" panose="020B0703020202090204" pitchFamily="34" charset="0"/>
              </a:rPr>
              <a:t>• The off-diagonal elements (</a:t>
            </a:r>
            <a:r>
              <a:rPr lang="en-US" sz="2000">
                <a:solidFill>
                  <a:schemeClr val="bg1"/>
                </a:solidFill>
                <a:latin typeface="Trebuchet MS" panose="020B0703020202090204" pitchFamily="34" charset="0"/>
                <a:cs typeface="Courier New" panose="02070309020205020404" pitchFamily="49" charset="0"/>
              </a:rPr>
              <a:t>r</a:t>
            </a:r>
            <a:r>
              <a:rPr lang="en-US" sz="2000" baseline="-25000">
                <a:solidFill>
                  <a:schemeClr val="bg1"/>
                </a:solidFill>
                <a:latin typeface="Trebuchet MS" panose="020B0703020202090204" pitchFamily="34" charset="0"/>
                <a:cs typeface="Courier New" panose="02070309020205020404" pitchFamily="49" charset="0"/>
              </a:rPr>
              <a:t>••</a:t>
            </a:r>
            <a:r>
              <a:rPr lang="en-US" sz="2000">
                <a:solidFill>
                  <a:schemeClr val="bg1"/>
                </a:solidFill>
                <a:latin typeface="Trebuchet MS" panose="020B0703020202090204" pitchFamily="34" charset="0"/>
              </a:rPr>
              <a:t>) define </a:t>
            </a:r>
            <a:r>
              <a:rPr lang="en-US" sz="2000" u="sng">
                <a:solidFill>
                  <a:schemeClr val="bg1"/>
                </a:solidFill>
                <a:latin typeface="Trebuchet MS" panose="020B0703020202090204" pitchFamily="34" charset="0"/>
              </a:rPr>
              <a:t>rotations</a:t>
            </a:r>
            <a:r>
              <a:rPr lang="en-US" sz="2000">
                <a:solidFill>
                  <a:schemeClr val="bg1"/>
                </a:solidFill>
                <a:latin typeface="Trebuchet MS" panose="020B0703020202090204" pitchFamily="34" charset="0"/>
              </a:rPr>
              <a:t> (= combinations of direction cosines) </a:t>
            </a:r>
          </a:p>
          <a:p>
            <a:r>
              <a:rPr lang="en-US" sz="2000">
                <a:solidFill>
                  <a:schemeClr val="bg1"/>
                </a:solidFill>
                <a:latin typeface="Trebuchet MS" panose="020B0703020202090204" pitchFamily="34" charset="0"/>
              </a:rPr>
              <a:t>• The off-diagonal elements (</a:t>
            </a:r>
            <a:r>
              <a:rPr lang="en-US" sz="2000">
                <a:solidFill>
                  <a:schemeClr val="bg1"/>
                </a:solidFill>
                <a:latin typeface="Trebuchet MS" panose="020B0703020202090204" pitchFamily="34" charset="0"/>
                <a:cs typeface="Courier New" panose="02070309020205020404" pitchFamily="49" charset="0"/>
              </a:rPr>
              <a:t>r</a:t>
            </a:r>
            <a:r>
              <a:rPr lang="en-US" sz="2000" baseline="-25000">
                <a:solidFill>
                  <a:schemeClr val="bg1"/>
                </a:solidFill>
                <a:latin typeface="Trebuchet MS" panose="020B0703020202090204" pitchFamily="34" charset="0"/>
                <a:cs typeface="Courier New" panose="02070309020205020404" pitchFamily="49" charset="0"/>
              </a:rPr>
              <a:t>••</a:t>
            </a:r>
            <a:r>
              <a:rPr lang="en-US" sz="2000">
                <a:solidFill>
                  <a:schemeClr val="bg1"/>
                </a:solidFill>
                <a:latin typeface="Trebuchet MS" panose="020B0703020202090204" pitchFamily="34" charset="0"/>
              </a:rPr>
              <a:t>) may define </a:t>
            </a:r>
            <a:r>
              <a:rPr lang="en-US" sz="2000" u="sng">
                <a:solidFill>
                  <a:schemeClr val="bg1"/>
                </a:solidFill>
                <a:latin typeface="Trebuchet MS" panose="020B0703020202090204" pitchFamily="34" charset="0"/>
              </a:rPr>
              <a:t>shearing</a:t>
            </a:r>
            <a:r>
              <a:rPr lang="en-US" sz="2000">
                <a:solidFill>
                  <a:schemeClr val="bg1"/>
                </a:solidFill>
                <a:latin typeface="Trebuchet MS" panose="020B0703020202090204" pitchFamily="34" charset="0"/>
              </a:rPr>
              <a:t> (in certain combinations)</a:t>
            </a:r>
          </a:p>
          <a:p>
            <a:r>
              <a:rPr lang="en-US" sz="2000">
                <a:solidFill>
                  <a:schemeClr val="bg1"/>
                </a:solidFill>
                <a:latin typeface="Trebuchet MS" panose="020B0703020202090204" pitchFamily="34" charset="0"/>
              </a:rPr>
              <a:t>• Entries in the final column (</a:t>
            </a:r>
            <a:r>
              <a:rPr lang="en-US" sz="2000">
                <a:solidFill>
                  <a:schemeClr val="bg1"/>
                </a:solidFill>
                <a:latin typeface="Trebuchet MS" panose="020B0703020202090204" pitchFamily="34" charset="0"/>
                <a:cs typeface="Courier New" panose="02070309020205020404" pitchFamily="49" charset="0"/>
              </a:rPr>
              <a:t>t</a:t>
            </a:r>
            <a:r>
              <a:rPr lang="en-US" sz="2000" baseline="-25000">
                <a:solidFill>
                  <a:schemeClr val="bg1"/>
                </a:solidFill>
                <a:latin typeface="Trebuchet MS" panose="020B0703020202090204" pitchFamily="34" charset="0"/>
                <a:cs typeface="Courier New" panose="02070309020205020404" pitchFamily="49" charset="0"/>
              </a:rPr>
              <a:t>•</a:t>
            </a:r>
            <a:r>
              <a:rPr lang="en-US" sz="2000">
                <a:solidFill>
                  <a:schemeClr val="bg1"/>
                </a:solidFill>
                <a:latin typeface="Trebuchet MS" panose="020B0703020202090204" pitchFamily="34" charset="0"/>
              </a:rPr>
              <a:t>) define xyz </a:t>
            </a:r>
            <a:r>
              <a:rPr lang="en-US" sz="2000" u="sng">
                <a:solidFill>
                  <a:schemeClr val="bg1"/>
                </a:solidFill>
                <a:latin typeface="Trebuchet MS" panose="020B0703020202090204" pitchFamily="34" charset="0"/>
              </a:rPr>
              <a:t>translations</a:t>
            </a:r>
            <a:r>
              <a:rPr lang="en-US" sz="2000">
                <a:solidFill>
                  <a:schemeClr val="bg1"/>
                </a:solidFill>
                <a:latin typeface="Trebuchet MS" panose="020B0703020202090204" pitchFamily="34" charset="0"/>
              </a:rPr>
              <a:t> of the origin</a:t>
            </a:r>
          </a:p>
          <a:p>
            <a:r>
              <a:rPr lang="en-US" sz="2000">
                <a:solidFill>
                  <a:schemeClr val="bg1"/>
                </a:solidFill>
                <a:latin typeface="Trebuchet MS" panose="020B0703020202090204" pitchFamily="34" charset="0"/>
              </a:rPr>
              <a:t>• [0 0 0 1] is the standard fourth row of a 4X4 affine transform matrix</a:t>
            </a:r>
          </a:p>
        </p:txBody>
      </p:sp>
      <p:sp>
        <p:nvSpPr>
          <p:cNvPr id="4" name="TextBox 3">
            <a:extLst>
              <a:ext uri="{FF2B5EF4-FFF2-40B4-BE49-F238E27FC236}">
                <a16:creationId xmlns:a16="http://schemas.microsoft.com/office/drawing/2014/main" id="{F95C96F4-E22C-650C-91D7-E9BF014E251C}"/>
              </a:ext>
            </a:extLst>
          </p:cNvPr>
          <p:cNvSpPr txBox="1"/>
          <p:nvPr/>
        </p:nvSpPr>
        <p:spPr>
          <a:xfrm>
            <a:off x="647664" y="589139"/>
            <a:ext cx="3822736" cy="584775"/>
          </a:xfrm>
          <a:prstGeom prst="rect">
            <a:avLst/>
          </a:prstGeom>
          <a:noFill/>
        </p:spPr>
        <p:txBody>
          <a:bodyPr wrap="square" rtlCol="0">
            <a:spAutoFit/>
          </a:bodyPr>
          <a:lstStyle/>
          <a:p>
            <a:r>
              <a:rPr lang="en-US" sz="3200" u="sng">
                <a:solidFill>
                  <a:schemeClr val="bg1"/>
                </a:solidFill>
                <a:latin typeface="Trebuchet MS" panose="020B0703020202090204" pitchFamily="34" charset="0"/>
              </a:rPr>
              <a:t>Usage details</a:t>
            </a:r>
          </a:p>
        </p:txBody>
      </p:sp>
      <p:sp>
        <p:nvSpPr>
          <p:cNvPr id="10" name="Slide Number Placeholder 9">
            <a:extLst>
              <a:ext uri="{FF2B5EF4-FFF2-40B4-BE49-F238E27FC236}">
                <a16:creationId xmlns:a16="http://schemas.microsoft.com/office/drawing/2014/main" id="{15BE48FF-AAB2-A244-D8AA-9301058417F8}"/>
              </a:ext>
            </a:extLst>
          </p:cNvPr>
          <p:cNvSpPr>
            <a:spLocks noGrp="1"/>
          </p:cNvSpPr>
          <p:nvPr>
            <p:ph type="sldNum" sz="quarter" idx="12"/>
          </p:nvPr>
        </p:nvSpPr>
        <p:spPr>
          <a:xfrm>
            <a:off x="8647670" y="6169318"/>
            <a:ext cx="2743200" cy="365125"/>
          </a:xfrm>
        </p:spPr>
        <p:txBody>
          <a:bodyPr/>
          <a:lstStyle/>
          <a:p>
            <a:fld id="{6F215E70-FDA5-6C45-8C7C-E922E56675B4}" type="slidenum">
              <a:rPr lang="en-US"/>
              <a:t>15</a:t>
            </a:fld>
            <a:endParaRPr lang="en-US"/>
          </a:p>
        </p:txBody>
      </p:sp>
      <p:grpSp>
        <p:nvGrpSpPr>
          <p:cNvPr id="9" name="Group 8">
            <a:extLst>
              <a:ext uri="{FF2B5EF4-FFF2-40B4-BE49-F238E27FC236}">
                <a16:creationId xmlns:a16="http://schemas.microsoft.com/office/drawing/2014/main" id="{6BC69903-9E61-3DAC-882F-01220CA861A7}"/>
              </a:ext>
            </a:extLst>
          </p:cNvPr>
          <p:cNvGrpSpPr/>
          <p:nvPr/>
        </p:nvGrpSpPr>
        <p:grpSpPr>
          <a:xfrm>
            <a:off x="8451110" y="2639933"/>
            <a:ext cx="2681423" cy="1576530"/>
            <a:chOff x="7637379" y="2495371"/>
            <a:chExt cx="2681423" cy="1576530"/>
          </a:xfrm>
        </p:grpSpPr>
        <p:sp>
          <p:nvSpPr>
            <p:cNvPr id="5" name="TextBox 4">
              <a:extLst>
                <a:ext uri="{FF2B5EF4-FFF2-40B4-BE49-F238E27FC236}">
                  <a16:creationId xmlns:a16="http://schemas.microsoft.com/office/drawing/2014/main" id="{C8819698-21FB-1BD8-EC99-C835F588718E}"/>
                </a:ext>
              </a:extLst>
            </p:cNvPr>
            <p:cNvSpPr txBox="1"/>
            <p:nvPr/>
          </p:nvSpPr>
          <p:spPr>
            <a:xfrm>
              <a:off x="7749307" y="2495371"/>
              <a:ext cx="2474193" cy="1200329"/>
            </a:xfrm>
            <a:prstGeom prst="rect">
              <a:avLst/>
            </a:prstGeom>
            <a:noFill/>
          </p:spPr>
          <p:txBody>
            <a:bodyPr wrap="square" rtlCol="0">
              <a:spAutoFit/>
            </a:bodyPr>
            <a:lstStyle/>
            <a:p>
              <a:r>
                <a:rPr lang="en-US" sz="2400" b="1">
                  <a:solidFill>
                    <a:schemeClr val="bg1"/>
                  </a:solidFill>
                  <a:latin typeface="Courier New" panose="02070309020205020404" pitchFamily="49" charset="0"/>
                  <a:cs typeface="Courier New" panose="02070309020205020404" pitchFamily="49" charset="0"/>
                </a:rPr>
                <a:t>s</a:t>
              </a:r>
              <a:r>
                <a:rPr lang="en-US" sz="2400" b="1" baseline="-25000">
                  <a:solidFill>
                    <a:schemeClr val="bg1"/>
                  </a:solidFill>
                  <a:latin typeface="Courier New" panose="02070309020205020404" pitchFamily="49" charset="0"/>
                  <a:cs typeface="Courier New" panose="02070309020205020404" pitchFamily="49" charset="0"/>
                </a:rPr>
                <a:t>x</a:t>
              </a:r>
              <a:r>
                <a:rPr lang="en-US" sz="2400" b="1">
                  <a:solidFill>
                    <a:schemeClr val="bg1"/>
                  </a:solidFill>
                  <a:latin typeface="Courier New" panose="02070309020205020404" pitchFamily="49" charset="0"/>
                  <a:cs typeface="Courier New" panose="02070309020205020404" pitchFamily="49" charset="0"/>
                </a:rPr>
                <a:t> r</a:t>
              </a:r>
              <a:r>
                <a:rPr lang="en-US" sz="2400" b="1" baseline="-25000">
                  <a:solidFill>
                    <a:schemeClr val="bg1"/>
                  </a:solidFill>
                  <a:latin typeface="Courier New" panose="02070309020205020404" pitchFamily="49" charset="0"/>
                  <a:cs typeface="Courier New" panose="02070309020205020404" pitchFamily="49" charset="0"/>
                </a:rPr>
                <a:t>xy </a:t>
              </a:r>
              <a:r>
                <a:rPr lang="en-US" sz="2400" b="1">
                  <a:solidFill>
                    <a:schemeClr val="bg1"/>
                  </a:solidFill>
                  <a:latin typeface="Courier New" panose="02070309020205020404" pitchFamily="49" charset="0"/>
                  <a:cs typeface="Courier New" panose="02070309020205020404" pitchFamily="49" charset="0"/>
                </a:rPr>
                <a:t>r</a:t>
              </a:r>
              <a:r>
                <a:rPr lang="en-US" sz="2400" b="1" baseline="-25000">
                  <a:solidFill>
                    <a:schemeClr val="bg1"/>
                  </a:solidFill>
                  <a:latin typeface="Courier New" panose="02070309020205020404" pitchFamily="49" charset="0"/>
                  <a:cs typeface="Courier New" panose="02070309020205020404" pitchFamily="49" charset="0"/>
                </a:rPr>
                <a:t>xz </a:t>
              </a:r>
              <a:r>
                <a:rPr lang="en-US" sz="2400" b="1">
                  <a:solidFill>
                    <a:schemeClr val="bg1"/>
                  </a:solidFill>
                  <a:latin typeface="Courier New" panose="02070309020205020404" pitchFamily="49" charset="0"/>
                  <a:cs typeface="Courier New" panose="02070309020205020404" pitchFamily="49" charset="0"/>
                </a:rPr>
                <a:t>t</a:t>
              </a:r>
              <a:r>
                <a:rPr lang="en-US" sz="2400" b="1" baseline="-25000">
                  <a:solidFill>
                    <a:schemeClr val="bg1"/>
                  </a:solidFill>
                  <a:latin typeface="Courier New" panose="02070309020205020404" pitchFamily="49" charset="0"/>
                  <a:cs typeface="Courier New" panose="02070309020205020404" pitchFamily="49" charset="0"/>
                </a:rPr>
                <a:t>x</a:t>
              </a:r>
              <a:endParaRPr lang="en-US" sz="2400" b="1">
                <a:solidFill>
                  <a:schemeClr val="bg1"/>
                </a:solidFill>
                <a:latin typeface="Courier New" panose="02070309020205020404" pitchFamily="49" charset="0"/>
                <a:cs typeface="Courier New" panose="02070309020205020404" pitchFamily="49" charset="0"/>
              </a:endParaRPr>
            </a:p>
            <a:p>
              <a:r>
                <a:rPr lang="en-US" sz="2400" b="1">
                  <a:solidFill>
                    <a:schemeClr val="bg1"/>
                  </a:solidFill>
                  <a:latin typeface="Courier New" panose="02070309020205020404" pitchFamily="49" charset="0"/>
                  <a:cs typeface="Courier New" panose="02070309020205020404" pitchFamily="49" charset="0"/>
                </a:rPr>
                <a:t>r</a:t>
              </a:r>
              <a:r>
                <a:rPr lang="en-US" sz="2400" b="1" baseline="-25000">
                  <a:solidFill>
                    <a:schemeClr val="bg1"/>
                  </a:solidFill>
                  <a:latin typeface="Courier New" panose="02070309020205020404" pitchFamily="49" charset="0"/>
                  <a:cs typeface="Courier New" panose="02070309020205020404" pitchFamily="49" charset="0"/>
                </a:rPr>
                <a:t>yx </a:t>
              </a:r>
              <a:r>
                <a:rPr lang="en-US" sz="2400" b="1">
                  <a:solidFill>
                    <a:schemeClr val="bg1"/>
                  </a:solidFill>
                  <a:latin typeface="Courier New" panose="02070309020205020404" pitchFamily="49" charset="0"/>
                  <a:cs typeface="Courier New" panose="02070309020205020404" pitchFamily="49" charset="0"/>
                </a:rPr>
                <a:t>s</a:t>
              </a:r>
              <a:r>
                <a:rPr lang="en-US" sz="2400" b="1" baseline="-25000">
                  <a:solidFill>
                    <a:schemeClr val="bg1"/>
                  </a:solidFill>
                  <a:latin typeface="Courier New" panose="02070309020205020404" pitchFamily="49" charset="0"/>
                  <a:cs typeface="Courier New" panose="02070309020205020404" pitchFamily="49" charset="0"/>
                </a:rPr>
                <a:t>y</a:t>
              </a:r>
              <a:r>
                <a:rPr lang="en-US" sz="2400" b="1">
                  <a:solidFill>
                    <a:schemeClr val="bg1"/>
                  </a:solidFill>
                  <a:latin typeface="Courier New" panose="02070309020205020404" pitchFamily="49" charset="0"/>
                  <a:cs typeface="Courier New" panose="02070309020205020404" pitchFamily="49" charset="0"/>
                </a:rPr>
                <a:t> r</a:t>
              </a:r>
              <a:r>
                <a:rPr lang="en-US" sz="2400" b="1" baseline="-25000">
                  <a:solidFill>
                    <a:schemeClr val="bg1"/>
                  </a:solidFill>
                  <a:latin typeface="Courier New" panose="02070309020205020404" pitchFamily="49" charset="0"/>
                  <a:cs typeface="Courier New" panose="02070309020205020404" pitchFamily="49" charset="0"/>
                </a:rPr>
                <a:t>yz </a:t>
              </a:r>
              <a:r>
                <a:rPr lang="en-US" sz="2400" b="1">
                  <a:solidFill>
                    <a:schemeClr val="bg1"/>
                  </a:solidFill>
                  <a:latin typeface="Courier New" panose="02070309020205020404" pitchFamily="49" charset="0"/>
                  <a:cs typeface="Courier New" panose="02070309020205020404" pitchFamily="49" charset="0"/>
                </a:rPr>
                <a:t>t</a:t>
              </a:r>
              <a:r>
                <a:rPr lang="en-US" sz="2400" b="1" baseline="-25000">
                  <a:solidFill>
                    <a:schemeClr val="bg1"/>
                  </a:solidFill>
                  <a:latin typeface="Courier New" panose="02070309020205020404" pitchFamily="49" charset="0"/>
                  <a:cs typeface="Courier New" panose="02070309020205020404" pitchFamily="49" charset="0"/>
                </a:rPr>
                <a:t>y</a:t>
              </a:r>
              <a:endParaRPr lang="en-US" sz="2400" b="1">
                <a:solidFill>
                  <a:schemeClr val="bg1"/>
                </a:solidFill>
                <a:latin typeface="Courier New" panose="02070309020205020404" pitchFamily="49" charset="0"/>
                <a:cs typeface="Courier New" panose="02070309020205020404" pitchFamily="49" charset="0"/>
              </a:endParaRPr>
            </a:p>
            <a:p>
              <a:r>
                <a:rPr lang="en-US" sz="2400" b="1">
                  <a:solidFill>
                    <a:schemeClr val="bg1"/>
                  </a:solidFill>
                  <a:latin typeface="Courier New" panose="02070309020205020404" pitchFamily="49" charset="0"/>
                  <a:cs typeface="Courier New" panose="02070309020205020404" pitchFamily="49" charset="0"/>
                </a:rPr>
                <a:t>r</a:t>
              </a:r>
              <a:r>
                <a:rPr lang="en-US" sz="2400" b="1" baseline="-25000">
                  <a:solidFill>
                    <a:schemeClr val="bg1"/>
                  </a:solidFill>
                  <a:latin typeface="Courier New" panose="02070309020205020404" pitchFamily="49" charset="0"/>
                  <a:cs typeface="Courier New" panose="02070309020205020404" pitchFamily="49" charset="0"/>
                </a:rPr>
                <a:t>zx </a:t>
              </a:r>
              <a:r>
                <a:rPr lang="en-US" sz="2400" b="1">
                  <a:solidFill>
                    <a:schemeClr val="bg1"/>
                  </a:solidFill>
                  <a:latin typeface="Courier New" panose="02070309020205020404" pitchFamily="49" charset="0"/>
                  <a:cs typeface="Courier New" panose="02070309020205020404" pitchFamily="49" charset="0"/>
                </a:rPr>
                <a:t>r</a:t>
              </a:r>
              <a:r>
                <a:rPr lang="en-US" sz="2400" b="1" baseline="-25000">
                  <a:solidFill>
                    <a:schemeClr val="bg1"/>
                  </a:solidFill>
                  <a:latin typeface="Courier New" panose="02070309020205020404" pitchFamily="49" charset="0"/>
                  <a:cs typeface="Courier New" panose="02070309020205020404" pitchFamily="49" charset="0"/>
                </a:rPr>
                <a:t>zy </a:t>
              </a:r>
              <a:r>
                <a:rPr lang="en-US" sz="2400" b="1">
                  <a:solidFill>
                    <a:schemeClr val="bg1"/>
                  </a:solidFill>
                  <a:latin typeface="Courier New" panose="02070309020205020404" pitchFamily="49" charset="0"/>
                  <a:cs typeface="Courier New" panose="02070309020205020404" pitchFamily="49" charset="0"/>
                </a:rPr>
                <a:t>s</a:t>
              </a:r>
              <a:r>
                <a:rPr lang="en-US" sz="2400" b="1" baseline="-25000">
                  <a:solidFill>
                    <a:schemeClr val="bg1"/>
                  </a:solidFill>
                  <a:latin typeface="Courier New" panose="02070309020205020404" pitchFamily="49" charset="0"/>
                  <a:cs typeface="Courier New" panose="02070309020205020404" pitchFamily="49" charset="0"/>
                </a:rPr>
                <a:t>z</a:t>
              </a:r>
              <a:r>
                <a:rPr lang="en-US" sz="2400" b="1">
                  <a:solidFill>
                    <a:schemeClr val="bg1"/>
                  </a:solidFill>
                  <a:latin typeface="Courier New" panose="02070309020205020404" pitchFamily="49" charset="0"/>
                  <a:cs typeface="Courier New" panose="02070309020205020404" pitchFamily="49" charset="0"/>
                </a:rPr>
                <a:t> t</a:t>
              </a:r>
              <a:r>
                <a:rPr lang="en-US" sz="2400" b="1" baseline="-25000">
                  <a:solidFill>
                    <a:schemeClr val="bg1"/>
                  </a:solidFill>
                  <a:latin typeface="Courier New" panose="02070309020205020404" pitchFamily="49" charset="0"/>
                  <a:cs typeface="Courier New" panose="02070309020205020404" pitchFamily="49" charset="0"/>
                </a:rPr>
                <a:t>z</a:t>
              </a:r>
              <a:endParaRPr lang="en-US" sz="2400" b="1">
                <a:solidFill>
                  <a:schemeClr val="bg1"/>
                </a:solidFill>
                <a:latin typeface="Courier New" panose="02070309020205020404" pitchFamily="49" charset="0"/>
                <a:cs typeface="Courier New" panose="02070309020205020404" pitchFamily="49" charset="0"/>
              </a:endParaRPr>
            </a:p>
          </p:txBody>
        </p:sp>
        <p:sp>
          <p:nvSpPr>
            <p:cNvPr id="6" name="Left Bracket 5">
              <a:extLst>
                <a:ext uri="{FF2B5EF4-FFF2-40B4-BE49-F238E27FC236}">
                  <a16:creationId xmlns:a16="http://schemas.microsoft.com/office/drawing/2014/main" id="{DC117240-24F3-8262-92EB-9C74A6402D7C}"/>
                </a:ext>
              </a:extLst>
            </p:cNvPr>
            <p:cNvSpPr/>
            <p:nvPr/>
          </p:nvSpPr>
          <p:spPr>
            <a:xfrm>
              <a:off x="7637379" y="2539313"/>
              <a:ext cx="197992" cy="1525718"/>
            </a:xfrm>
            <a:prstGeom prst="leftBracket">
              <a:avLst/>
            </a:prstGeom>
            <a:ln w="349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n>
                  <a:solidFill>
                    <a:schemeClr val="bg1"/>
                  </a:solidFill>
                </a:ln>
              </a:endParaRPr>
            </a:p>
          </p:txBody>
        </p:sp>
        <p:sp>
          <p:nvSpPr>
            <p:cNvPr id="7" name="Left Bracket 6">
              <a:extLst>
                <a:ext uri="{FF2B5EF4-FFF2-40B4-BE49-F238E27FC236}">
                  <a16:creationId xmlns:a16="http://schemas.microsoft.com/office/drawing/2014/main" id="{F8D3A782-7AC4-78F2-69A2-41245AB820BF}"/>
                </a:ext>
              </a:extLst>
            </p:cNvPr>
            <p:cNvSpPr/>
            <p:nvPr/>
          </p:nvSpPr>
          <p:spPr>
            <a:xfrm rot="10800000">
              <a:off x="9745216" y="2539313"/>
              <a:ext cx="197992" cy="1525718"/>
            </a:xfrm>
            <a:prstGeom prst="leftBracket">
              <a:avLst/>
            </a:prstGeom>
            <a:ln w="349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n>
                  <a:solidFill>
                    <a:schemeClr val="bg1"/>
                  </a:solidFill>
                </a:ln>
              </a:endParaRPr>
            </a:p>
          </p:txBody>
        </p:sp>
        <p:sp>
          <p:nvSpPr>
            <p:cNvPr id="11" name="TextBox 10">
              <a:extLst>
                <a:ext uri="{FF2B5EF4-FFF2-40B4-BE49-F238E27FC236}">
                  <a16:creationId xmlns:a16="http://schemas.microsoft.com/office/drawing/2014/main" id="{E3E7FAB7-3470-B4DC-46E5-D89ED3C6E1F2}"/>
                </a:ext>
              </a:extLst>
            </p:cNvPr>
            <p:cNvSpPr txBox="1"/>
            <p:nvPr/>
          </p:nvSpPr>
          <p:spPr>
            <a:xfrm>
              <a:off x="7844609" y="3610236"/>
              <a:ext cx="2474193" cy="461665"/>
            </a:xfrm>
            <a:prstGeom prst="rect">
              <a:avLst/>
            </a:prstGeom>
            <a:noFill/>
          </p:spPr>
          <p:txBody>
            <a:bodyPr wrap="square" rtlCol="0">
              <a:spAutoFit/>
            </a:bodyPr>
            <a:lstStyle/>
            <a:p>
              <a:r>
                <a:rPr lang="en-US" sz="2400" b="1">
                  <a:solidFill>
                    <a:schemeClr val="bg1"/>
                  </a:solidFill>
                  <a:latin typeface="Courier New" panose="02070309020205020404" pitchFamily="49" charset="0"/>
                  <a:cs typeface="Courier New" panose="02070309020205020404" pitchFamily="49" charset="0"/>
                </a:rPr>
                <a:t>0</a:t>
              </a:r>
              <a:r>
                <a:rPr lang="en-US" sz="2400" b="1" baseline="-25000">
                  <a:solidFill>
                    <a:schemeClr val="bg1"/>
                  </a:solidFill>
                  <a:latin typeface="Courier New" panose="02070309020205020404" pitchFamily="49" charset="0"/>
                  <a:cs typeface="Courier New" panose="02070309020205020404" pitchFamily="49" charset="0"/>
                </a:rPr>
                <a:t> </a:t>
              </a:r>
              <a:r>
                <a:rPr lang="en-US" sz="2400" b="1">
                  <a:solidFill>
                    <a:schemeClr val="bg1"/>
                  </a:solidFill>
                  <a:latin typeface="Courier New" panose="02070309020205020404" pitchFamily="49" charset="0"/>
                  <a:cs typeface="Courier New" panose="02070309020205020404" pitchFamily="49" charset="0"/>
                </a:rPr>
                <a:t> 0  0  1</a:t>
              </a:r>
            </a:p>
          </p:txBody>
        </p:sp>
      </p:grpSp>
      <p:sp>
        <p:nvSpPr>
          <p:cNvPr id="2" name="TextBox 1">
            <a:extLst>
              <a:ext uri="{FF2B5EF4-FFF2-40B4-BE49-F238E27FC236}">
                <a16:creationId xmlns:a16="http://schemas.microsoft.com/office/drawing/2014/main" id="{CAE84F7E-A07F-1BB8-24F6-56F07FB6DAFA}"/>
              </a:ext>
            </a:extLst>
          </p:cNvPr>
          <p:cNvSpPr txBox="1"/>
          <p:nvPr/>
        </p:nvSpPr>
        <p:spPr>
          <a:xfrm>
            <a:off x="1169086" y="2966533"/>
            <a:ext cx="5835316" cy="400110"/>
          </a:xfrm>
          <a:prstGeom prst="rect">
            <a:avLst/>
          </a:prstGeom>
          <a:noFill/>
        </p:spPr>
        <p:txBody>
          <a:bodyPr wrap="square" rtlCol="0">
            <a:spAutoFit/>
          </a:bodyPr>
          <a:lstStyle/>
          <a:p>
            <a:r>
              <a:rPr lang="en-US" sz="2000">
                <a:solidFill>
                  <a:schemeClr val="bg1"/>
                </a:solidFill>
                <a:latin typeface="Trebuchet MS" panose="020B0703020202090204" pitchFamily="34" charset="0"/>
              </a:rPr>
              <a:t>(mnemonic: “t4” for “affine </a:t>
            </a:r>
            <a:r>
              <a:rPr lang="en-US" sz="2000" u="sng">
                <a:solidFill>
                  <a:schemeClr val="bg1"/>
                </a:solidFill>
                <a:latin typeface="Trebuchet MS" panose="020B0703020202090204" pitchFamily="34" charset="0"/>
              </a:rPr>
              <a:t>t</a:t>
            </a:r>
            <a:r>
              <a:rPr lang="en-US" sz="2000">
                <a:solidFill>
                  <a:schemeClr val="bg1"/>
                </a:solidFill>
                <a:latin typeface="Trebuchet MS" panose="020B0703020202090204" pitchFamily="34" charset="0"/>
              </a:rPr>
              <a:t>rans</a:t>
            </a:r>
            <a:r>
              <a:rPr lang="en-US" sz="2000" u="sng">
                <a:solidFill>
                  <a:schemeClr val="bg1"/>
                </a:solidFill>
                <a:latin typeface="Trebuchet MS" panose="020B0703020202090204" pitchFamily="34" charset="0"/>
              </a:rPr>
              <a:t>4</a:t>
            </a:r>
            <a:r>
              <a:rPr lang="en-US" sz="2000">
                <a:solidFill>
                  <a:schemeClr val="bg1"/>
                </a:solidFill>
                <a:latin typeface="Trebuchet MS" panose="020B0703020202090204" pitchFamily="34" charset="0"/>
              </a:rPr>
              <a:t>orm”)</a:t>
            </a:r>
          </a:p>
        </p:txBody>
      </p:sp>
      <p:sp>
        <p:nvSpPr>
          <p:cNvPr id="13" name="TextBox 12">
            <a:extLst>
              <a:ext uri="{FF2B5EF4-FFF2-40B4-BE49-F238E27FC236}">
                <a16:creationId xmlns:a16="http://schemas.microsoft.com/office/drawing/2014/main" id="{E7F54BEB-1486-F87B-CCC0-8CFC2C2E9BC4}"/>
              </a:ext>
            </a:extLst>
          </p:cNvPr>
          <p:cNvSpPr txBox="1"/>
          <p:nvPr/>
        </p:nvSpPr>
        <p:spPr>
          <a:xfrm>
            <a:off x="712582" y="1558332"/>
            <a:ext cx="10766835" cy="400110"/>
          </a:xfrm>
          <a:prstGeom prst="rect">
            <a:avLst/>
          </a:prstGeom>
          <a:noFill/>
          <a:ln>
            <a:solidFill>
              <a:schemeClr val="bg1"/>
            </a:solidFill>
          </a:ln>
        </p:spPr>
        <p:txBody>
          <a:bodyPr wrap="square" rtlCol="0">
            <a:spAutoFit/>
          </a:bodyPr>
          <a:lstStyle/>
          <a:p>
            <a:r>
              <a:rPr lang="en-US" sz="2000" b="1">
                <a:solidFill>
                  <a:srgbClr val="00B050"/>
                </a:solidFill>
                <a:latin typeface="Courier New" panose="02070309020205020404" pitchFamily="49" charset="0"/>
                <a:cs typeface="Courier New" panose="02070309020205020404" pitchFamily="49" charset="0"/>
              </a:rPr>
              <a:t>  transformed_image </a:t>
            </a:r>
            <a:r>
              <a:rPr lang="en-US" sz="2000" b="1">
                <a:solidFill>
                  <a:schemeClr val="bg1"/>
                </a:solidFill>
                <a:latin typeface="Courier New" panose="02070309020205020404" pitchFamily="49" charset="0"/>
                <a:cs typeface="Courier New" panose="02070309020205020404" pitchFamily="49" charset="0"/>
              </a:rPr>
              <a:t>= affine3d_img(</a:t>
            </a:r>
            <a:r>
              <a:rPr lang="en-US" sz="2000" b="1">
                <a:solidFill>
                  <a:srgbClr val="FF0000"/>
                </a:solidFill>
                <a:latin typeface="Courier New" panose="02070309020205020404" pitchFamily="49" charset="0"/>
                <a:cs typeface="Courier New" panose="02070309020205020404" pitchFamily="49" charset="0"/>
              </a:rPr>
              <a:t>image</a:t>
            </a:r>
            <a:r>
              <a:rPr lang="en-US" sz="2000" b="1">
                <a:solidFill>
                  <a:schemeClr val="bg1"/>
                </a:solidFill>
                <a:latin typeface="Courier New" panose="02070309020205020404" pitchFamily="49" charset="0"/>
                <a:cs typeface="Courier New" panose="02070309020205020404" pitchFamily="49" charset="0"/>
              </a:rPr>
              <a:t>,</a:t>
            </a:r>
            <a:r>
              <a:rPr lang="en-US" sz="2000" b="1">
                <a:solidFill>
                  <a:srgbClr val="FF0000"/>
                </a:solidFill>
                <a:latin typeface="Courier New" panose="02070309020205020404" pitchFamily="49" charset="0"/>
                <a:cs typeface="Courier New" panose="02070309020205020404" pitchFamily="49" charset="0"/>
              </a:rPr>
              <a:t>image_info</a:t>
            </a:r>
            <a:r>
              <a:rPr lang="en-US" sz="2000" b="1">
                <a:solidFill>
                  <a:schemeClr val="bg1"/>
                </a:solidFill>
                <a:latin typeface="Courier New" panose="02070309020205020404" pitchFamily="49" charset="0"/>
                <a:cs typeface="Courier New" panose="02070309020205020404" pitchFamily="49" charset="0"/>
              </a:rPr>
              <a:t>,</a:t>
            </a:r>
            <a:r>
              <a:rPr lang="en-US" sz="2000" b="1">
                <a:solidFill>
                  <a:srgbClr val="FFFF00"/>
                </a:solidFill>
                <a:latin typeface="Courier New" panose="02070309020205020404" pitchFamily="49" charset="0"/>
                <a:cs typeface="Courier New" panose="02070309020205020404" pitchFamily="49" charset="0"/>
              </a:rPr>
              <a:t>target_info</a:t>
            </a:r>
            <a:r>
              <a:rPr lang="en-US" sz="2000" b="1">
                <a:solidFill>
                  <a:srgbClr val="00B0F0"/>
                </a:solidFill>
                <a:latin typeface="Courier New" panose="02070309020205020404" pitchFamily="49" charset="0"/>
                <a:cs typeface="Courier New" panose="02070309020205020404" pitchFamily="49" charset="0"/>
              </a:rPr>
              <a:t>,t4</a:t>
            </a:r>
            <a:r>
              <a:rPr lang="en-US" sz="2000" b="1">
                <a:solidFill>
                  <a:schemeClr val="bg1"/>
                </a:solidFill>
                <a:latin typeface="Courier New" panose="02070309020205020404" pitchFamily="49" charset="0"/>
                <a:cs typeface="Courier New" panose="02070309020205020404" pitchFamily="49" charset="0"/>
              </a:rPr>
              <a:t>)</a:t>
            </a:r>
          </a:p>
        </p:txBody>
      </p:sp>
      <p:sp>
        <p:nvSpPr>
          <p:cNvPr id="14" name="TextBox 13">
            <a:extLst>
              <a:ext uri="{FF2B5EF4-FFF2-40B4-BE49-F238E27FC236}">
                <a16:creationId xmlns:a16="http://schemas.microsoft.com/office/drawing/2014/main" id="{F92F8304-03F2-6AC9-AFB5-4AC38FF9AE18}"/>
              </a:ext>
            </a:extLst>
          </p:cNvPr>
          <p:cNvSpPr txBox="1"/>
          <p:nvPr/>
        </p:nvSpPr>
        <p:spPr>
          <a:xfrm>
            <a:off x="7236694" y="3166588"/>
            <a:ext cx="3307996" cy="523220"/>
          </a:xfrm>
          <a:prstGeom prst="rect">
            <a:avLst/>
          </a:prstGeom>
          <a:noFill/>
          <a:ln>
            <a:noFill/>
          </a:ln>
        </p:spPr>
        <p:txBody>
          <a:bodyPr wrap="square" rtlCol="0">
            <a:spAutoFit/>
          </a:bodyPr>
          <a:lstStyle/>
          <a:p>
            <a:r>
              <a:rPr lang="en-US" sz="2800" b="1">
                <a:solidFill>
                  <a:srgbClr val="00B0F0"/>
                </a:solidFill>
                <a:latin typeface="Courier New" panose="02070309020205020404" pitchFamily="49" charset="0"/>
                <a:cs typeface="Courier New" panose="02070309020205020404" pitchFamily="49" charset="0"/>
              </a:rPr>
              <a:t>t4 </a:t>
            </a:r>
            <a:r>
              <a:rPr lang="en-US" sz="2800" b="1">
                <a:solidFill>
                  <a:schemeClr val="bg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824297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F652A-014E-78E2-0C32-18C8999A42C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80A37B-4E36-6BA8-9D64-A7AD39475DF7}"/>
              </a:ext>
            </a:extLst>
          </p:cNvPr>
          <p:cNvSpPr>
            <a:spLocks noGrp="1"/>
          </p:cNvSpPr>
          <p:nvPr>
            <p:ph type="sldNum" sz="quarter" idx="12"/>
          </p:nvPr>
        </p:nvSpPr>
        <p:spPr/>
        <p:txBody>
          <a:bodyPr/>
          <a:lstStyle/>
          <a:p>
            <a:fld id="{6F215E70-FDA5-6C45-8C7C-E922E56675B4}" type="slidenum">
              <a:rPr lang="en-US"/>
              <a:t>16</a:t>
            </a:fld>
            <a:endParaRPr lang="en-US"/>
          </a:p>
        </p:txBody>
      </p:sp>
      <p:sp>
        <p:nvSpPr>
          <p:cNvPr id="6" name="TextBox 5">
            <a:extLst>
              <a:ext uri="{FF2B5EF4-FFF2-40B4-BE49-F238E27FC236}">
                <a16:creationId xmlns:a16="http://schemas.microsoft.com/office/drawing/2014/main" id="{BA883B9D-E6EE-0D3E-85E5-7C0E4027087A}"/>
              </a:ext>
            </a:extLst>
          </p:cNvPr>
          <p:cNvSpPr txBox="1"/>
          <p:nvPr/>
        </p:nvSpPr>
        <p:spPr>
          <a:xfrm>
            <a:off x="1945974" y="1679283"/>
            <a:ext cx="8846352" cy="3785652"/>
          </a:xfrm>
          <a:prstGeom prst="rect">
            <a:avLst/>
          </a:prstGeom>
          <a:noFill/>
        </p:spPr>
        <p:txBody>
          <a:bodyPr wrap="square" rtlCol="0">
            <a:spAutoFit/>
          </a:bodyPr>
          <a:lstStyle/>
          <a:p>
            <a:r>
              <a:rPr lang="en-US" sz="2000">
                <a:solidFill>
                  <a:schemeClr val="bg1"/>
                </a:solidFill>
                <a:latin typeface="Trebuchet MS" panose="020B0703020202090204" pitchFamily="34" charset="0"/>
              </a:rPr>
              <a:t>• A common point of confusion is that the t4 matrix acts on the </a:t>
            </a:r>
            <a:r>
              <a:rPr lang="en-US" sz="2000" u="sng">
                <a:solidFill>
                  <a:schemeClr val="bg1"/>
                </a:solidFill>
                <a:latin typeface="Trebuchet MS" panose="020B0703020202090204" pitchFamily="34" charset="0"/>
              </a:rPr>
              <a:t>space</a:t>
            </a:r>
            <a:r>
              <a:rPr lang="en-US" sz="2000">
                <a:solidFill>
                  <a:schemeClr val="bg1"/>
                </a:solidFill>
                <a:latin typeface="Trebuchet MS" panose="020B0703020202090204" pitchFamily="34" charset="0"/>
              </a:rPr>
              <a:t> not the </a:t>
            </a:r>
            <a:r>
              <a:rPr lang="en-US" sz="2000" u="sng">
                <a:solidFill>
                  <a:schemeClr val="bg1"/>
                </a:solidFill>
                <a:latin typeface="Trebuchet MS" panose="020B0703020202090204" pitchFamily="34" charset="0"/>
              </a:rPr>
              <a:t>data</a:t>
            </a:r>
            <a:r>
              <a:rPr lang="en-US" sz="2000">
                <a:solidFill>
                  <a:schemeClr val="bg1"/>
                </a:solidFill>
                <a:latin typeface="Trebuchet MS" panose="020B0703020202090204" pitchFamily="34" charset="0"/>
              </a:rPr>
              <a:t>. Conceptually, think of it as transforming the </a:t>
            </a:r>
            <a:r>
              <a:rPr lang="en-US" sz="2000" u="sng">
                <a:solidFill>
                  <a:schemeClr val="bg1"/>
                </a:solidFill>
                <a:latin typeface="Trebuchet MS" panose="020B0703020202090204" pitchFamily="34" charset="0"/>
              </a:rPr>
              <a:t>target</a:t>
            </a:r>
            <a:r>
              <a:rPr lang="en-US" sz="2000">
                <a:solidFill>
                  <a:schemeClr val="bg1"/>
                </a:solidFill>
                <a:latin typeface="Trebuchet MS" panose="020B0703020202090204" pitchFamily="34" charset="0"/>
              </a:rPr>
              <a:t> to the </a:t>
            </a:r>
            <a:r>
              <a:rPr lang="en-US" sz="2000" u="sng">
                <a:solidFill>
                  <a:schemeClr val="bg1"/>
                </a:solidFill>
                <a:latin typeface="Trebuchet MS" panose="020B0703020202090204" pitchFamily="34" charset="0"/>
              </a:rPr>
              <a:t>image</a:t>
            </a:r>
            <a:r>
              <a:rPr lang="en-US" sz="2000">
                <a:solidFill>
                  <a:schemeClr val="bg1"/>
                </a:solidFill>
                <a:latin typeface="Trebuchet MS" panose="020B0703020202090204" pitchFamily="34" charset="0"/>
              </a:rPr>
              <a:t> (not the image to the target).  If application of a transform produces unexpected results, you may need to apply the inverse transform instead (i.e., t4 = inv(t4)).</a:t>
            </a:r>
          </a:p>
          <a:p>
            <a:endParaRPr lang="en-US" sz="2000">
              <a:solidFill>
                <a:schemeClr val="bg1"/>
              </a:solidFill>
              <a:latin typeface="Trebuchet MS" panose="020B0703020202090204" pitchFamily="34" charset="0"/>
            </a:endParaRPr>
          </a:p>
          <a:p>
            <a:r>
              <a:rPr lang="en-US" sz="2000">
                <a:solidFill>
                  <a:schemeClr val="bg1"/>
                </a:solidFill>
                <a:latin typeface="Trebuchet MS" panose="020B0703020202090204" pitchFamily="34" charset="0"/>
              </a:rPr>
              <a:t>• A gallery of elementary transforms is provided in Appendix A3 that demonstrate how scaling, translation, rotation, and shearing are related to the t4 matrix entries. In practice, you usually do not create a t4 matrix by hand (except in some instances where a simple adjustment of the data is required). Instead, a t4 matrix is typically generated via image co-registration using software such as Freesurfer (example shown later).</a:t>
            </a:r>
          </a:p>
        </p:txBody>
      </p:sp>
      <p:sp>
        <p:nvSpPr>
          <p:cNvPr id="7" name="TextBox 6">
            <a:extLst>
              <a:ext uri="{FF2B5EF4-FFF2-40B4-BE49-F238E27FC236}">
                <a16:creationId xmlns:a16="http://schemas.microsoft.com/office/drawing/2014/main" id="{E3ACB7C2-438F-DD5C-D013-9CFCB86D3323}"/>
              </a:ext>
            </a:extLst>
          </p:cNvPr>
          <p:cNvSpPr txBox="1"/>
          <p:nvPr/>
        </p:nvSpPr>
        <p:spPr>
          <a:xfrm>
            <a:off x="647664" y="589139"/>
            <a:ext cx="5873452" cy="584775"/>
          </a:xfrm>
          <a:prstGeom prst="rect">
            <a:avLst/>
          </a:prstGeom>
          <a:noFill/>
        </p:spPr>
        <p:txBody>
          <a:bodyPr wrap="square" rtlCol="0">
            <a:spAutoFit/>
          </a:bodyPr>
          <a:lstStyle/>
          <a:p>
            <a:r>
              <a:rPr lang="en-US" sz="3200" b="1" u="sng">
                <a:solidFill>
                  <a:schemeClr val="bg1"/>
                </a:solidFill>
                <a:latin typeface="Trebuchet MS" panose="020B0703020202090204" pitchFamily="34" charset="0"/>
              </a:rPr>
              <a:t>Usage details (cont.) </a:t>
            </a:r>
          </a:p>
        </p:txBody>
      </p:sp>
    </p:spTree>
    <p:extLst>
      <p:ext uri="{BB962C8B-B14F-4D97-AF65-F5344CB8AC3E}">
        <p14:creationId xmlns:p14="http://schemas.microsoft.com/office/powerpoint/2010/main" val="3827945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2EDF5-34E0-F6DD-5455-5ABEE78FB8E6}"/>
            </a:ext>
          </a:extLst>
        </p:cNvPr>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7B726D3B-BC41-A9C2-4AD5-39B9A6C6D96B}"/>
              </a:ext>
            </a:extLst>
          </p:cNvPr>
          <p:cNvSpPr>
            <a:spLocks noGrp="1"/>
          </p:cNvSpPr>
          <p:nvPr>
            <p:ph type="sldNum" sz="quarter" idx="12"/>
          </p:nvPr>
        </p:nvSpPr>
        <p:spPr>
          <a:xfrm>
            <a:off x="8647670" y="6169318"/>
            <a:ext cx="2743200" cy="365125"/>
          </a:xfrm>
        </p:spPr>
        <p:txBody>
          <a:bodyPr/>
          <a:lstStyle/>
          <a:p>
            <a:fld id="{6F215E70-FDA5-6C45-8C7C-E922E56675B4}" type="slidenum">
              <a:rPr lang="en-US"/>
              <a:t>17</a:t>
            </a:fld>
            <a:endParaRPr lang="en-US"/>
          </a:p>
        </p:txBody>
      </p:sp>
      <p:sp>
        <p:nvSpPr>
          <p:cNvPr id="4" name="TextBox 3">
            <a:extLst>
              <a:ext uri="{FF2B5EF4-FFF2-40B4-BE49-F238E27FC236}">
                <a16:creationId xmlns:a16="http://schemas.microsoft.com/office/drawing/2014/main" id="{CBAF3E2E-F737-3270-2F26-77EB00E51BE1}"/>
              </a:ext>
            </a:extLst>
          </p:cNvPr>
          <p:cNvSpPr txBox="1"/>
          <p:nvPr/>
        </p:nvSpPr>
        <p:spPr>
          <a:xfrm>
            <a:off x="1041516" y="2387319"/>
            <a:ext cx="10349354" cy="3416320"/>
          </a:xfrm>
          <a:prstGeom prst="rect">
            <a:avLst/>
          </a:prstGeom>
          <a:noFill/>
        </p:spPr>
        <p:txBody>
          <a:bodyPr wrap="square" rtlCol="0">
            <a:spAutoFit/>
          </a:bodyPr>
          <a:lstStyle/>
          <a:p>
            <a:r>
              <a:rPr lang="en-US" sz="2400">
                <a:solidFill>
                  <a:schemeClr val="bg1"/>
                </a:solidFill>
                <a:latin typeface="Trebuchet MS" panose="020B0703020202090204" pitchFamily="34" charset="0"/>
              </a:rPr>
              <a:t>affine3d_img allows you to explicitly specify an interpolation method as the final parameter.</a:t>
            </a:r>
          </a:p>
          <a:p>
            <a:endParaRPr lang="en-US" sz="2400">
              <a:solidFill>
                <a:schemeClr val="bg1"/>
              </a:solidFill>
              <a:latin typeface="Trebuchet MS" panose="020B0703020202090204" pitchFamily="34" charset="0"/>
            </a:endParaRPr>
          </a:p>
          <a:p>
            <a:r>
              <a:rPr lang="en-US" sz="2400">
                <a:solidFill>
                  <a:schemeClr val="bg1"/>
                </a:solidFill>
                <a:latin typeface="Trebuchet MS" panose="020B0703020202090204" pitchFamily="34" charset="0"/>
              </a:rPr>
              <a:t>The default is </a:t>
            </a:r>
            <a:r>
              <a:rPr lang="en-US" sz="2000">
                <a:solidFill>
                  <a:srgbClr val="FF40FF"/>
                </a:solidFill>
                <a:latin typeface="Trebuchet MS" panose="020B0703020202090204" pitchFamily="34" charset="0"/>
                <a:cs typeface="Courier New" panose="02070309020205020404" pitchFamily="49" charset="0"/>
              </a:rPr>
              <a:t>'linear</a:t>
            </a:r>
            <a:r>
              <a:rPr lang="en-US" sz="2400">
                <a:solidFill>
                  <a:srgbClr val="FF40FF"/>
                </a:solidFill>
                <a:latin typeface="Trebuchet MS" panose="020B0703020202090204" pitchFamily="34" charset="0"/>
                <a:cs typeface="Courier New" panose="02070309020205020404" pitchFamily="49" charset="0"/>
              </a:rPr>
              <a:t>'</a:t>
            </a:r>
            <a:r>
              <a:rPr lang="en-US" sz="2400">
                <a:solidFill>
                  <a:schemeClr val="bg1"/>
                </a:solidFill>
                <a:latin typeface="Trebuchet MS" panose="020B0703020202090204" pitchFamily="34" charset="0"/>
              </a:rPr>
              <a:t>, but  </a:t>
            </a:r>
            <a:r>
              <a:rPr lang="en-US" sz="2000">
                <a:solidFill>
                  <a:srgbClr val="FF40FF"/>
                </a:solidFill>
                <a:latin typeface="Trebuchet MS" panose="020B0703020202090204" pitchFamily="34" charset="0"/>
                <a:cs typeface="Courier New" panose="02070309020205020404" pitchFamily="49" charset="0"/>
              </a:rPr>
              <a:t>'nearest' </a:t>
            </a:r>
            <a:r>
              <a:rPr lang="en-US" sz="2400">
                <a:solidFill>
                  <a:schemeClr val="bg1"/>
                </a:solidFill>
                <a:latin typeface="Trebuchet MS" panose="020B0703020202090204" pitchFamily="34" charset="0"/>
                <a:cs typeface="Courier New" panose="02070309020205020404" pitchFamily="49" charset="0"/>
              </a:rPr>
              <a:t>is recommended when working with some types of data, such as a segmented structural image (i.e., a structural image having integer voxel values indicating tissue class) or a binary mask (voxels values are either zero or one).</a:t>
            </a:r>
            <a:endParaRPr lang="en-US" sz="2400">
              <a:solidFill>
                <a:schemeClr val="bg1"/>
              </a:solidFill>
              <a:latin typeface="Trebuchet MS" panose="020B0703020202090204" pitchFamily="34" charset="0"/>
            </a:endParaRPr>
          </a:p>
          <a:p>
            <a:r>
              <a:rPr lang="en-US" sz="2400">
                <a:solidFill>
                  <a:schemeClr val="bg1"/>
                </a:solidFill>
                <a:latin typeface="Trebuchet MS" panose="020B0703020202090204" pitchFamily="34" charset="0"/>
              </a:rPr>
              <a:t> </a:t>
            </a:r>
          </a:p>
          <a:p>
            <a:r>
              <a:rPr lang="en-US" sz="2400">
                <a:solidFill>
                  <a:schemeClr val="bg1"/>
                </a:solidFill>
                <a:latin typeface="Trebuchet MS" panose="020B0703020202090204" pitchFamily="34" charset="0"/>
              </a:rPr>
              <a:t>The next slide explains why.</a:t>
            </a:r>
          </a:p>
        </p:txBody>
      </p:sp>
      <p:sp>
        <p:nvSpPr>
          <p:cNvPr id="2" name="TextBox 1">
            <a:extLst>
              <a:ext uri="{FF2B5EF4-FFF2-40B4-BE49-F238E27FC236}">
                <a16:creationId xmlns:a16="http://schemas.microsoft.com/office/drawing/2014/main" id="{D21F2685-5D64-A6C9-FA1A-ABEF87DFCD8A}"/>
              </a:ext>
            </a:extLst>
          </p:cNvPr>
          <p:cNvSpPr txBox="1"/>
          <p:nvPr/>
        </p:nvSpPr>
        <p:spPr>
          <a:xfrm>
            <a:off x="541421" y="645069"/>
            <a:ext cx="10960767" cy="584775"/>
          </a:xfrm>
          <a:prstGeom prst="rect">
            <a:avLst/>
          </a:prstGeom>
          <a:noFill/>
        </p:spPr>
        <p:txBody>
          <a:bodyPr wrap="square" rtlCol="0">
            <a:spAutoFit/>
          </a:bodyPr>
          <a:lstStyle/>
          <a:p>
            <a:r>
              <a:rPr lang="en-US" sz="3200">
                <a:solidFill>
                  <a:schemeClr val="bg1"/>
                </a:solidFill>
                <a:latin typeface="Trebuchet MS" panose="020B0703020202090204" pitchFamily="34" charset="0"/>
                <a:cs typeface="Courier New" panose="02070309020205020404" pitchFamily="49" charset="0"/>
              </a:rPr>
              <a:t>affine3d_img : </a:t>
            </a:r>
            <a:r>
              <a:rPr lang="en-US" sz="3200" u="sng">
                <a:solidFill>
                  <a:schemeClr val="bg1"/>
                </a:solidFill>
                <a:latin typeface="Trebuchet MS" panose="020B0703020202090204" pitchFamily="34" charset="0"/>
                <a:cs typeface="Courier New" panose="02070309020205020404" pitchFamily="49" charset="0"/>
              </a:rPr>
              <a:t>Specifying the interpolation method</a:t>
            </a:r>
          </a:p>
        </p:txBody>
      </p:sp>
      <p:sp>
        <p:nvSpPr>
          <p:cNvPr id="3" name="TextBox 2">
            <a:extLst>
              <a:ext uri="{FF2B5EF4-FFF2-40B4-BE49-F238E27FC236}">
                <a16:creationId xmlns:a16="http://schemas.microsoft.com/office/drawing/2014/main" id="{3073F59E-0B26-292A-B90C-4FB30B7CE3A8}"/>
              </a:ext>
            </a:extLst>
          </p:cNvPr>
          <p:cNvSpPr txBox="1"/>
          <p:nvPr/>
        </p:nvSpPr>
        <p:spPr>
          <a:xfrm>
            <a:off x="541421" y="1512970"/>
            <a:ext cx="11165305" cy="400110"/>
          </a:xfrm>
          <a:prstGeom prst="rect">
            <a:avLst/>
          </a:prstGeom>
          <a:noFill/>
          <a:ln>
            <a:solidFill>
              <a:schemeClr val="bg1"/>
            </a:solidFill>
          </a:ln>
        </p:spPr>
        <p:txBody>
          <a:bodyPr wrap="square" rtlCol="0">
            <a:spAutoFit/>
          </a:bodyPr>
          <a:lstStyle/>
          <a:p>
            <a:r>
              <a:rPr lang="en-US" sz="2000" b="1">
                <a:solidFill>
                  <a:srgbClr val="00B050"/>
                </a:solidFill>
                <a:latin typeface="Courier New" panose="02070309020205020404" pitchFamily="49" charset="0"/>
                <a:cs typeface="Courier New" panose="02070309020205020404" pitchFamily="49" charset="0"/>
              </a:rPr>
              <a:t>transformed_image </a:t>
            </a:r>
            <a:r>
              <a:rPr lang="en-US" sz="2000" b="1">
                <a:solidFill>
                  <a:schemeClr val="bg1"/>
                </a:solidFill>
                <a:latin typeface="Courier New" panose="02070309020205020404" pitchFamily="49" charset="0"/>
                <a:cs typeface="Courier New" panose="02070309020205020404" pitchFamily="49" charset="0"/>
              </a:rPr>
              <a:t>= affine3d_img(</a:t>
            </a:r>
            <a:r>
              <a:rPr lang="en-US" sz="2000" b="1">
                <a:solidFill>
                  <a:srgbClr val="FF0000"/>
                </a:solidFill>
                <a:latin typeface="Courier New" panose="02070309020205020404" pitchFamily="49" charset="0"/>
                <a:cs typeface="Courier New" panose="02070309020205020404" pitchFamily="49" charset="0"/>
              </a:rPr>
              <a:t>image</a:t>
            </a:r>
            <a:r>
              <a:rPr lang="en-US" sz="2000" b="1">
                <a:solidFill>
                  <a:schemeClr val="bg1"/>
                </a:solidFill>
                <a:latin typeface="Courier New" panose="02070309020205020404" pitchFamily="49" charset="0"/>
                <a:cs typeface="Courier New" panose="02070309020205020404" pitchFamily="49" charset="0"/>
              </a:rPr>
              <a:t>,</a:t>
            </a:r>
            <a:r>
              <a:rPr lang="en-US" sz="2000" b="1">
                <a:solidFill>
                  <a:srgbClr val="FF0000"/>
                </a:solidFill>
                <a:latin typeface="Courier New" panose="02070309020205020404" pitchFamily="49" charset="0"/>
                <a:cs typeface="Courier New" panose="02070309020205020404" pitchFamily="49" charset="0"/>
              </a:rPr>
              <a:t>image_info</a:t>
            </a:r>
            <a:r>
              <a:rPr lang="en-US" sz="2000" b="1">
                <a:solidFill>
                  <a:schemeClr val="bg1"/>
                </a:solidFill>
                <a:latin typeface="Courier New" panose="02070309020205020404" pitchFamily="49" charset="0"/>
                <a:cs typeface="Courier New" panose="02070309020205020404" pitchFamily="49" charset="0"/>
              </a:rPr>
              <a:t>,</a:t>
            </a:r>
            <a:r>
              <a:rPr lang="en-US" sz="2000" b="1">
                <a:solidFill>
                  <a:srgbClr val="FFFF00"/>
                </a:solidFill>
                <a:latin typeface="Courier New" panose="02070309020205020404" pitchFamily="49" charset="0"/>
                <a:cs typeface="Courier New" panose="02070309020205020404" pitchFamily="49" charset="0"/>
              </a:rPr>
              <a:t>target_info</a:t>
            </a:r>
            <a:r>
              <a:rPr lang="en-US" sz="2000" b="1">
                <a:solidFill>
                  <a:srgbClr val="00B0F0"/>
                </a:solidFill>
                <a:latin typeface="Courier New" panose="02070309020205020404" pitchFamily="49" charset="0"/>
                <a:cs typeface="Courier New" panose="02070309020205020404" pitchFamily="49" charset="0"/>
              </a:rPr>
              <a:t>,t4,</a:t>
            </a:r>
            <a:r>
              <a:rPr lang="en-US" sz="2000" b="1">
                <a:solidFill>
                  <a:srgbClr val="FF40FF"/>
                </a:solidFill>
                <a:latin typeface="Courier New" panose="02070309020205020404" pitchFamily="49" charset="0"/>
                <a:cs typeface="Courier New" panose="02070309020205020404" pitchFamily="49" charset="0"/>
              </a:rPr>
              <a:t>interp</a:t>
            </a:r>
            <a:r>
              <a:rPr lang="en-US" sz="2000" b="1">
                <a:solidFill>
                  <a:schemeClr val="bg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2552846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4180D-8A20-2982-84AF-5089F113A23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02AB36-96B2-E81F-6A92-2BC19BD8B434}"/>
              </a:ext>
            </a:extLst>
          </p:cNvPr>
          <p:cNvSpPr>
            <a:spLocks noGrp="1"/>
          </p:cNvSpPr>
          <p:nvPr>
            <p:ph type="sldNum" sz="quarter" idx="12"/>
          </p:nvPr>
        </p:nvSpPr>
        <p:spPr/>
        <p:txBody>
          <a:bodyPr/>
          <a:lstStyle/>
          <a:p>
            <a:fld id="{6F215E70-FDA5-6C45-8C7C-E922E56675B4}" type="slidenum">
              <a:rPr lang="en-US"/>
              <a:t>18</a:t>
            </a:fld>
            <a:endParaRPr lang="en-US"/>
          </a:p>
        </p:txBody>
      </p:sp>
      <p:sp>
        <p:nvSpPr>
          <p:cNvPr id="23" name="Rectangle 22">
            <a:extLst>
              <a:ext uri="{FF2B5EF4-FFF2-40B4-BE49-F238E27FC236}">
                <a16:creationId xmlns:a16="http://schemas.microsoft.com/office/drawing/2014/main" id="{E7BFFDC6-7F65-3861-1563-80CB30C8B167}"/>
              </a:ext>
            </a:extLst>
          </p:cNvPr>
          <p:cNvSpPr/>
          <p:nvPr/>
        </p:nvSpPr>
        <p:spPr>
          <a:xfrm>
            <a:off x="2276911" y="847337"/>
            <a:ext cx="1257300" cy="357258"/>
          </a:xfrm>
          <a:prstGeom prst="rect">
            <a:avLst/>
          </a:prstGeom>
          <a:solidFill>
            <a:schemeClr val="bg1"/>
          </a:solid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3286B9D-5869-57BF-9387-DD5071B54296}"/>
              </a:ext>
            </a:extLst>
          </p:cNvPr>
          <p:cNvSpPr/>
          <p:nvPr/>
        </p:nvSpPr>
        <p:spPr>
          <a:xfrm>
            <a:off x="3572311" y="847337"/>
            <a:ext cx="1346200" cy="357258"/>
          </a:xfrm>
          <a:prstGeom prst="rect">
            <a:avLst/>
          </a:prstGeom>
          <a:solidFill>
            <a:schemeClr val="tx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208C388F-E814-87FD-6313-55CFD01ED22C}"/>
              </a:ext>
            </a:extLst>
          </p:cNvPr>
          <p:cNvSpPr txBox="1"/>
          <p:nvPr/>
        </p:nvSpPr>
        <p:spPr>
          <a:xfrm>
            <a:off x="2194391" y="318609"/>
            <a:ext cx="3543621" cy="400110"/>
          </a:xfrm>
          <a:prstGeom prst="rect">
            <a:avLst/>
          </a:prstGeom>
          <a:noFill/>
        </p:spPr>
        <p:txBody>
          <a:bodyPr wrap="square" rtlCol="0">
            <a:spAutoFit/>
          </a:bodyPr>
          <a:lstStyle/>
          <a:p>
            <a:r>
              <a:rPr lang="en-US" sz="2000">
                <a:solidFill>
                  <a:schemeClr val="bg1"/>
                </a:solidFill>
                <a:effectLst/>
                <a:latin typeface="Trebuchet MS" panose="020B0703020202090204" pitchFamily="34" charset="0"/>
              </a:rPr>
              <a:t>inside-brain    outside</a:t>
            </a:r>
          </a:p>
        </p:txBody>
      </p:sp>
      <p:grpSp>
        <p:nvGrpSpPr>
          <p:cNvPr id="26" name="Group 25">
            <a:extLst>
              <a:ext uri="{FF2B5EF4-FFF2-40B4-BE49-F238E27FC236}">
                <a16:creationId xmlns:a16="http://schemas.microsoft.com/office/drawing/2014/main" id="{D332FD87-EE06-A00D-C961-87FD80A4D3D4}"/>
              </a:ext>
            </a:extLst>
          </p:cNvPr>
          <p:cNvGrpSpPr/>
          <p:nvPr/>
        </p:nvGrpSpPr>
        <p:grpSpPr>
          <a:xfrm>
            <a:off x="2246066" y="2229165"/>
            <a:ext cx="2630591" cy="389001"/>
            <a:chOff x="1026866" y="2385577"/>
            <a:chExt cx="2630591" cy="389001"/>
          </a:xfrm>
        </p:grpSpPr>
        <p:sp>
          <p:nvSpPr>
            <p:cNvPr id="10" name="Rectangle 9">
              <a:extLst>
                <a:ext uri="{FF2B5EF4-FFF2-40B4-BE49-F238E27FC236}">
                  <a16:creationId xmlns:a16="http://schemas.microsoft.com/office/drawing/2014/main" id="{AC197A12-6EFA-BD84-7885-71845A8D48CC}"/>
                </a:ext>
              </a:extLst>
            </p:cNvPr>
            <p:cNvSpPr/>
            <p:nvPr/>
          </p:nvSpPr>
          <p:spPr>
            <a:xfrm>
              <a:off x="1026866" y="2385577"/>
              <a:ext cx="1296352" cy="389001"/>
            </a:xfrm>
            <a:prstGeom prst="rect">
              <a:avLst/>
            </a:pr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10C57DD4-7E09-A9F9-1CF9-F79AB95CE46D}"/>
                </a:ext>
              </a:extLst>
            </p:cNvPr>
            <p:cNvSpPr/>
            <p:nvPr/>
          </p:nvSpPr>
          <p:spPr>
            <a:xfrm>
              <a:off x="1026866" y="2385577"/>
              <a:ext cx="339924" cy="389001"/>
            </a:xfrm>
            <a:prstGeom prst="rect">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0C3AF438-93AA-08E1-2462-B868B0723EAF}"/>
                </a:ext>
              </a:extLst>
            </p:cNvPr>
            <p:cNvSpPr/>
            <p:nvPr/>
          </p:nvSpPr>
          <p:spPr>
            <a:xfrm>
              <a:off x="1408644" y="2385577"/>
              <a:ext cx="339924" cy="389001"/>
            </a:xfrm>
            <a:prstGeom prst="rect">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FB249BDB-100D-EDC9-43C7-405C310288A0}"/>
                </a:ext>
              </a:extLst>
            </p:cNvPr>
            <p:cNvSpPr/>
            <p:nvPr/>
          </p:nvSpPr>
          <p:spPr>
            <a:xfrm>
              <a:off x="1790422" y="2385577"/>
              <a:ext cx="339924" cy="389001"/>
            </a:xfrm>
            <a:prstGeom prst="rect">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B08D5351-7C62-CE0D-C97F-BB92D7DCC42B}"/>
                </a:ext>
              </a:extLst>
            </p:cNvPr>
            <p:cNvSpPr/>
            <p:nvPr/>
          </p:nvSpPr>
          <p:spPr>
            <a:xfrm>
              <a:off x="2172200" y="2385577"/>
              <a:ext cx="339924" cy="38900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390BAA66-C72D-BFA5-E3C1-F78932404A6B}"/>
                </a:ext>
              </a:extLst>
            </p:cNvPr>
            <p:cNvSpPr/>
            <p:nvPr/>
          </p:nvSpPr>
          <p:spPr>
            <a:xfrm>
              <a:off x="2553978" y="2385577"/>
              <a:ext cx="339924" cy="38900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031B9F3A-904B-FA8F-82D2-6496A47D976F}"/>
                </a:ext>
              </a:extLst>
            </p:cNvPr>
            <p:cNvSpPr/>
            <p:nvPr/>
          </p:nvSpPr>
          <p:spPr>
            <a:xfrm>
              <a:off x="2935756" y="2385577"/>
              <a:ext cx="339924" cy="38900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7F03E1BD-21FC-F922-1C1E-1F2469FA5B98}"/>
                </a:ext>
              </a:extLst>
            </p:cNvPr>
            <p:cNvSpPr/>
            <p:nvPr/>
          </p:nvSpPr>
          <p:spPr>
            <a:xfrm>
              <a:off x="3317533" y="2385577"/>
              <a:ext cx="339924" cy="38900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3" name="TextBox 52">
            <a:extLst>
              <a:ext uri="{FF2B5EF4-FFF2-40B4-BE49-F238E27FC236}">
                <a16:creationId xmlns:a16="http://schemas.microsoft.com/office/drawing/2014/main" id="{2DC7112C-0EB8-74E0-422A-7E661F328A94}"/>
              </a:ext>
            </a:extLst>
          </p:cNvPr>
          <p:cNvSpPr txBox="1"/>
          <p:nvPr/>
        </p:nvSpPr>
        <p:spPr>
          <a:xfrm>
            <a:off x="5489649" y="654685"/>
            <a:ext cx="5338772" cy="707886"/>
          </a:xfrm>
          <a:prstGeom prst="rect">
            <a:avLst/>
          </a:prstGeom>
          <a:noFill/>
        </p:spPr>
        <p:txBody>
          <a:bodyPr wrap="square" rtlCol="0">
            <a:spAutoFit/>
          </a:bodyPr>
          <a:lstStyle/>
          <a:p>
            <a:r>
              <a:rPr lang="en-US" sz="2000">
                <a:solidFill>
                  <a:schemeClr val="bg1"/>
                </a:solidFill>
                <a:latin typeface="Trebuchet MS" panose="020B0703020202090204" pitchFamily="34" charset="0"/>
                <a:cs typeface="Courier New" panose="02070309020205020404" pitchFamily="49" charset="0"/>
              </a:rPr>
              <a:t>This depicts a boundary at the edge of a binary mask that is to be transformed.</a:t>
            </a:r>
          </a:p>
        </p:txBody>
      </p:sp>
      <p:sp>
        <p:nvSpPr>
          <p:cNvPr id="54" name="TextBox 53">
            <a:extLst>
              <a:ext uri="{FF2B5EF4-FFF2-40B4-BE49-F238E27FC236}">
                <a16:creationId xmlns:a16="http://schemas.microsoft.com/office/drawing/2014/main" id="{06BC3EBE-54A8-2E24-A3F1-3DA3414F40B2}"/>
              </a:ext>
            </a:extLst>
          </p:cNvPr>
          <p:cNvSpPr txBox="1"/>
          <p:nvPr/>
        </p:nvSpPr>
        <p:spPr>
          <a:xfrm>
            <a:off x="5447867" y="1824162"/>
            <a:ext cx="5724452" cy="1323439"/>
          </a:xfrm>
          <a:prstGeom prst="rect">
            <a:avLst/>
          </a:prstGeom>
          <a:noFill/>
        </p:spPr>
        <p:txBody>
          <a:bodyPr wrap="square" rtlCol="0">
            <a:spAutoFit/>
          </a:bodyPr>
          <a:lstStyle/>
          <a:p>
            <a:r>
              <a:rPr lang="en-US" sz="2000">
                <a:solidFill>
                  <a:schemeClr val="bg1"/>
                </a:solidFill>
                <a:latin typeface="Trebuchet MS" panose="020B0703020202090204" pitchFamily="34" charset="0"/>
                <a:cs typeface="Courier New" panose="02070309020205020404" pitchFamily="49" charset="0"/>
              </a:rPr>
              <a:t>Depending on the relative voxel sizes of the input and target images,  some voxels in the output image might straddle  the boundary following transformation as indicated here.</a:t>
            </a:r>
          </a:p>
        </p:txBody>
      </p:sp>
      <p:grpSp>
        <p:nvGrpSpPr>
          <p:cNvPr id="20" name="Group 19">
            <a:extLst>
              <a:ext uri="{FF2B5EF4-FFF2-40B4-BE49-F238E27FC236}">
                <a16:creationId xmlns:a16="http://schemas.microsoft.com/office/drawing/2014/main" id="{771BADBF-9DA5-957F-369F-166D4177DAF0}"/>
              </a:ext>
            </a:extLst>
          </p:cNvPr>
          <p:cNvGrpSpPr/>
          <p:nvPr/>
        </p:nvGrpSpPr>
        <p:grpSpPr>
          <a:xfrm>
            <a:off x="2246066" y="3753909"/>
            <a:ext cx="2630591" cy="389001"/>
            <a:chOff x="1068720" y="3961121"/>
            <a:chExt cx="2630591" cy="389001"/>
          </a:xfrm>
        </p:grpSpPr>
        <p:sp>
          <p:nvSpPr>
            <p:cNvPr id="3" name="Rectangle 2">
              <a:extLst>
                <a:ext uri="{FF2B5EF4-FFF2-40B4-BE49-F238E27FC236}">
                  <a16:creationId xmlns:a16="http://schemas.microsoft.com/office/drawing/2014/main" id="{CF5DCC76-4BB9-15F4-5A0B-07FE6972FEE4}"/>
                </a:ext>
              </a:extLst>
            </p:cNvPr>
            <p:cNvSpPr/>
            <p:nvPr/>
          </p:nvSpPr>
          <p:spPr>
            <a:xfrm>
              <a:off x="1068720" y="3961121"/>
              <a:ext cx="339924" cy="389001"/>
            </a:xfrm>
            <a:prstGeom prst="rect">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679CFAF-3BCE-CFEB-A6BC-CE565C1C83DB}"/>
                </a:ext>
              </a:extLst>
            </p:cNvPr>
            <p:cNvSpPr/>
            <p:nvPr/>
          </p:nvSpPr>
          <p:spPr>
            <a:xfrm>
              <a:off x="1450498" y="3961121"/>
              <a:ext cx="339924" cy="389001"/>
            </a:xfrm>
            <a:prstGeom prst="rect">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A8F81E9-B996-55E2-B53C-8E3FC4F00175}"/>
                </a:ext>
              </a:extLst>
            </p:cNvPr>
            <p:cNvSpPr/>
            <p:nvPr/>
          </p:nvSpPr>
          <p:spPr>
            <a:xfrm>
              <a:off x="1832276" y="3961121"/>
              <a:ext cx="339924" cy="389001"/>
            </a:xfrm>
            <a:prstGeom prst="rect">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6B68123-A2C4-4639-43B4-4E3664CD7259}"/>
                </a:ext>
              </a:extLst>
            </p:cNvPr>
            <p:cNvSpPr/>
            <p:nvPr/>
          </p:nvSpPr>
          <p:spPr>
            <a:xfrm>
              <a:off x="2214054" y="3961121"/>
              <a:ext cx="339924" cy="389001"/>
            </a:xfrm>
            <a:prstGeom prst="rect">
              <a:avLst/>
            </a:prstGeom>
            <a:solidFill>
              <a:schemeClr val="bg1">
                <a:lumMod val="5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279CA7B-9587-DA42-0929-CC6F50BB878B}"/>
                </a:ext>
              </a:extLst>
            </p:cNvPr>
            <p:cNvSpPr/>
            <p:nvPr/>
          </p:nvSpPr>
          <p:spPr>
            <a:xfrm>
              <a:off x="2595832" y="3961121"/>
              <a:ext cx="339924" cy="38900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81C943D-50E8-6252-02F1-A99E0A587BD3}"/>
                </a:ext>
              </a:extLst>
            </p:cNvPr>
            <p:cNvSpPr/>
            <p:nvPr/>
          </p:nvSpPr>
          <p:spPr>
            <a:xfrm>
              <a:off x="2977610" y="3961121"/>
              <a:ext cx="339924" cy="38900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7DEFC4C-F858-C87E-8E86-FC7D8C07B455}"/>
                </a:ext>
              </a:extLst>
            </p:cNvPr>
            <p:cNvSpPr/>
            <p:nvPr/>
          </p:nvSpPr>
          <p:spPr>
            <a:xfrm>
              <a:off x="3359387" y="3961121"/>
              <a:ext cx="339924" cy="38900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Box 10">
            <a:extLst>
              <a:ext uri="{FF2B5EF4-FFF2-40B4-BE49-F238E27FC236}">
                <a16:creationId xmlns:a16="http://schemas.microsoft.com/office/drawing/2014/main" id="{5E25D5E0-0C83-BF45-DCBD-788E57A6FFB2}"/>
              </a:ext>
            </a:extLst>
          </p:cNvPr>
          <p:cNvSpPr txBox="1"/>
          <p:nvPr/>
        </p:nvSpPr>
        <p:spPr>
          <a:xfrm>
            <a:off x="5489647" y="3442120"/>
            <a:ext cx="4785321" cy="1015663"/>
          </a:xfrm>
          <a:prstGeom prst="rect">
            <a:avLst/>
          </a:prstGeom>
          <a:noFill/>
        </p:spPr>
        <p:txBody>
          <a:bodyPr wrap="square" rtlCol="0">
            <a:spAutoFit/>
          </a:bodyPr>
          <a:lstStyle/>
          <a:p>
            <a:r>
              <a:rPr lang="en-US" sz="2000">
                <a:solidFill>
                  <a:schemeClr val="bg1"/>
                </a:solidFill>
                <a:latin typeface="Trebuchet MS" panose="020B0703020202090204" pitchFamily="34" charset="0"/>
                <a:cs typeface="Courier New" panose="02070309020205020404" pitchFamily="49" charset="0"/>
              </a:rPr>
              <a:t>Linear interpolation will assign an intermediate value to the voxel, which is not meaningful in this application.</a:t>
            </a:r>
          </a:p>
        </p:txBody>
      </p:sp>
      <p:sp>
        <p:nvSpPr>
          <p:cNvPr id="12" name="TextBox 11">
            <a:extLst>
              <a:ext uri="{FF2B5EF4-FFF2-40B4-BE49-F238E27FC236}">
                <a16:creationId xmlns:a16="http://schemas.microsoft.com/office/drawing/2014/main" id="{C3836E7F-63B7-8D5F-2AFD-58F9E4749001}"/>
              </a:ext>
            </a:extLst>
          </p:cNvPr>
          <p:cNvSpPr txBox="1"/>
          <p:nvPr/>
        </p:nvSpPr>
        <p:spPr>
          <a:xfrm>
            <a:off x="5489646" y="4770281"/>
            <a:ext cx="5447059" cy="1692771"/>
          </a:xfrm>
          <a:prstGeom prst="rect">
            <a:avLst/>
          </a:prstGeom>
          <a:noFill/>
        </p:spPr>
        <p:txBody>
          <a:bodyPr wrap="square" rtlCol="0">
            <a:spAutoFit/>
          </a:bodyPr>
          <a:lstStyle/>
          <a:p>
            <a:r>
              <a:rPr lang="en-US" sz="2000">
                <a:solidFill>
                  <a:schemeClr val="bg1"/>
                </a:solidFill>
                <a:latin typeface="Trebuchet MS" panose="020B0703020202090204" pitchFamily="34" charset="0"/>
                <a:cs typeface="Courier New" panose="02070309020205020404" pitchFamily="49" charset="0"/>
              </a:rPr>
              <a:t>Instead, nearest interpolation is recommended as it will assign a valid value  (i.e., 0 or 1) to the voxel. The same argument applies to a segmented image in which voxel values are integer tissue classes</a:t>
            </a:r>
            <a:r>
              <a:rPr lang="en-US" sz="2400">
                <a:solidFill>
                  <a:schemeClr val="bg1"/>
                </a:solidFill>
                <a:latin typeface="Avenir Next Condensed" panose="020B0506020202020204" pitchFamily="34" charset="0"/>
                <a:cs typeface="Courier New" panose="02070309020205020404" pitchFamily="49" charset="0"/>
              </a:rPr>
              <a:t>.</a:t>
            </a:r>
          </a:p>
        </p:txBody>
      </p:sp>
      <p:grpSp>
        <p:nvGrpSpPr>
          <p:cNvPr id="21" name="Group 20">
            <a:extLst>
              <a:ext uri="{FF2B5EF4-FFF2-40B4-BE49-F238E27FC236}">
                <a16:creationId xmlns:a16="http://schemas.microsoft.com/office/drawing/2014/main" id="{48FB65EA-3321-1BA4-F0F9-EDE911F25BB8}"/>
              </a:ext>
            </a:extLst>
          </p:cNvPr>
          <p:cNvGrpSpPr/>
          <p:nvPr/>
        </p:nvGrpSpPr>
        <p:grpSpPr>
          <a:xfrm>
            <a:off x="2246066" y="5297158"/>
            <a:ext cx="2630591" cy="389001"/>
            <a:chOff x="1068720" y="5323892"/>
            <a:chExt cx="2630591" cy="389001"/>
          </a:xfrm>
        </p:grpSpPr>
        <p:sp>
          <p:nvSpPr>
            <p:cNvPr id="13" name="Rectangle 12">
              <a:extLst>
                <a:ext uri="{FF2B5EF4-FFF2-40B4-BE49-F238E27FC236}">
                  <a16:creationId xmlns:a16="http://schemas.microsoft.com/office/drawing/2014/main" id="{BBD24C71-ACD6-A036-1C11-2D710E4910C1}"/>
                </a:ext>
              </a:extLst>
            </p:cNvPr>
            <p:cNvSpPr/>
            <p:nvPr/>
          </p:nvSpPr>
          <p:spPr>
            <a:xfrm>
              <a:off x="1068720" y="5323892"/>
              <a:ext cx="339924" cy="389001"/>
            </a:xfrm>
            <a:prstGeom prst="rect">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4797F8E-C62E-A7FC-6A4E-931804A25D6C}"/>
                </a:ext>
              </a:extLst>
            </p:cNvPr>
            <p:cNvSpPr/>
            <p:nvPr/>
          </p:nvSpPr>
          <p:spPr>
            <a:xfrm>
              <a:off x="1450498" y="5323892"/>
              <a:ext cx="339924" cy="389001"/>
            </a:xfrm>
            <a:prstGeom prst="rect">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E41D79-A838-2E97-6C23-69EA16D763BF}"/>
                </a:ext>
              </a:extLst>
            </p:cNvPr>
            <p:cNvSpPr/>
            <p:nvPr/>
          </p:nvSpPr>
          <p:spPr>
            <a:xfrm>
              <a:off x="1832276" y="5323892"/>
              <a:ext cx="339924" cy="389001"/>
            </a:xfrm>
            <a:prstGeom prst="rect">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6274084-BD0E-6A4F-C8BA-424873FBB8FE}"/>
                </a:ext>
              </a:extLst>
            </p:cNvPr>
            <p:cNvSpPr/>
            <p:nvPr/>
          </p:nvSpPr>
          <p:spPr>
            <a:xfrm>
              <a:off x="2214054" y="5323892"/>
              <a:ext cx="339924" cy="389001"/>
            </a:xfrm>
            <a:prstGeom prst="rect">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26ADFB6-2AA9-A7E8-8FB5-31AAADD0DFA4}"/>
                </a:ext>
              </a:extLst>
            </p:cNvPr>
            <p:cNvSpPr/>
            <p:nvPr/>
          </p:nvSpPr>
          <p:spPr>
            <a:xfrm>
              <a:off x="2595832" y="5323892"/>
              <a:ext cx="339924" cy="38900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7A48D69-889E-2FA3-3D19-2E9271061C1F}"/>
                </a:ext>
              </a:extLst>
            </p:cNvPr>
            <p:cNvSpPr/>
            <p:nvPr/>
          </p:nvSpPr>
          <p:spPr>
            <a:xfrm>
              <a:off x="2977610" y="5323892"/>
              <a:ext cx="339924" cy="38900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46C8746-731E-C3AA-6F7C-B6C251463D45}"/>
                </a:ext>
              </a:extLst>
            </p:cNvPr>
            <p:cNvSpPr/>
            <p:nvPr/>
          </p:nvSpPr>
          <p:spPr>
            <a:xfrm>
              <a:off x="3359387" y="5323892"/>
              <a:ext cx="339924" cy="38900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Oval 21">
            <a:extLst>
              <a:ext uri="{FF2B5EF4-FFF2-40B4-BE49-F238E27FC236}">
                <a16:creationId xmlns:a16="http://schemas.microsoft.com/office/drawing/2014/main" id="{3456A84F-FE0D-C577-3FB1-32F5061B8A2D}"/>
              </a:ext>
            </a:extLst>
          </p:cNvPr>
          <p:cNvSpPr/>
          <p:nvPr/>
        </p:nvSpPr>
        <p:spPr>
          <a:xfrm>
            <a:off x="3144207" y="1966465"/>
            <a:ext cx="914400" cy="914400"/>
          </a:xfrm>
          <a:prstGeom prst="ellipse">
            <a:avLst/>
          </a:prstGeom>
          <a:no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FB5C0532-4CA5-5E23-D9C1-3AC6B1816148}"/>
              </a:ext>
            </a:extLst>
          </p:cNvPr>
          <p:cNvSpPr txBox="1"/>
          <p:nvPr/>
        </p:nvSpPr>
        <p:spPr>
          <a:xfrm>
            <a:off x="1754947" y="5272857"/>
            <a:ext cx="3165133" cy="461665"/>
          </a:xfrm>
          <a:prstGeom prst="rect">
            <a:avLst/>
          </a:prstGeom>
          <a:noFill/>
        </p:spPr>
        <p:txBody>
          <a:bodyPr wrap="square" rtlCol="0">
            <a:spAutoFit/>
          </a:bodyPr>
          <a:lstStyle/>
          <a:p>
            <a:pPr algn="r"/>
            <a:r>
              <a:rPr lang="en-US" sz="2400" b="1"/>
              <a:t>1    1   1    1   </a:t>
            </a:r>
            <a:r>
              <a:rPr lang="en-US" sz="2400" b="1">
                <a:solidFill>
                  <a:schemeClr val="bg1"/>
                </a:solidFill>
              </a:rPr>
              <a:t>0    0    0</a:t>
            </a:r>
          </a:p>
        </p:txBody>
      </p:sp>
      <p:sp>
        <p:nvSpPr>
          <p:cNvPr id="27" name="TextBox 26">
            <a:extLst>
              <a:ext uri="{FF2B5EF4-FFF2-40B4-BE49-F238E27FC236}">
                <a16:creationId xmlns:a16="http://schemas.microsoft.com/office/drawing/2014/main" id="{5C4B85AF-F957-0E75-06C0-2116C28B8E7D}"/>
              </a:ext>
            </a:extLst>
          </p:cNvPr>
          <p:cNvSpPr txBox="1"/>
          <p:nvPr/>
        </p:nvSpPr>
        <p:spPr>
          <a:xfrm>
            <a:off x="1754947" y="2207142"/>
            <a:ext cx="3165133" cy="461665"/>
          </a:xfrm>
          <a:prstGeom prst="rect">
            <a:avLst/>
          </a:prstGeom>
          <a:noFill/>
        </p:spPr>
        <p:txBody>
          <a:bodyPr wrap="square" rtlCol="0">
            <a:spAutoFit/>
          </a:bodyPr>
          <a:lstStyle/>
          <a:p>
            <a:pPr algn="r"/>
            <a:r>
              <a:rPr lang="en-US" sz="2400" b="1"/>
              <a:t>1    1   1   </a:t>
            </a:r>
            <a:r>
              <a:rPr lang="en-US" sz="2400" b="1">
                <a:solidFill>
                  <a:srgbClr val="FFFF00"/>
                </a:solidFill>
              </a:rPr>
              <a:t>  </a:t>
            </a:r>
            <a:r>
              <a:rPr lang="en-US" sz="2400" b="1"/>
              <a:t>    </a:t>
            </a:r>
            <a:r>
              <a:rPr lang="en-US" sz="2400" b="1">
                <a:solidFill>
                  <a:schemeClr val="bg1"/>
                </a:solidFill>
              </a:rPr>
              <a:t>0    0    0</a:t>
            </a:r>
          </a:p>
        </p:txBody>
      </p:sp>
      <p:sp>
        <p:nvSpPr>
          <p:cNvPr id="28" name="TextBox 27">
            <a:extLst>
              <a:ext uri="{FF2B5EF4-FFF2-40B4-BE49-F238E27FC236}">
                <a16:creationId xmlns:a16="http://schemas.microsoft.com/office/drawing/2014/main" id="{7CB03515-6089-C0EA-1B8E-C24342D8A234}"/>
              </a:ext>
            </a:extLst>
          </p:cNvPr>
          <p:cNvSpPr txBox="1"/>
          <p:nvPr/>
        </p:nvSpPr>
        <p:spPr>
          <a:xfrm>
            <a:off x="1754947" y="3727227"/>
            <a:ext cx="3165133" cy="461665"/>
          </a:xfrm>
          <a:prstGeom prst="rect">
            <a:avLst/>
          </a:prstGeom>
          <a:noFill/>
        </p:spPr>
        <p:txBody>
          <a:bodyPr wrap="square" rtlCol="0">
            <a:spAutoFit/>
          </a:bodyPr>
          <a:lstStyle/>
          <a:p>
            <a:pPr algn="r"/>
            <a:r>
              <a:rPr lang="en-US" sz="2400" b="1"/>
              <a:t>1    1   1         </a:t>
            </a:r>
            <a:r>
              <a:rPr lang="en-US" sz="2400" b="1">
                <a:solidFill>
                  <a:schemeClr val="bg1"/>
                </a:solidFill>
              </a:rPr>
              <a:t>0    0    0</a:t>
            </a:r>
          </a:p>
        </p:txBody>
      </p:sp>
      <p:sp>
        <p:nvSpPr>
          <p:cNvPr id="30" name="TextBox 29">
            <a:extLst>
              <a:ext uri="{FF2B5EF4-FFF2-40B4-BE49-F238E27FC236}">
                <a16:creationId xmlns:a16="http://schemas.microsoft.com/office/drawing/2014/main" id="{5C2ADF58-D476-556D-0A0A-25C55E7C8539}"/>
              </a:ext>
            </a:extLst>
          </p:cNvPr>
          <p:cNvSpPr txBox="1"/>
          <p:nvPr/>
        </p:nvSpPr>
        <p:spPr>
          <a:xfrm>
            <a:off x="1063529" y="799233"/>
            <a:ext cx="3335095" cy="461665"/>
          </a:xfrm>
          <a:prstGeom prst="rect">
            <a:avLst/>
          </a:prstGeom>
          <a:noFill/>
        </p:spPr>
        <p:txBody>
          <a:bodyPr wrap="square" rtlCol="0">
            <a:spAutoFit/>
          </a:bodyPr>
          <a:lstStyle/>
          <a:p>
            <a:pPr algn="r"/>
            <a:r>
              <a:rPr lang="en-US" sz="2400" b="1"/>
              <a:t>1                  </a:t>
            </a:r>
            <a:r>
              <a:rPr lang="en-US" sz="2400" b="1">
                <a:solidFill>
                  <a:schemeClr val="bg1"/>
                </a:solidFill>
              </a:rPr>
              <a:t>0</a:t>
            </a:r>
          </a:p>
        </p:txBody>
      </p:sp>
      <p:sp>
        <p:nvSpPr>
          <p:cNvPr id="31" name="TextBox 30">
            <a:extLst>
              <a:ext uri="{FF2B5EF4-FFF2-40B4-BE49-F238E27FC236}">
                <a16:creationId xmlns:a16="http://schemas.microsoft.com/office/drawing/2014/main" id="{365345FA-D54B-799A-46C5-923BDD02AA8D}"/>
              </a:ext>
            </a:extLst>
          </p:cNvPr>
          <p:cNvSpPr txBox="1"/>
          <p:nvPr/>
        </p:nvSpPr>
        <p:spPr>
          <a:xfrm>
            <a:off x="3220612" y="3754619"/>
            <a:ext cx="703397" cy="369332"/>
          </a:xfrm>
          <a:prstGeom prst="rect">
            <a:avLst/>
          </a:prstGeom>
          <a:noFill/>
        </p:spPr>
        <p:txBody>
          <a:bodyPr wrap="square" rtlCol="0">
            <a:spAutoFit/>
          </a:bodyPr>
          <a:lstStyle/>
          <a:p>
            <a:pPr algn="ctr"/>
            <a:r>
              <a:rPr lang="en-US" b="1" spc="-150"/>
              <a:t>0.5</a:t>
            </a:r>
            <a:endParaRPr lang="en-US" b="1" spc="-150">
              <a:solidFill>
                <a:schemeClr val="bg1"/>
              </a:solidFill>
            </a:endParaRPr>
          </a:p>
        </p:txBody>
      </p:sp>
      <p:sp>
        <p:nvSpPr>
          <p:cNvPr id="32" name="TextBox 31">
            <a:extLst>
              <a:ext uri="{FF2B5EF4-FFF2-40B4-BE49-F238E27FC236}">
                <a16:creationId xmlns:a16="http://schemas.microsoft.com/office/drawing/2014/main" id="{CA7EA4BB-8C92-18FE-3D94-C84CBDDD340D}"/>
              </a:ext>
            </a:extLst>
          </p:cNvPr>
          <p:cNvSpPr txBox="1"/>
          <p:nvPr/>
        </p:nvSpPr>
        <p:spPr>
          <a:xfrm>
            <a:off x="249420" y="4271303"/>
            <a:ext cx="3569381" cy="369332"/>
          </a:xfrm>
          <a:prstGeom prst="rect">
            <a:avLst/>
          </a:prstGeom>
          <a:noFill/>
        </p:spPr>
        <p:txBody>
          <a:bodyPr wrap="square" rtlCol="0">
            <a:spAutoFit/>
          </a:bodyPr>
          <a:lstStyle/>
          <a:p>
            <a:r>
              <a:rPr lang="en-US">
                <a:solidFill>
                  <a:srgbClr val="FFFF00"/>
                </a:solidFill>
                <a:latin typeface="Trebuchet MS" panose="020B0703020202090204" pitchFamily="34" charset="0"/>
              </a:rPr>
              <a:t>0.5 is not a valid mask value</a:t>
            </a:r>
          </a:p>
        </p:txBody>
      </p:sp>
      <p:sp>
        <p:nvSpPr>
          <p:cNvPr id="34" name="Up Arrow 33">
            <a:extLst>
              <a:ext uri="{FF2B5EF4-FFF2-40B4-BE49-F238E27FC236}">
                <a16:creationId xmlns:a16="http://schemas.microsoft.com/office/drawing/2014/main" id="{D53EDAE3-1A6C-31FA-B4B5-DAE65288F5C5}"/>
              </a:ext>
            </a:extLst>
          </p:cNvPr>
          <p:cNvSpPr/>
          <p:nvPr/>
        </p:nvSpPr>
        <p:spPr>
          <a:xfrm>
            <a:off x="3416659" y="4275815"/>
            <a:ext cx="235103" cy="389001"/>
          </a:xfrm>
          <a:prstGeom prst="upArrow">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8840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2F48F-9A14-DC36-5F66-8BDD5C14AE2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AB8206-579A-0171-2EEE-9D30CE7F8696}"/>
              </a:ext>
            </a:extLst>
          </p:cNvPr>
          <p:cNvSpPr>
            <a:spLocks noGrp="1"/>
          </p:cNvSpPr>
          <p:nvPr>
            <p:ph type="sldNum" sz="quarter" idx="12"/>
          </p:nvPr>
        </p:nvSpPr>
        <p:spPr>
          <a:xfrm>
            <a:off x="8995187" y="6198329"/>
            <a:ext cx="2743200" cy="365125"/>
          </a:xfrm>
        </p:spPr>
        <p:txBody>
          <a:bodyPr/>
          <a:lstStyle/>
          <a:p>
            <a:fld id="{6F215E70-FDA5-6C45-8C7C-E922E56675B4}" type="slidenum">
              <a:rPr lang="en-US"/>
              <a:t>19</a:t>
            </a:fld>
            <a:endParaRPr lang="en-US"/>
          </a:p>
        </p:txBody>
      </p:sp>
      <p:sp>
        <p:nvSpPr>
          <p:cNvPr id="3" name="TextBox 2">
            <a:extLst>
              <a:ext uri="{FF2B5EF4-FFF2-40B4-BE49-F238E27FC236}">
                <a16:creationId xmlns:a16="http://schemas.microsoft.com/office/drawing/2014/main" id="{BF0871B9-2ED6-163C-F487-A292475A5926}"/>
              </a:ext>
            </a:extLst>
          </p:cNvPr>
          <p:cNvSpPr txBox="1"/>
          <p:nvPr/>
        </p:nvSpPr>
        <p:spPr>
          <a:xfrm>
            <a:off x="482463" y="1493014"/>
            <a:ext cx="10360809" cy="400110"/>
          </a:xfrm>
          <a:prstGeom prst="rect">
            <a:avLst/>
          </a:prstGeom>
          <a:noFill/>
        </p:spPr>
        <p:txBody>
          <a:bodyPr wrap="square" rtlCol="0">
            <a:spAutoFit/>
          </a:bodyPr>
          <a:lstStyle/>
          <a:p>
            <a:r>
              <a:rPr lang="en-US" sz="2000" b="1">
                <a:solidFill>
                  <a:srgbClr val="00B050"/>
                </a:solidFill>
                <a:latin typeface="Courier New" panose="02070309020205020404" pitchFamily="49" charset="0"/>
                <a:cs typeface="Courier New" panose="02070309020205020404" pitchFamily="49" charset="0"/>
              </a:rPr>
              <a:t>transformed_image </a:t>
            </a:r>
            <a:r>
              <a:rPr lang="en-US" sz="2000" b="1">
                <a:solidFill>
                  <a:schemeClr val="bg1"/>
                </a:solidFill>
                <a:latin typeface="Courier New" panose="02070309020205020404" pitchFamily="49" charset="0"/>
                <a:cs typeface="Courier New" panose="02070309020205020404" pitchFamily="49" charset="0"/>
              </a:rPr>
              <a:t>= affine3d_img(</a:t>
            </a:r>
            <a:r>
              <a:rPr lang="en-US" sz="2000" b="1">
                <a:solidFill>
                  <a:srgbClr val="FF0000"/>
                </a:solidFill>
                <a:latin typeface="Courier New" panose="02070309020205020404" pitchFamily="49" charset="0"/>
                <a:cs typeface="Courier New" panose="02070309020205020404" pitchFamily="49" charset="0"/>
              </a:rPr>
              <a:t>image</a:t>
            </a:r>
            <a:r>
              <a:rPr lang="en-US" sz="2000" b="1">
                <a:solidFill>
                  <a:schemeClr val="bg1"/>
                </a:solidFill>
                <a:latin typeface="Courier New" panose="02070309020205020404" pitchFamily="49" charset="0"/>
                <a:cs typeface="Courier New" panose="02070309020205020404" pitchFamily="49" charset="0"/>
              </a:rPr>
              <a:t>,</a:t>
            </a:r>
            <a:r>
              <a:rPr lang="en-US" sz="2000" b="1">
                <a:solidFill>
                  <a:srgbClr val="FF0000"/>
                </a:solidFill>
                <a:latin typeface="Courier New" panose="02070309020205020404" pitchFamily="49" charset="0"/>
                <a:cs typeface="Courier New" panose="02070309020205020404" pitchFamily="49" charset="0"/>
              </a:rPr>
              <a:t>image_info</a:t>
            </a:r>
            <a:r>
              <a:rPr lang="en-US" sz="2000" b="1">
                <a:solidFill>
                  <a:schemeClr val="bg1"/>
                </a:solidFill>
                <a:latin typeface="Courier New" panose="02070309020205020404" pitchFamily="49" charset="0"/>
                <a:cs typeface="Courier New" panose="02070309020205020404" pitchFamily="49" charset="0"/>
              </a:rPr>
              <a:t>,</a:t>
            </a:r>
            <a:r>
              <a:rPr lang="en-US" sz="2000" b="1">
                <a:solidFill>
                  <a:srgbClr val="FFFF00"/>
                </a:solidFill>
                <a:latin typeface="Courier New" panose="02070309020205020404" pitchFamily="49" charset="0"/>
                <a:cs typeface="Courier New" panose="02070309020205020404" pitchFamily="49" charset="0"/>
              </a:rPr>
              <a:t>target_info</a:t>
            </a:r>
            <a:r>
              <a:rPr lang="en-US" sz="2000" b="1">
                <a:solidFill>
                  <a:schemeClr val="bg1"/>
                </a:solidFill>
                <a:latin typeface="Courier New" panose="02070309020205020404" pitchFamily="49" charset="0"/>
                <a:cs typeface="Courier New" panose="02070309020205020404" pitchFamily="49" charset="0"/>
              </a:rPr>
              <a:t>)</a:t>
            </a:r>
          </a:p>
        </p:txBody>
      </p:sp>
      <p:sp>
        <p:nvSpPr>
          <p:cNvPr id="5" name="TextBox 4">
            <a:extLst>
              <a:ext uri="{FF2B5EF4-FFF2-40B4-BE49-F238E27FC236}">
                <a16:creationId xmlns:a16="http://schemas.microsoft.com/office/drawing/2014/main" id="{41F8D484-A855-C29A-CD95-DBB9A3A29C12}"/>
              </a:ext>
            </a:extLst>
          </p:cNvPr>
          <p:cNvSpPr txBox="1"/>
          <p:nvPr/>
        </p:nvSpPr>
        <p:spPr>
          <a:xfrm>
            <a:off x="482463" y="981368"/>
            <a:ext cx="9514768" cy="523220"/>
          </a:xfrm>
          <a:prstGeom prst="rect">
            <a:avLst/>
          </a:prstGeom>
          <a:noFill/>
        </p:spPr>
        <p:txBody>
          <a:bodyPr wrap="square" rtlCol="0">
            <a:spAutoFit/>
          </a:bodyPr>
          <a:lstStyle/>
          <a:p>
            <a:r>
              <a:rPr lang="en-US" sz="2800">
                <a:solidFill>
                  <a:schemeClr val="bg1"/>
                </a:solidFill>
                <a:latin typeface="Trebuchet MS" panose="020B0703020202090204" pitchFamily="34" charset="0"/>
              </a:rPr>
              <a:t>Basic usage:</a:t>
            </a:r>
          </a:p>
        </p:txBody>
      </p:sp>
      <p:sp>
        <p:nvSpPr>
          <p:cNvPr id="6" name="TextBox 5">
            <a:extLst>
              <a:ext uri="{FF2B5EF4-FFF2-40B4-BE49-F238E27FC236}">
                <a16:creationId xmlns:a16="http://schemas.microsoft.com/office/drawing/2014/main" id="{E5CB8B13-31ED-A1B9-A292-F0D70EC2DDBC}"/>
              </a:ext>
            </a:extLst>
          </p:cNvPr>
          <p:cNvSpPr txBox="1"/>
          <p:nvPr/>
        </p:nvSpPr>
        <p:spPr>
          <a:xfrm>
            <a:off x="482463" y="2814306"/>
            <a:ext cx="10769616" cy="400110"/>
          </a:xfrm>
          <a:prstGeom prst="rect">
            <a:avLst/>
          </a:prstGeom>
          <a:noFill/>
        </p:spPr>
        <p:txBody>
          <a:bodyPr wrap="square" rtlCol="0">
            <a:spAutoFit/>
          </a:bodyPr>
          <a:lstStyle/>
          <a:p>
            <a:r>
              <a:rPr lang="en-US" sz="2000" b="1">
                <a:solidFill>
                  <a:srgbClr val="00B050"/>
                </a:solidFill>
                <a:latin typeface="Courier New" panose="02070309020205020404" pitchFamily="49" charset="0"/>
                <a:cs typeface="Courier New" panose="02070309020205020404" pitchFamily="49" charset="0"/>
              </a:rPr>
              <a:t>transformed_image </a:t>
            </a:r>
            <a:r>
              <a:rPr lang="en-US" sz="2000" b="1">
                <a:solidFill>
                  <a:schemeClr val="bg1"/>
                </a:solidFill>
                <a:latin typeface="Courier New" panose="02070309020205020404" pitchFamily="49" charset="0"/>
                <a:cs typeface="Courier New" panose="02070309020205020404" pitchFamily="49" charset="0"/>
              </a:rPr>
              <a:t>= affine3d_img(</a:t>
            </a:r>
            <a:r>
              <a:rPr lang="en-US" sz="2000" b="1">
                <a:solidFill>
                  <a:srgbClr val="FF0000"/>
                </a:solidFill>
                <a:latin typeface="Courier New" panose="02070309020205020404" pitchFamily="49" charset="0"/>
                <a:cs typeface="Courier New" panose="02070309020205020404" pitchFamily="49" charset="0"/>
              </a:rPr>
              <a:t>image</a:t>
            </a:r>
            <a:r>
              <a:rPr lang="en-US" sz="2000" b="1">
                <a:solidFill>
                  <a:schemeClr val="bg1"/>
                </a:solidFill>
                <a:latin typeface="Courier New" panose="02070309020205020404" pitchFamily="49" charset="0"/>
                <a:cs typeface="Courier New" panose="02070309020205020404" pitchFamily="49" charset="0"/>
              </a:rPr>
              <a:t>,</a:t>
            </a:r>
            <a:r>
              <a:rPr lang="en-US" sz="2000" b="1">
                <a:solidFill>
                  <a:srgbClr val="FF0000"/>
                </a:solidFill>
                <a:latin typeface="Courier New" panose="02070309020205020404" pitchFamily="49" charset="0"/>
                <a:cs typeface="Courier New" panose="02070309020205020404" pitchFamily="49" charset="0"/>
              </a:rPr>
              <a:t>image_info</a:t>
            </a:r>
            <a:r>
              <a:rPr lang="en-US" sz="2000" b="1">
                <a:solidFill>
                  <a:schemeClr val="bg1"/>
                </a:solidFill>
                <a:latin typeface="Courier New" panose="02070309020205020404" pitchFamily="49" charset="0"/>
                <a:cs typeface="Courier New" panose="02070309020205020404" pitchFamily="49" charset="0"/>
              </a:rPr>
              <a:t>,</a:t>
            </a:r>
            <a:r>
              <a:rPr lang="en-US" sz="2000" b="1">
                <a:solidFill>
                  <a:srgbClr val="FFFF00"/>
                </a:solidFill>
                <a:latin typeface="Courier New" panose="02070309020205020404" pitchFamily="49" charset="0"/>
                <a:cs typeface="Courier New" panose="02070309020205020404" pitchFamily="49" charset="0"/>
              </a:rPr>
              <a:t>target_info</a:t>
            </a:r>
            <a:r>
              <a:rPr lang="en-US" sz="2000" b="1">
                <a:solidFill>
                  <a:schemeClr val="bg1"/>
                </a:solidFill>
                <a:latin typeface="Courier New" panose="02070309020205020404" pitchFamily="49" charset="0"/>
                <a:cs typeface="Courier New" panose="02070309020205020404" pitchFamily="49" charset="0"/>
              </a:rPr>
              <a:t>,</a:t>
            </a:r>
            <a:r>
              <a:rPr lang="en-US" sz="2000" b="1">
                <a:solidFill>
                  <a:srgbClr val="00B0F0"/>
                </a:solidFill>
                <a:latin typeface="Courier New" panose="02070309020205020404" pitchFamily="49" charset="0"/>
                <a:cs typeface="Courier New" panose="02070309020205020404" pitchFamily="49" charset="0"/>
              </a:rPr>
              <a:t>t4</a:t>
            </a:r>
            <a:r>
              <a:rPr lang="en-US" sz="2000" b="1">
                <a:solidFill>
                  <a:schemeClr val="bg1"/>
                </a:solidFill>
                <a:latin typeface="Courier New" panose="02070309020205020404" pitchFamily="49" charset="0"/>
                <a:cs typeface="Courier New" panose="02070309020205020404" pitchFamily="49" charset="0"/>
              </a:rPr>
              <a:t>)</a:t>
            </a:r>
          </a:p>
        </p:txBody>
      </p:sp>
      <p:sp>
        <p:nvSpPr>
          <p:cNvPr id="7" name="TextBox 6">
            <a:extLst>
              <a:ext uri="{FF2B5EF4-FFF2-40B4-BE49-F238E27FC236}">
                <a16:creationId xmlns:a16="http://schemas.microsoft.com/office/drawing/2014/main" id="{A7F29581-1439-AA4A-7EEE-26E361A9E913}"/>
              </a:ext>
            </a:extLst>
          </p:cNvPr>
          <p:cNvSpPr txBox="1"/>
          <p:nvPr/>
        </p:nvSpPr>
        <p:spPr>
          <a:xfrm>
            <a:off x="482463" y="2284577"/>
            <a:ext cx="10149040" cy="523220"/>
          </a:xfrm>
          <a:prstGeom prst="rect">
            <a:avLst/>
          </a:prstGeom>
          <a:noFill/>
        </p:spPr>
        <p:txBody>
          <a:bodyPr wrap="square" rtlCol="0">
            <a:spAutoFit/>
          </a:bodyPr>
          <a:lstStyle/>
          <a:p>
            <a:r>
              <a:rPr lang="en-US" sz="2800">
                <a:solidFill>
                  <a:schemeClr val="bg1"/>
                </a:solidFill>
                <a:latin typeface="Trebuchet MS" panose="020B0703020202090204" pitchFamily="34" charset="0"/>
              </a:rPr>
              <a:t>Including an explicit transform:</a:t>
            </a:r>
          </a:p>
        </p:txBody>
      </p:sp>
      <p:sp>
        <p:nvSpPr>
          <p:cNvPr id="8" name="TextBox 7">
            <a:extLst>
              <a:ext uri="{FF2B5EF4-FFF2-40B4-BE49-F238E27FC236}">
                <a16:creationId xmlns:a16="http://schemas.microsoft.com/office/drawing/2014/main" id="{8BA4DC81-2C2E-85FD-EC00-6CAD33A84D55}"/>
              </a:ext>
            </a:extLst>
          </p:cNvPr>
          <p:cNvSpPr txBox="1"/>
          <p:nvPr/>
        </p:nvSpPr>
        <p:spPr>
          <a:xfrm>
            <a:off x="482463" y="4175085"/>
            <a:ext cx="11269154" cy="400110"/>
          </a:xfrm>
          <a:prstGeom prst="rect">
            <a:avLst/>
          </a:prstGeom>
          <a:noFill/>
        </p:spPr>
        <p:txBody>
          <a:bodyPr wrap="square" rtlCol="0">
            <a:spAutoFit/>
          </a:bodyPr>
          <a:lstStyle/>
          <a:p>
            <a:r>
              <a:rPr lang="en-US" sz="2000" b="1">
                <a:solidFill>
                  <a:srgbClr val="00B050"/>
                </a:solidFill>
                <a:latin typeface="Courier New" panose="02070309020205020404" pitchFamily="49" charset="0"/>
                <a:cs typeface="Courier New" panose="02070309020205020404" pitchFamily="49" charset="0"/>
              </a:rPr>
              <a:t>transformed_image </a:t>
            </a:r>
            <a:r>
              <a:rPr lang="en-US" sz="2000" b="1">
                <a:solidFill>
                  <a:schemeClr val="bg1"/>
                </a:solidFill>
                <a:latin typeface="Courier New" panose="02070309020205020404" pitchFamily="49" charset="0"/>
                <a:cs typeface="Courier New" panose="02070309020205020404" pitchFamily="49" charset="0"/>
              </a:rPr>
              <a:t>= affine3d_img(</a:t>
            </a:r>
            <a:r>
              <a:rPr lang="en-US" sz="2000" b="1">
                <a:solidFill>
                  <a:srgbClr val="FF0000"/>
                </a:solidFill>
                <a:latin typeface="Courier New" panose="02070309020205020404" pitchFamily="49" charset="0"/>
                <a:cs typeface="Courier New" panose="02070309020205020404" pitchFamily="49" charset="0"/>
              </a:rPr>
              <a:t>image</a:t>
            </a:r>
            <a:r>
              <a:rPr lang="en-US" sz="2000" b="1">
                <a:solidFill>
                  <a:schemeClr val="bg1"/>
                </a:solidFill>
                <a:latin typeface="Courier New" panose="02070309020205020404" pitchFamily="49" charset="0"/>
                <a:cs typeface="Courier New" panose="02070309020205020404" pitchFamily="49" charset="0"/>
              </a:rPr>
              <a:t>,</a:t>
            </a:r>
            <a:r>
              <a:rPr lang="en-US" sz="2000" b="1">
                <a:solidFill>
                  <a:srgbClr val="FF0000"/>
                </a:solidFill>
                <a:latin typeface="Courier New" panose="02070309020205020404" pitchFamily="49" charset="0"/>
                <a:cs typeface="Courier New" panose="02070309020205020404" pitchFamily="49" charset="0"/>
              </a:rPr>
              <a:t>image_info</a:t>
            </a:r>
            <a:r>
              <a:rPr lang="en-US" sz="2000" b="1">
                <a:solidFill>
                  <a:schemeClr val="bg1"/>
                </a:solidFill>
                <a:latin typeface="Courier New" panose="02070309020205020404" pitchFamily="49" charset="0"/>
                <a:cs typeface="Courier New" panose="02070309020205020404" pitchFamily="49" charset="0"/>
              </a:rPr>
              <a:t>,</a:t>
            </a:r>
            <a:r>
              <a:rPr lang="en-US" sz="2000" b="1">
                <a:solidFill>
                  <a:srgbClr val="FFFF00"/>
                </a:solidFill>
                <a:latin typeface="Courier New" panose="02070309020205020404" pitchFamily="49" charset="0"/>
                <a:cs typeface="Courier New" panose="02070309020205020404" pitchFamily="49" charset="0"/>
              </a:rPr>
              <a:t>target_info</a:t>
            </a:r>
            <a:r>
              <a:rPr lang="en-US" sz="2000" b="1">
                <a:solidFill>
                  <a:schemeClr val="bg1"/>
                </a:solidFill>
                <a:latin typeface="Courier New" panose="02070309020205020404" pitchFamily="49" charset="0"/>
                <a:cs typeface="Courier New" panose="02070309020205020404" pitchFamily="49" charset="0"/>
              </a:rPr>
              <a:t>,[],</a:t>
            </a:r>
            <a:r>
              <a:rPr lang="en-US" sz="2000" b="1">
                <a:solidFill>
                  <a:srgbClr val="FF40FF"/>
                </a:solidFill>
                <a:latin typeface="Courier New" panose="02070309020205020404" pitchFamily="49" charset="0"/>
                <a:cs typeface="Courier New" panose="02070309020205020404" pitchFamily="49" charset="0"/>
              </a:rPr>
              <a:t>interp</a:t>
            </a:r>
            <a:r>
              <a:rPr lang="en-US" sz="2000" b="1">
                <a:solidFill>
                  <a:schemeClr val="bg1"/>
                </a:solidFill>
                <a:latin typeface="Courier New" panose="02070309020205020404" pitchFamily="49" charset="0"/>
                <a:cs typeface="Courier New" panose="02070309020205020404" pitchFamily="49" charset="0"/>
              </a:rPr>
              <a:t>)</a:t>
            </a:r>
          </a:p>
        </p:txBody>
      </p:sp>
      <p:sp>
        <p:nvSpPr>
          <p:cNvPr id="9" name="TextBox 8">
            <a:extLst>
              <a:ext uri="{FF2B5EF4-FFF2-40B4-BE49-F238E27FC236}">
                <a16:creationId xmlns:a16="http://schemas.microsoft.com/office/drawing/2014/main" id="{4AC1FB96-0C98-855B-3778-9CE31FA9ACB4}"/>
              </a:ext>
            </a:extLst>
          </p:cNvPr>
          <p:cNvSpPr txBox="1"/>
          <p:nvPr/>
        </p:nvSpPr>
        <p:spPr>
          <a:xfrm>
            <a:off x="482463" y="3605869"/>
            <a:ext cx="10285330" cy="523220"/>
          </a:xfrm>
          <a:prstGeom prst="rect">
            <a:avLst/>
          </a:prstGeom>
          <a:noFill/>
        </p:spPr>
        <p:txBody>
          <a:bodyPr wrap="square" rtlCol="0">
            <a:spAutoFit/>
          </a:bodyPr>
          <a:lstStyle/>
          <a:p>
            <a:r>
              <a:rPr lang="en-US" sz="2800">
                <a:solidFill>
                  <a:schemeClr val="bg1"/>
                </a:solidFill>
                <a:latin typeface="Trebuchet MS" panose="020B0703020202090204" pitchFamily="34" charset="0"/>
              </a:rPr>
              <a:t>Explicitly specifying the interpolation method:</a:t>
            </a:r>
          </a:p>
        </p:txBody>
      </p:sp>
      <p:sp>
        <p:nvSpPr>
          <p:cNvPr id="10" name="TextBox 9">
            <a:extLst>
              <a:ext uri="{FF2B5EF4-FFF2-40B4-BE49-F238E27FC236}">
                <a16:creationId xmlns:a16="http://schemas.microsoft.com/office/drawing/2014/main" id="{5B1AFA7D-B9E0-C09B-9389-A9C48654D02B}"/>
              </a:ext>
            </a:extLst>
          </p:cNvPr>
          <p:cNvSpPr txBox="1"/>
          <p:nvPr/>
        </p:nvSpPr>
        <p:spPr>
          <a:xfrm>
            <a:off x="482463" y="5449397"/>
            <a:ext cx="11562072" cy="400110"/>
          </a:xfrm>
          <a:prstGeom prst="rect">
            <a:avLst/>
          </a:prstGeom>
          <a:noFill/>
        </p:spPr>
        <p:txBody>
          <a:bodyPr wrap="square" rtlCol="0">
            <a:spAutoFit/>
          </a:bodyPr>
          <a:lstStyle/>
          <a:p>
            <a:r>
              <a:rPr lang="en-US" sz="2000" b="1">
                <a:solidFill>
                  <a:srgbClr val="00B050"/>
                </a:solidFill>
                <a:latin typeface="Courier New" panose="02070309020205020404" pitchFamily="49" charset="0"/>
                <a:cs typeface="Courier New" panose="02070309020205020404" pitchFamily="49" charset="0"/>
              </a:rPr>
              <a:t>transformed_image </a:t>
            </a:r>
            <a:r>
              <a:rPr lang="en-US" sz="2000" b="1">
                <a:solidFill>
                  <a:schemeClr val="bg1"/>
                </a:solidFill>
                <a:latin typeface="Courier New" panose="02070309020205020404" pitchFamily="49" charset="0"/>
                <a:cs typeface="Courier New" panose="02070309020205020404" pitchFamily="49" charset="0"/>
              </a:rPr>
              <a:t>= affine3d_img(</a:t>
            </a:r>
            <a:r>
              <a:rPr lang="en-US" sz="2000" b="1">
                <a:solidFill>
                  <a:srgbClr val="FF0000"/>
                </a:solidFill>
                <a:latin typeface="Courier New" panose="02070309020205020404" pitchFamily="49" charset="0"/>
                <a:cs typeface="Courier New" panose="02070309020205020404" pitchFamily="49" charset="0"/>
              </a:rPr>
              <a:t>image</a:t>
            </a:r>
            <a:r>
              <a:rPr lang="en-US" sz="2000" b="1">
                <a:solidFill>
                  <a:schemeClr val="bg1"/>
                </a:solidFill>
                <a:latin typeface="Courier New" panose="02070309020205020404" pitchFamily="49" charset="0"/>
                <a:cs typeface="Courier New" panose="02070309020205020404" pitchFamily="49" charset="0"/>
              </a:rPr>
              <a:t>,</a:t>
            </a:r>
            <a:r>
              <a:rPr lang="en-US" sz="2000" b="1">
                <a:solidFill>
                  <a:srgbClr val="FF0000"/>
                </a:solidFill>
                <a:latin typeface="Courier New" panose="02070309020205020404" pitchFamily="49" charset="0"/>
                <a:cs typeface="Courier New" panose="02070309020205020404" pitchFamily="49" charset="0"/>
              </a:rPr>
              <a:t>image_info</a:t>
            </a:r>
            <a:r>
              <a:rPr lang="en-US" sz="2000" b="1">
                <a:solidFill>
                  <a:schemeClr val="bg1"/>
                </a:solidFill>
                <a:latin typeface="Courier New" panose="02070309020205020404" pitchFamily="49" charset="0"/>
                <a:cs typeface="Courier New" panose="02070309020205020404" pitchFamily="49" charset="0"/>
              </a:rPr>
              <a:t>,</a:t>
            </a:r>
            <a:r>
              <a:rPr lang="en-US" sz="2000" b="1">
                <a:solidFill>
                  <a:srgbClr val="FFFF00"/>
                </a:solidFill>
                <a:latin typeface="Courier New" panose="02070309020205020404" pitchFamily="49" charset="0"/>
                <a:cs typeface="Courier New" panose="02070309020205020404" pitchFamily="49" charset="0"/>
              </a:rPr>
              <a:t>target_info</a:t>
            </a:r>
            <a:r>
              <a:rPr lang="en-US" sz="2000" b="1">
                <a:solidFill>
                  <a:schemeClr val="bg1"/>
                </a:solidFill>
                <a:latin typeface="Courier New" panose="02070309020205020404" pitchFamily="49" charset="0"/>
                <a:cs typeface="Courier New" panose="02070309020205020404" pitchFamily="49" charset="0"/>
              </a:rPr>
              <a:t>,</a:t>
            </a:r>
            <a:r>
              <a:rPr lang="en-US" sz="2000" b="1">
                <a:solidFill>
                  <a:srgbClr val="00B0F0"/>
                </a:solidFill>
                <a:latin typeface="Courier New" panose="02070309020205020404" pitchFamily="49" charset="0"/>
                <a:cs typeface="Courier New" panose="02070309020205020404" pitchFamily="49" charset="0"/>
              </a:rPr>
              <a:t>t4</a:t>
            </a:r>
            <a:r>
              <a:rPr lang="en-US" sz="2000" b="1">
                <a:solidFill>
                  <a:schemeClr val="bg1"/>
                </a:solidFill>
                <a:latin typeface="Courier New" panose="02070309020205020404" pitchFamily="49" charset="0"/>
                <a:cs typeface="Courier New" panose="02070309020205020404" pitchFamily="49" charset="0"/>
              </a:rPr>
              <a:t>,</a:t>
            </a:r>
            <a:r>
              <a:rPr lang="en-US" sz="2000" b="1">
                <a:solidFill>
                  <a:srgbClr val="FF40FF"/>
                </a:solidFill>
                <a:latin typeface="Courier New" panose="02070309020205020404" pitchFamily="49" charset="0"/>
                <a:cs typeface="Courier New" panose="02070309020205020404" pitchFamily="49" charset="0"/>
              </a:rPr>
              <a:t>interp</a:t>
            </a:r>
            <a:r>
              <a:rPr lang="en-US" sz="2000" b="1">
                <a:solidFill>
                  <a:schemeClr val="bg1"/>
                </a:solidFill>
                <a:latin typeface="Courier New" panose="02070309020205020404" pitchFamily="49" charset="0"/>
                <a:cs typeface="Courier New" panose="02070309020205020404" pitchFamily="49" charset="0"/>
              </a:rPr>
              <a:t>)</a:t>
            </a:r>
          </a:p>
        </p:txBody>
      </p:sp>
      <p:sp>
        <p:nvSpPr>
          <p:cNvPr id="11" name="TextBox 10">
            <a:extLst>
              <a:ext uri="{FF2B5EF4-FFF2-40B4-BE49-F238E27FC236}">
                <a16:creationId xmlns:a16="http://schemas.microsoft.com/office/drawing/2014/main" id="{921B726D-222A-FE9E-BAA5-8BD871CC31D6}"/>
              </a:ext>
            </a:extLst>
          </p:cNvPr>
          <p:cNvSpPr txBox="1"/>
          <p:nvPr/>
        </p:nvSpPr>
        <p:spPr>
          <a:xfrm>
            <a:off x="482463" y="4915129"/>
            <a:ext cx="10360809" cy="523220"/>
          </a:xfrm>
          <a:prstGeom prst="rect">
            <a:avLst/>
          </a:prstGeom>
          <a:noFill/>
        </p:spPr>
        <p:txBody>
          <a:bodyPr wrap="square" rtlCol="0">
            <a:spAutoFit/>
          </a:bodyPr>
          <a:lstStyle/>
          <a:p>
            <a:r>
              <a:rPr lang="en-US" sz="2800">
                <a:solidFill>
                  <a:schemeClr val="bg1"/>
                </a:solidFill>
                <a:latin typeface="Trebuchet MS" panose="020B0703020202090204" pitchFamily="34" charset="0"/>
              </a:rPr>
              <a:t>Specifying a transform and interpolation method:</a:t>
            </a:r>
          </a:p>
        </p:txBody>
      </p:sp>
      <p:sp>
        <p:nvSpPr>
          <p:cNvPr id="12" name="TextBox 11">
            <a:extLst>
              <a:ext uri="{FF2B5EF4-FFF2-40B4-BE49-F238E27FC236}">
                <a16:creationId xmlns:a16="http://schemas.microsoft.com/office/drawing/2014/main" id="{5AB1C3EC-2002-AEBA-6B21-3BC9639DCAEE}"/>
              </a:ext>
            </a:extLst>
          </p:cNvPr>
          <p:cNvSpPr txBox="1"/>
          <p:nvPr/>
        </p:nvSpPr>
        <p:spPr>
          <a:xfrm>
            <a:off x="5293895" y="469623"/>
            <a:ext cx="6616613" cy="584775"/>
          </a:xfrm>
          <a:prstGeom prst="rect">
            <a:avLst/>
          </a:prstGeom>
          <a:noFill/>
        </p:spPr>
        <p:txBody>
          <a:bodyPr wrap="square" rtlCol="0">
            <a:spAutoFit/>
          </a:bodyPr>
          <a:lstStyle/>
          <a:p>
            <a:r>
              <a:rPr lang="en-US" sz="3200">
                <a:solidFill>
                  <a:schemeClr val="bg1"/>
                </a:solidFill>
                <a:latin typeface="Trebuchet MS" panose="020B0703020202090204" pitchFamily="34" charset="0"/>
              </a:rPr>
              <a:t>	</a:t>
            </a:r>
            <a:r>
              <a:rPr lang="en-US" sz="3200" u="sng">
                <a:solidFill>
                  <a:schemeClr val="bg1"/>
                </a:solidFill>
                <a:latin typeface="Trebuchet MS" panose="020B0703020202090204" pitchFamily="34" charset="0"/>
              </a:rPr>
              <a:t>Summary</a:t>
            </a:r>
            <a:r>
              <a:rPr lang="en-US" sz="3200">
                <a:solidFill>
                  <a:schemeClr val="bg1"/>
                </a:solidFill>
                <a:latin typeface="Trebuchet MS" panose="020B0703020202090204" pitchFamily="34" charset="0"/>
              </a:rPr>
              <a:t>: affine3d_img</a:t>
            </a:r>
          </a:p>
        </p:txBody>
      </p:sp>
    </p:spTree>
    <p:extLst>
      <p:ext uri="{BB962C8B-B14F-4D97-AF65-F5344CB8AC3E}">
        <p14:creationId xmlns:p14="http://schemas.microsoft.com/office/powerpoint/2010/main" val="26017916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D8909-A3FC-92F4-087B-2F8A2AF4C11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E03C4F-E682-2D97-A70D-90DF6525FC54}"/>
              </a:ext>
            </a:extLst>
          </p:cNvPr>
          <p:cNvSpPr>
            <a:spLocks noGrp="1"/>
          </p:cNvSpPr>
          <p:nvPr>
            <p:ph type="sldNum" sz="quarter" idx="12"/>
          </p:nvPr>
        </p:nvSpPr>
        <p:spPr/>
        <p:txBody>
          <a:bodyPr/>
          <a:lstStyle/>
          <a:p>
            <a:fld id="{6F215E70-FDA5-6C45-8C7C-E922E56675B4}" type="slidenum">
              <a:rPr lang="en-US"/>
              <a:t>20</a:t>
            </a:fld>
            <a:endParaRPr lang="en-US"/>
          </a:p>
        </p:txBody>
      </p:sp>
      <p:sp>
        <p:nvSpPr>
          <p:cNvPr id="4" name="TextBox 3">
            <a:extLst>
              <a:ext uri="{FF2B5EF4-FFF2-40B4-BE49-F238E27FC236}">
                <a16:creationId xmlns:a16="http://schemas.microsoft.com/office/drawing/2014/main" id="{27B91C2E-688C-90ED-441A-AD3423DC7901}"/>
              </a:ext>
            </a:extLst>
          </p:cNvPr>
          <p:cNvSpPr txBox="1"/>
          <p:nvPr/>
        </p:nvSpPr>
        <p:spPr>
          <a:xfrm>
            <a:off x="3755312" y="2395527"/>
            <a:ext cx="5196182" cy="584775"/>
          </a:xfrm>
          <a:prstGeom prst="rect">
            <a:avLst/>
          </a:prstGeom>
          <a:noFill/>
        </p:spPr>
        <p:txBody>
          <a:bodyPr wrap="square" rtlCol="0">
            <a:spAutoFit/>
          </a:bodyPr>
          <a:lstStyle/>
          <a:p>
            <a:pPr algn="ctr"/>
            <a:r>
              <a:rPr lang="en-US" sz="3200">
                <a:solidFill>
                  <a:schemeClr val="bg1"/>
                </a:solidFill>
                <a:effectLst/>
                <a:latin typeface="Trebuchet MS" panose="020B0703020202090204" pitchFamily="34" charset="0"/>
              </a:rPr>
              <a:t>Example Applications</a:t>
            </a:r>
            <a:endParaRPr lang="en-US">
              <a:solidFill>
                <a:schemeClr val="bg1"/>
              </a:solidFill>
              <a:latin typeface="Trebuchet MS" panose="020B0703020202090204" pitchFamily="34" charset="0"/>
            </a:endParaRPr>
          </a:p>
        </p:txBody>
      </p:sp>
    </p:spTree>
    <p:extLst>
      <p:ext uri="{BB962C8B-B14F-4D97-AF65-F5344CB8AC3E}">
        <p14:creationId xmlns:p14="http://schemas.microsoft.com/office/powerpoint/2010/main" val="4272633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13C0B-012F-9780-C8CE-852CB047ABD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B6C7F1-A5C5-90DE-0F26-C75180442A6B}"/>
              </a:ext>
            </a:extLst>
          </p:cNvPr>
          <p:cNvSpPr>
            <a:spLocks noGrp="1"/>
          </p:cNvSpPr>
          <p:nvPr>
            <p:ph type="sldNum" sz="quarter" idx="12"/>
          </p:nvPr>
        </p:nvSpPr>
        <p:spPr/>
        <p:txBody>
          <a:bodyPr/>
          <a:lstStyle/>
          <a:p>
            <a:fld id="{6F215E70-FDA5-6C45-8C7C-E922E56675B4}" type="slidenum">
              <a:rPr lang="en-US"/>
              <a:t>21</a:t>
            </a:fld>
            <a:endParaRPr lang="en-US"/>
          </a:p>
        </p:txBody>
      </p:sp>
      <p:sp>
        <p:nvSpPr>
          <p:cNvPr id="3" name="TextBox 2">
            <a:extLst>
              <a:ext uri="{FF2B5EF4-FFF2-40B4-BE49-F238E27FC236}">
                <a16:creationId xmlns:a16="http://schemas.microsoft.com/office/drawing/2014/main" id="{309D9901-3B49-B3BA-9B93-3F5DE12F50A8}"/>
              </a:ext>
            </a:extLst>
          </p:cNvPr>
          <p:cNvSpPr txBox="1"/>
          <p:nvPr/>
        </p:nvSpPr>
        <p:spPr>
          <a:xfrm>
            <a:off x="3149055" y="2189083"/>
            <a:ext cx="6502945" cy="1077218"/>
          </a:xfrm>
          <a:prstGeom prst="rect">
            <a:avLst/>
          </a:prstGeom>
          <a:noFill/>
        </p:spPr>
        <p:txBody>
          <a:bodyPr wrap="square" rtlCol="0">
            <a:spAutoFit/>
          </a:bodyPr>
          <a:lstStyle/>
          <a:p>
            <a:pPr algn="ctr"/>
            <a:r>
              <a:rPr lang="en-US" sz="3200">
                <a:solidFill>
                  <a:schemeClr val="bg1"/>
                </a:solidFill>
                <a:effectLst/>
                <a:latin typeface="Trebuchet MS" panose="020B0703020202090204" pitchFamily="34" charset="0"/>
              </a:rPr>
              <a:t>Example 1</a:t>
            </a:r>
          </a:p>
          <a:p>
            <a:pPr algn="ctr"/>
            <a:r>
              <a:rPr lang="en-US" sz="3200">
                <a:solidFill>
                  <a:schemeClr val="bg1"/>
                </a:solidFill>
                <a:latin typeface="Trebuchet MS" panose="020B0703020202090204" pitchFamily="34" charset="0"/>
              </a:rPr>
              <a:t>NeuroDOT_Visualization_Script.m</a:t>
            </a:r>
            <a:endParaRPr lang="en-US" sz="3200">
              <a:solidFill>
                <a:schemeClr val="bg1"/>
              </a:solidFill>
              <a:effectLst/>
              <a:latin typeface="Trebuchet MS" panose="020B0703020202090204" pitchFamily="34" charset="0"/>
            </a:endParaRPr>
          </a:p>
        </p:txBody>
      </p:sp>
    </p:spTree>
    <p:extLst>
      <p:ext uri="{BB962C8B-B14F-4D97-AF65-F5344CB8AC3E}">
        <p14:creationId xmlns:p14="http://schemas.microsoft.com/office/powerpoint/2010/main" val="31952709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945D46-448E-443A-3FBB-83934D363DEF}"/>
              </a:ext>
            </a:extLst>
          </p:cNvPr>
          <p:cNvSpPr>
            <a:spLocks noGrp="1"/>
          </p:cNvSpPr>
          <p:nvPr>
            <p:ph type="sldNum" sz="quarter" idx="12"/>
          </p:nvPr>
        </p:nvSpPr>
        <p:spPr/>
        <p:txBody>
          <a:bodyPr/>
          <a:lstStyle/>
          <a:p>
            <a:fld id="{6F215E70-FDA5-6C45-8C7C-E922E56675B4}" type="slidenum">
              <a:rPr lang="en-US"/>
              <a:t>22</a:t>
            </a:fld>
            <a:endParaRPr lang="en-US"/>
          </a:p>
        </p:txBody>
      </p:sp>
      <p:sp>
        <p:nvSpPr>
          <p:cNvPr id="3" name="TextBox 2">
            <a:extLst>
              <a:ext uri="{FF2B5EF4-FFF2-40B4-BE49-F238E27FC236}">
                <a16:creationId xmlns:a16="http://schemas.microsoft.com/office/drawing/2014/main" id="{9783B093-E08C-A65E-CAE4-350A7ABBA1FE}"/>
              </a:ext>
            </a:extLst>
          </p:cNvPr>
          <p:cNvSpPr txBox="1"/>
          <p:nvPr/>
        </p:nvSpPr>
        <p:spPr>
          <a:xfrm>
            <a:off x="740617" y="596790"/>
            <a:ext cx="10752883" cy="369332"/>
          </a:xfrm>
          <a:prstGeom prst="rect">
            <a:avLst/>
          </a:prstGeom>
          <a:noFill/>
          <a:ln>
            <a:solidFill>
              <a:schemeClr val="bg1"/>
            </a:solidFill>
          </a:ln>
        </p:spPr>
        <p:txBody>
          <a:bodyPr wrap="square" rtlCol="0">
            <a:spAutoFit/>
          </a:bodyPr>
          <a:lstStyle/>
          <a:p>
            <a:r>
              <a:rPr lang="en-US" b="1">
                <a:solidFill>
                  <a:schemeClr val="bg1"/>
                </a:solidFill>
                <a:effectLst/>
                <a:latin typeface="Courier New" panose="02070309020205020404" pitchFamily="49" charset="0"/>
                <a:cs typeface="Courier New" panose="02070309020205020404" pitchFamily="49" charset="0"/>
              </a:rPr>
              <a:t>File: ~/NeuroDOT/Documentation/Scripts/NeuroDOT_Visualization_Script.m</a:t>
            </a:r>
          </a:p>
        </p:txBody>
      </p:sp>
      <p:pic>
        <p:nvPicPr>
          <p:cNvPr id="5" name="Picture 4" descr="A screenshot of a computer&#10;&#10;Description automatically generated">
            <a:extLst>
              <a:ext uri="{FF2B5EF4-FFF2-40B4-BE49-F238E27FC236}">
                <a16:creationId xmlns:a16="http://schemas.microsoft.com/office/drawing/2014/main" id="{28C49867-7515-C0FF-DFA0-373A419CDA1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19558" y="1300110"/>
            <a:ext cx="10752883" cy="2713090"/>
          </a:xfrm>
          <a:prstGeom prst="rect">
            <a:avLst/>
          </a:prstGeom>
        </p:spPr>
      </p:pic>
      <p:pic>
        <p:nvPicPr>
          <p:cNvPr id="6" name="Picture 5">
            <a:extLst>
              <a:ext uri="{FF2B5EF4-FFF2-40B4-BE49-F238E27FC236}">
                <a16:creationId xmlns:a16="http://schemas.microsoft.com/office/drawing/2014/main" id="{0471447A-7DAB-3E39-4D47-D32164906F8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570020" y="4331541"/>
            <a:ext cx="4842476" cy="1890352"/>
          </a:xfrm>
          <a:prstGeom prst="rect">
            <a:avLst/>
          </a:prstGeom>
          <a:ln>
            <a:solidFill>
              <a:schemeClr val="bg1"/>
            </a:solidFill>
          </a:ln>
        </p:spPr>
      </p:pic>
      <p:sp>
        <p:nvSpPr>
          <p:cNvPr id="8" name="TextBox 7">
            <a:extLst>
              <a:ext uri="{FF2B5EF4-FFF2-40B4-BE49-F238E27FC236}">
                <a16:creationId xmlns:a16="http://schemas.microsoft.com/office/drawing/2014/main" id="{42664395-5E8E-2CC8-84B0-E6A72C17CF7D}"/>
              </a:ext>
            </a:extLst>
          </p:cNvPr>
          <p:cNvSpPr txBox="1"/>
          <p:nvPr/>
        </p:nvSpPr>
        <p:spPr>
          <a:xfrm>
            <a:off x="7293179" y="1324205"/>
            <a:ext cx="2536622" cy="369332"/>
          </a:xfrm>
          <a:prstGeom prst="rect">
            <a:avLst/>
          </a:prstGeom>
          <a:solidFill>
            <a:schemeClr val="bg1"/>
          </a:solidFill>
          <a:ln>
            <a:solidFill>
              <a:schemeClr val="tx1"/>
            </a:solidFill>
          </a:ln>
        </p:spPr>
        <p:txBody>
          <a:bodyPr wrap="square" rtlCol="0">
            <a:spAutoFit/>
          </a:bodyPr>
          <a:lstStyle/>
          <a:p>
            <a:pPr algn="ctr"/>
            <a:r>
              <a:rPr lang="en-US">
                <a:latin typeface="Trebuchet MS" panose="020B0703020202090204" pitchFamily="34" charset="0"/>
              </a:rPr>
              <a:t>Load the template</a:t>
            </a:r>
          </a:p>
        </p:txBody>
      </p:sp>
      <p:sp>
        <p:nvSpPr>
          <p:cNvPr id="12" name="TextBox 11">
            <a:extLst>
              <a:ext uri="{FF2B5EF4-FFF2-40B4-BE49-F238E27FC236}">
                <a16:creationId xmlns:a16="http://schemas.microsoft.com/office/drawing/2014/main" id="{5E694811-3A05-F45D-60EC-70101A583BBB}"/>
              </a:ext>
            </a:extLst>
          </p:cNvPr>
          <p:cNvSpPr txBox="1"/>
          <p:nvPr/>
        </p:nvSpPr>
        <p:spPr>
          <a:xfrm>
            <a:off x="6925840" y="1972400"/>
            <a:ext cx="3869159" cy="369332"/>
          </a:xfrm>
          <a:prstGeom prst="rect">
            <a:avLst/>
          </a:prstGeom>
          <a:solidFill>
            <a:schemeClr val="bg1"/>
          </a:solidFill>
          <a:ln>
            <a:solidFill>
              <a:schemeClr val="tx1"/>
            </a:solidFill>
          </a:ln>
        </p:spPr>
        <p:txBody>
          <a:bodyPr wrap="square" rtlCol="0">
            <a:spAutoFit/>
          </a:bodyPr>
          <a:lstStyle/>
          <a:p>
            <a:pPr algn="ctr"/>
            <a:r>
              <a:rPr lang="en-US">
                <a:latin typeface="Trebuchet MS" panose="020B0703020202090204" pitchFamily="34" charset="0"/>
              </a:rPr>
              <a:t>Transform the template to the data</a:t>
            </a:r>
          </a:p>
        </p:txBody>
      </p:sp>
      <p:sp>
        <p:nvSpPr>
          <p:cNvPr id="14" name="TextBox 13">
            <a:extLst>
              <a:ext uri="{FF2B5EF4-FFF2-40B4-BE49-F238E27FC236}">
                <a16:creationId xmlns:a16="http://schemas.microsoft.com/office/drawing/2014/main" id="{437DAC91-1ADF-5753-8635-29BB656CAE63}"/>
              </a:ext>
            </a:extLst>
          </p:cNvPr>
          <p:cNvSpPr txBox="1"/>
          <p:nvPr/>
        </p:nvSpPr>
        <p:spPr>
          <a:xfrm>
            <a:off x="3946358" y="3340326"/>
            <a:ext cx="3346821" cy="369332"/>
          </a:xfrm>
          <a:prstGeom prst="rect">
            <a:avLst/>
          </a:prstGeom>
          <a:solidFill>
            <a:schemeClr val="bg1"/>
          </a:solidFill>
          <a:ln>
            <a:solidFill>
              <a:schemeClr val="tx1"/>
            </a:solidFill>
          </a:ln>
        </p:spPr>
        <p:txBody>
          <a:bodyPr wrap="square" rtlCol="0">
            <a:spAutoFit/>
          </a:bodyPr>
          <a:lstStyle/>
          <a:p>
            <a:pPr algn="ctr"/>
            <a:r>
              <a:rPr lang="en-US">
                <a:latin typeface="Trebuchet MS" panose="020B0703020202090204" pitchFamily="34" charset="0"/>
              </a:rPr>
              <a:t>Plot the data on the template</a:t>
            </a:r>
          </a:p>
        </p:txBody>
      </p:sp>
      <p:sp>
        <p:nvSpPr>
          <p:cNvPr id="16" name="Rectangle 15">
            <a:extLst>
              <a:ext uri="{FF2B5EF4-FFF2-40B4-BE49-F238E27FC236}">
                <a16:creationId xmlns:a16="http://schemas.microsoft.com/office/drawing/2014/main" id="{82CCC205-CF61-59F9-333E-7216CE669D7E}"/>
              </a:ext>
            </a:extLst>
          </p:cNvPr>
          <p:cNvSpPr/>
          <p:nvPr/>
        </p:nvSpPr>
        <p:spPr>
          <a:xfrm>
            <a:off x="1397000" y="3782050"/>
            <a:ext cx="3784600" cy="231149"/>
          </a:xfrm>
          <a:prstGeom prst="rect">
            <a:avLst/>
          </a:prstGeom>
          <a:solidFill>
            <a:srgbClr val="FFFF00">
              <a:alpha val="3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0AAEB0F-305C-68CE-3B91-54D5B8D69150}"/>
              </a:ext>
            </a:extLst>
          </p:cNvPr>
          <p:cNvSpPr/>
          <p:nvPr/>
        </p:nvSpPr>
        <p:spPr>
          <a:xfrm>
            <a:off x="1447800" y="1638299"/>
            <a:ext cx="6032500" cy="231149"/>
          </a:xfrm>
          <a:prstGeom prst="rect">
            <a:avLst/>
          </a:prstGeom>
          <a:solidFill>
            <a:srgbClr val="FFFF00">
              <a:alpha val="3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52221A6-80EA-8417-7887-5970F071D10B}"/>
              </a:ext>
            </a:extLst>
          </p:cNvPr>
          <p:cNvSpPr/>
          <p:nvPr/>
        </p:nvSpPr>
        <p:spPr>
          <a:xfrm>
            <a:off x="1397000" y="1952533"/>
            <a:ext cx="5473700" cy="231149"/>
          </a:xfrm>
          <a:prstGeom prst="rect">
            <a:avLst/>
          </a:prstGeom>
          <a:solidFill>
            <a:srgbClr val="FFFF00">
              <a:alpha val="3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9C1CD06-FEAC-115C-A9F3-0CEB1A097E84}"/>
              </a:ext>
            </a:extLst>
          </p:cNvPr>
          <p:cNvSpPr/>
          <p:nvPr/>
        </p:nvSpPr>
        <p:spPr>
          <a:xfrm>
            <a:off x="1473200" y="2444684"/>
            <a:ext cx="7048499" cy="793616"/>
          </a:xfrm>
          <a:prstGeom prst="rect">
            <a:avLst/>
          </a:prstGeom>
          <a:solidFill>
            <a:srgbClr val="FFFF00">
              <a:alpha val="3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91B85FAD-2929-48AB-199F-BBB0634580D0}"/>
              </a:ext>
            </a:extLst>
          </p:cNvPr>
          <p:cNvSpPr txBox="1"/>
          <p:nvPr/>
        </p:nvSpPr>
        <p:spPr>
          <a:xfrm>
            <a:off x="6925840" y="4918425"/>
            <a:ext cx="4397084" cy="923330"/>
          </a:xfrm>
          <a:prstGeom prst="rect">
            <a:avLst/>
          </a:prstGeom>
          <a:solidFill>
            <a:schemeClr val="bg1"/>
          </a:solidFill>
          <a:ln>
            <a:solidFill>
              <a:schemeClr val="tx1"/>
            </a:solidFill>
          </a:ln>
        </p:spPr>
        <p:txBody>
          <a:bodyPr wrap="square" rtlCol="0">
            <a:spAutoFit/>
          </a:bodyPr>
          <a:lstStyle/>
          <a:p>
            <a:pPr algn="ctr"/>
            <a:r>
              <a:rPr lang="en-US" b="1">
                <a:latin typeface="Trebuchet MS" panose="020B0703020202090204" pitchFamily="34" charset="0"/>
              </a:rPr>
              <a:t>A.info </a:t>
            </a:r>
            <a:r>
              <a:rPr lang="en-US">
                <a:latin typeface="Trebuchet MS" panose="020B0703020202090204" pitchFamily="34" charset="0"/>
              </a:rPr>
              <a:t>is the info struct for the A matrix</a:t>
            </a:r>
          </a:p>
          <a:p>
            <a:pPr algn="ctr"/>
            <a:r>
              <a:rPr lang="en-US">
                <a:latin typeface="Trebuchet MS" panose="020B0703020202090204" pitchFamily="34" charset="0"/>
              </a:rPr>
              <a:t> used in the analysis and is loaded</a:t>
            </a:r>
          </a:p>
          <a:p>
            <a:pPr algn="ctr"/>
            <a:r>
              <a:rPr lang="en-US">
                <a:latin typeface="Trebuchet MS" panose="020B0703020202090204" pitchFamily="34" charset="0"/>
              </a:rPr>
              <a:t> earlier in the script.</a:t>
            </a:r>
          </a:p>
        </p:txBody>
      </p:sp>
      <p:sp>
        <p:nvSpPr>
          <p:cNvPr id="23" name="Curved Right Arrow 22">
            <a:extLst>
              <a:ext uri="{FF2B5EF4-FFF2-40B4-BE49-F238E27FC236}">
                <a16:creationId xmlns:a16="http://schemas.microsoft.com/office/drawing/2014/main" id="{8545F9A8-7BC9-3BEC-E1C7-9666D2282165}"/>
              </a:ext>
            </a:extLst>
          </p:cNvPr>
          <p:cNvSpPr/>
          <p:nvPr/>
        </p:nvSpPr>
        <p:spPr>
          <a:xfrm>
            <a:off x="406400" y="3816652"/>
            <a:ext cx="946151" cy="1563438"/>
          </a:xfrm>
          <a:prstGeom prst="curved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TextBox 18">
            <a:extLst>
              <a:ext uri="{FF2B5EF4-FFF2-40B4-BE49-F238E27FC236}">
                <a16:creationId xmlns:a16="http://schemas.microsoft.com/office/drawing/2014/main" id="{474F41EF-B29B-02A7-9C6B-F30F7F11DFF0}"/>
              </a:ext>
            </a:extLst>
          </p:cNvPr>
          <p:cNvSpPr txBox="1"/>
          <p:nvPr/>
        </p:nvSpPr>
        <p:spPr>
          <a:xfrm>
            <a:off x="7665652" y="2764879"/>
            <a:ext cx="3346821" cy="923330"/>
          </a:xfrm>
          <a:prstGeom prst="rect">
            <a:avLst/>
          </a:prstGeom>
          <a:solidFill>
            <a:schemeClr val="bg1"/>
          </a:solidFill>
          <a:ln>
            <a:solidFill>
              <a:schemeClr val="tx1"/>
            </a:solidFill>
          </a:ln>
        </p:spPr>
        <p:txBody>
          <a:bodyPr wrap="square" rtlCol="0">
            <a:spAutoFit/>
          </a:bodyPr>
          <a:lstStyle/>
          <a:p>
            <a:pPr algn="ctr"/>
            <a:r>
              <a:rPr lang="en-US">
                <a:latin typeface="Trebuchet MS" panose="020B0703020202090204" pitchFamily="34" charset="0"/>
              </a:rPr>
              <a:t>Additional processing of the</a:t>
            </a:r>
          </a:p>
          <a:p>
            <a:pPr algn="ctr"/>
            <a:r>
              <a:rPr lang="en-US">
                <a:latin typeface="Trebuchet MS" panose="020B0703020202090204" pitchFamily="34" charset="0"/>
              </a:rPr>
              <a:t> data (data is generated</a:t>
            </a:r>
          </a:p>
          <a:p>
            <a:pPr algn="ctr"/>
            <a:r>
              <a:rPr lang="en-US">
                <a:latin typeface="Trebuchet MS" panose="020B0703020202090204" pitchFamily="34" charset="0"/>
              </a:rPr>
              <a:t> earlier in the script)</a:t>
            </a:r>
          </a:p>
        </p:txBody>
      </p:sp>
    </p:spTree>
    <p:extLst>
      <p:ext uri="{BB962C8B-B14F-4D97-AF65-F5344CB8AC3E}">
        <p14:creationId xmlns:p14="http://schemas.microsoft.com/office/powerpoint/2010/main" val="21332997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B4B0F-6A9F-3FD5-AA7A-5A8FC9746D2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795EB2-A1DF-C15C-DE56-2871A6B26654}"/>
              </a:ext>
            </a:extLst>
          </p:cNvPr>
          <p:cNvSpPr>
            <a:spLocks noGrp="1"/>
          </p:cNvSpPr>
          <p:nvPr>
            <p:ph type="sldNum" sz="quarter" idx="12"/>
          </p:nvPr>
        </p:nvSpPr>
        <p:spPr/>
        <p:txBody>
          <a:bodyPr/>
          <a:lstStyle/>
          <a:p>
            <a:fld id="{6F215E70-FDA5-6C45-8C7C-E922E56675B4}" type="slidenum">
              <a:rPr lang="en-US"/>
              <a:t>23</a:t>
            </a:fld>
            <a:endParaRPr lang="en-US"/>
          </a:p>
        </p:txBody>
      </p:sp>
      <p:sp>
        <p:nvSpPr>
          <p:cNvPr id="3" name="TextBox 2">
            <a:extLst>
              <a:ext uri="{FF2B5EF4-FFF2-40B4-BE49-F238E27FC236}">
                <a16:creationId xmlns:a16="http://schemas.microsoft.com/office/drawing/2014/main" id="{B8626FF7-23F3-2A96-E419-83C9385F3DE5}"/>
              </a:ext>
            </a:extLst>
          </p:cNvPr>
          <p:cNvSpPr txBox="1"/>
          <p:nvPr/>
        </p:nvSpPr>
        <p:spPr>
          <a:xfrm>
            <a:off x="2755355" y="2062083"/>
            <a:ext cx="6947445" cy="1569660"/>
          </a:xfrm>
          <a:prstGeom prst="rect">
            <a:avLst/>
          </a:prstGeom>
          <a:noFill/>
        </p:spPr>
        <p:txBody>
          <a:bodyPr wrap="square" rtlCol="0">
            <a:spAutoFit/>
          </a:bodyPr>
          <a:lstStyle/>
          <a:p>
            <a:pPr algn="ctr"/>
            <a:r>
              <a:rPr lang="en-US" sz="3200">
                <a:solidFill>
                  <a:schemeClr val="bg1"/>
                </a:solidFill>
                <a:effectLst/>
                <a:latin typeface="Trebuchet MS" panose="020B0703020202090204" pitchFamily="34" charset="0"/>
              </a:rPr>
              <a:t>Example 2</a:t>
            </a:r>
          </a:p>
          <a:p>
            <a:pPr algn="ctr"/>
            <a:r>
              <a:rPr lang="en-US" sz="3200">
                <a:solidFill>
                  <a:schemeClr val="bg1"/>
                </a:solidFill>
                <a:latin typeface="Trebuchet MS" panose="020B0703020202090204" pitchFamily="34" charset="0"/>
              </a:rPr>
              <a:t>Visualizing a Flat Field Reconstruction</a:t>
            </a:r>
            <a:endParaRPr lang="en-US" sz="3200">
              <a:solidFill>
                <a:schemeClr val="bg1"/>
              </a:solidFill>
              <a:effectLst/>
              <a:latin typeface="Trebuchet MS" panose="020B0703020202090204" pitchFamily="34" charset="0"/>
            </a:endParaRPr>
          </a:p>
        </p:txBody>
      </p:sp>
    </p:spTree>
    <p:extLst>
      <p:ext uri="{BB962C8B-B14F-4D97-AF65-F5344CB8AC3E}">
        <p14:creationId xmlns:p14="http://schemas.microsoft.com/office/powerpoint/2010/main" val="25377658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27E52-E410-B275-28D4-FF082DAA712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88F14E-5463-4C10-7E32-60F949B0BCD6}"/>
              </a:ext>
            </a:extLst>
          </p:cNvPr>
          <p:cNvSpPr>
            <a:spLocks noGrp="1"/>
          </p:cNvSpPr>
          <p:nvPr>
            <p:ph type="sldNum" sz="quarter" idx="12"/>
          </p:nvPr>
        </p:nvSpPr>
        <p:spPr/>
        <p:txBody>
          <a:bodyPr/>
          <a:lstStyle/>
          <a:p>
            <a:fld id="{6F215E70-FDA5-6C45-8C7C-E922E56675B4}" type="slidenum">
              <a:rPr lang="en-US"/>
              <a:t>24</a:t>
            </a:fld>
            <a:endParaRPr lang="en-US"/>
          </a:p>
        </p:txBody>
      </p:sp>
      <p:sp>
        <p:nvSpPr>
          <p:cNvPr id="3" name="TextBox 2">
            <a:extLst>
              <a:ext uri="{FF2B5EF4-FFF2-40B4-BE49-F238E27FC236}">
                <a16:creationId xmlns:a16="http://schemas.microsoft.com/office/drawing/2014/main" id="{2306E750-77CD-4B46-A260-2A6C127FD50C}"/>
              </a:ext>
            </a:extLst>
          </p:cNvPr>
          <p:cNvSpPr txBox="1"/>
          <p:nvPr/>
        </p:nvSpPr>
        <p:spPr>
          <a:xfrm>
            <a:off x="986930" y="1575927"/>
            <a:ext cx="10218139" cy="2031325"/>
          </a:xfrm>
          <a:prstGeom prst="rect">
            <a:avLst/>
          </a:prstGeom>
          <a:noFill/>
          <a:ln>
            <a:solidFill>
              <a:schemeClr val="bg1"/>
            </a:solidFill>
          </a:ln>
        </p:spPr>
        <p:txBody>
          <a:bodyPr wrap="square" rtlCol="0">
            <a:spAutoFit/>
          </a:bodyPr>
          <a:lstStyle/>
          <a:p>
            <a:r>
              <a:rPr lang="en-US" b="1">
                <a:solidFill>
                  <a:schemeClr val="bg1"/>
                </a:solidFill>
                <a:effectLst/>
                <a:latin typeface="Courier New" panose="02070309020205020404" pitchFamily="49" charset="0"/>
                <a:cs typeface="Courier New" panose="02070309020205020404" pitchFamily="49" charset="0"/>
              </a:rPr>
              <a:t>&gt;&gt; load(</a:t>
            </a:r>
            <a:r>
              <a:rPr lang="en-US" b="1">
                <a:solidFill>
                  <a:srgbClr val="FF40FF"/>
                </a:solidFill>
                <a:effectLst/>
                <a:latin typeface="Courier New" panose="02070309020205020404" pitchFamily="49" charset="0"/>
                <a:cs typeface="Courier New" panose="02070309020205020404" pitchFamily="49" charset="0"/>
              </a:rPr>
              <a:t>'A_AdultV24x28.mat'</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40FF"/>
                </a:solidFill>
                <a:effectLst/>
                <a:latin typeface="Courier New" panose="02070309020205020404" pitchFamily="49" charset="0"/>
                <a:cs typeface="Courier New" panose="02070309020205020404" pitchFamily="49" charset="0"/>
              </a:rPr>
              <a:t>'info'</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40FF"/>
                </a:solidFill>
                <a:effectLst/>
                <a:latin typeface="Courier New" panose="02070309020205020404" pitchFamily="49" charset="0"/>
                <a:cs typeface="Courier New" panose="02070309020205020404" pitchFamily="49" charset="0"/>
              </a:rPr>
              <a:t>'A’</a:t>
            </a:r>
            <a:r>
              <a:rPr lang="en-US" b="1">
                <a:solidFill>
                  <a:schemeClr val="bg1"/>
                </a:solidFill>
                <a:effectLst/>
                <a:latin typeface="Courier New" panose="02070309020205020404" pitchFamily="49" charset="0"/>
                <a:cs typeface="Courier New" panose="02070309020205020404" pitchFamily="49" charset="0"/>
              </a:rPr>
              <a:t>);</a:t>
            </a:r>
          </a:p>
          <a:p>
            <a:r>
              <a:rPr lang="en-US" b="1">
                <a:solidFill>
                  <a:schemeClr val="bg1"/>
                </a:solidFill>
                <a:effectLst/>
                <a:latin typeface="Courier New" panose="02070309020205020404" pitchFamily="49" charset="0"/>
                <a:cs typeface="Courier New" panose="02070309020205020404" pitchFamily="49" charset="0"/>
              </a:rPr>
              <a:t>&gt;&gt; keep = (info.pairs.WL==2) &amp; (info.pairs.r3d&lt;40);</a:t>
            </a:r>
          </a:p>
          <a:p>
            <a:r>
              <a:rPr lang="en-US" b="1">
                <a:solidFill>
                  <a:schemeClr val="bg1"/>
                </a:solidFill>
                <a:effectLst/>
                <a:latin typeface="Courier New" panose="02070309020205020404" pitchFamily="49" charset="0"/>
                <a:cs typeface="Courier New" panose="02070309020205020404" pitchFamily="49" charset="0"/>
              </a:rPr>
              <a:t>&gt;&gt; A = squeeze(A(keep,:));</a:t>
            </a:r>
          </a:p>
          <a:p>
            <a:r>
              <a:rPr lang="en-US" b="1">
                <a:solidFill>
                  <a:schemeClr val="bg1"/>
                </a:solidFill>
                <a:effectLst/>
                <a:latin typeface="Courier New" panose="02070309020205020404" pitchFamily="49" charset="0"/>
                <a:cs typeface="Courier New" panose="02070309020205020404" pitchFamily="49" charset="0"/>
              </a:rPr>
              <a:t>&gt;&gt; iA = Tikhonov_invert_Amat(A,0.01,0.1);</a:t>
            </a:r>
          </a:p>
          <a:p>
            <a:r>
              <a:rPr lang="en-US" b="1">
                <a:solidFill>
                  <a:schemeClr val="bg1"/>
                </a:solidFill>
                <a:effectLst/>
                <a:latin typeface="Courier New" panose="02070309020205020404" pitchFamily="49" charset="0"/>
                <a:cs typeface="Courier New" panose="02070309020205020404" pitchFamily="49" charset="0"/>
              </a:rPr>
              <a:t>&gt;&gt; iA = smooth_Amat(iA,info.tissue.dim,5); </a:t>
            </a:r>
            <a:endParaRPr lang="en-US" b="1">
              <a:solidFill>
                <a:schemeClr val="bg1"/>
              </a:solidFill>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&gt;&gt; FFR = makeFlatFieldRecon(A,iA);</a:t>
            </a:r>
          </a:p>
          <a:p>
            <a:r>
              <a:rPr lang="en-US" b="1">
                <a:solidFill>
                  <a:schemeClr val="bg1"/>
                </a:solidFill>
                <a:effectLst/>
                <a:latin typeface="Courier New" panose="02070309020205020404" pitchFamily="49" charset="0"/>
                <a:cs typeface="Courier New" panose="02070309020205020404" pitchFamily="49" charset="0"/>
              </a:rPr>
              <a:t>&gt;&gt; FFR_as_vol = Good_Vox2vol(FFR,info.tissue.dim);</a:t>
            </a:r>
          </a:p>
        </p:txBody>
      </p:sp>
      <p:sp>
        <p:nvSpPr>
          <p:cNvPr id="5" name="TextBox 4">
            <a:extLst>
              <a:ext uri="{FF2B5EF4-FFF2-40B4-BE49-F238E27FC236}">
                <a16:creationId xmlns:a16="http://schemas.microsoft.com/office/drawing/2014/main" id="{920A87A2-9265-DE6C-CB32-F95DA554BB71}"/>
              </a:ext>
            </a:extLst>
          </p:cNvPr>
          <p:cNvSpPr txBox="1"/>
          <p:nvPr/>
        </p:nvSpPr>
        <p:spPr>
          <a:xfrm>
            <a:off x="1135661" y="744668"/>
            <a:ext cx="6947445" cy="584775"/>
          </a:xfrm>
          <a:prstGeom prst="rect">
            <a:avLst/>
          </a:prstGeom>
          <a:noFill/>
        </p:spPr>
        <p:txBody>
          <a:bodyPr wrap="square" rtlCol="0">
            <a:spAutoFit/>
          </a:bodyPr>
          <a:lstStyle/>
          <a:p>
            <a:r>
              <a:rPr lang="en-US" sz="3200" u="sng">
                <a:solidFill>
                  <a:schemeClr val="bg1"/>
                </a:solidFill>
                <a:effectLst/>
                <a:latin typeface="Trebuchet MS" panose="020B0703020202090204" pitchFamily="34" charset="0"/>
              </a:rPr>
              <a:t>Creating the FFR</a:t>
            </a:r>
          </a:p>
        </p:txBody>
      </p:sp>
      <p:grpSp>
        <p:nvGrpSpPr>
          <p:cNvPr id="6" name="Group 5">
            <a:extLst>
              <a:ext uri="{FF2B5EF4-FFF2-40B4-BE49-F238E27FC236}">
                <a16:creationId xmlns:a16="http://schemas.microsoft.com/office/drawing/2014/main" id="{E7BE81CF-11FE-0D65-327E-0A9D12BA4984}"/>
              </a:ext>
            </a:extLst>
          </p:cNvPr>
          <p:cNvGrpSpPr/>
          <p:nvPr/>
        </p:nvGrpSpPr>
        <p:grpSpPr>
          <a:xfrm>
            <a:off x="5492564" y="4579964"/>
            <a:ext cx="5773309" cy="994218"/>
            <a:chOff x="4880918" y="3815142"/>
            <a:chExt cx="5773309" cy="994218"/>
          </a:xfrm>
        </p:grpSpPr>
        <p:pic>
          <p:nvPicPr>
            <p:cNvPr id="7" name="Picture 6">
              <a:extLst>
                <a:ext uri="{FF2B5EF4-FFF2-40B4-BE49-F238E27FC236}">
                  <a16:creationId xmlns:a16="http://schemas.microsoft.com/office/drawing/2014/main" id="{B156C14F-7A1E-29D6-4361-BB3F44D1CC1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894289" y="3817098"/>
              <a:ext cx="1759938" cy="992262"/>
            </a:xfrm>
            <a:prstGeom prst="rect">
              <a:avLst/>
            </a:prstGeom>
            <a:ln w="25400">
              <a:solidFill>
                <a:schemeClr val="bg1"/>
              </a:solidFill>
            </a:ln>
          </p:spPr>
        </p:pic>
        <p:sp>
          <p:nvSpPr>
            <p:cNvPr id="8" name="Rounded Rectangle 7">
              <a:extLst>
                <a:ext uri="{FF2B5EF4-FFF2-40B4-BE49-F238E27FC236}">
                  <a16:creationId xmlns:a16="http://schemas.microsoft.com/office/drawing/2014/main" id="{F46A99D0-B308-EC0E-4F64-37CB0BFD85DD}"/>
                </a:ext>
              </a:extLst>
            </p:cNvPr>
            <p:cNvSpPr/>
            <p:nvPr/>
          </p:nvSpPr>
          <p:spPr>
            <a:xfrm>
              <a:off x="4880918" y="3815142"/>
              <a:ext cx="3868003" cy="993057"/>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extBox 13">
            <a:extLst>
              <a:ext uri="{FF2B5EF4-FFF2-40B4-BE49-F238E27FC236}">
                <a16:creationId xmlns:a16="http://schemas.microsoft.com/office/drawing/2014/main" id="{E32E72D1-2B86-9244-ECDA-36935A6E9334}"/>
              </a:ext>
            </a:extLst>
          </p:cNvPr>
          <p:cNvSpPr txBox="1"/>
          <p:nvPr/>
        </p:nvSpPr>
        <p:spPr>
          <a:xfrm>
            <a:off x="796769" y="4412629"/>
            <a:ext cx="4328133" cy="1323439"/>
          </a:xfrm>
          <a:prstGeom prst="rect">
            <a:avLst/>
          </a:prstGeom>
          <a:noFill/>
        </p:spPr>
        <p:txBody>
          <a:bodyPr wrap="square" rtlCol="0">
            <a:spAutoFit/>
          </a:bodyPr>
          <a:lstStyle/>
          <a:p>
            <a:pPr algn="r"/>
            <a:r>
              <a:rPr lang="en-US" sz="2000">
                <a:solidFill>
                  <a:schemeClr val="bg1"/>
                </a:solidFill>
                <a:latin typeface="Trebuchet MS" panose="020B0703020202090204" pitchFamily="34" charset="0"/>
                <a:cs typeface="Courier New" panose="02070309020205020404" pitchFamily="49" charset="0"/>
              </a:rPr>
              <a:t>See the video tutorial shown here for more information on creating a flat field reconstruction in NeuroDOT</a:t>
            </a:r>
          </a:p>
        </p:txBody>
      </p:sp>
      <p:sp>
        <p:nvSpPr>
          <p:cNvPr id="4" name="TextBox 3">
            <a:extLst>
              <a:ext uri="{FF2B5EF4-FFF2-40B4-BE49-F238E27FC236}">
                <a16:creationId xmlns:a16="http://schemas.microsoft.com/office/drawing/2014/main" id="{755522FC-F067-50D2-69BC-0CA80187305B}"/>
              </a:ext>
            </a:extLst>
          </p:cNvPr>
          <p:cNvSpPr txBox="1"/>
          <p:nvPr/>
        </p:nvSpPr>
        <p:spPr>
          <a:xfrm>
            <a:off x="6859518" y="3651720"/>
            <a:ext cx="4328133" cy="369332"/>
          </a:xfrm>
          <a:prstGeom prst="rect">
            <a:avLst/>
          </a:prstGeom>
          <a:noFill/>
        </p:spPr>
        <p:txBody>
          <a:bodyPr wrap="square" rtlCol="0">
            <a:spAutoFit/>
          </a:bodyPr>
          <a:lstStyle/>
          <a:p>
            <a:pPr algn="r"/>
            <a:r>
              <a:rPr lang="en-US">
                <a:solidFill>
                  <a:schemeClr val="bg1"/>
                </a:solidFill>
                <a:latin typeface="Trebuchet MS" panose="020B0703020202090204" pitchFamily="34" charset="0"/>
                <a:cs typeface="Courier New" panose="02070309020205020404" pitchFamily="49" charset="0"/>
              </a:rPr>
              <a:t>Matlab command window</a:t>
            </a:r>
          </a:p>
        </p:txBody>
      </p:sp>
      <p:pic>
        <p:nvPicPr>
          <p:cNvPr id="15" name="Picture 14">
            <a:extLst>
              <a:ext uri="{FF2B5EF4-FFF2-40B4-BE49-F238E27FC236}">
                <a16:creationId xmlns:a16="http://schemas.microsoft.com/office/drawing/2014/main" id="{587A5E0B-3C9C-7BCE-ECAF-667EA2952A76}"/>
              </a:ext>
            </a:extLst>
          </p:cNvPr>
          <p:cNvPicPr>
            <a:picLocks noChangeAspect="1"/>
          </p:cNvPicPr>
          <p:nvPr/>
        </p:nvPicPr>
        <p:blipFill>
          <a:blip r:embed="rId3"/>
          <a:stretch>
            <a:fillRect/>
          </a:stretch>
        </p:blipFill>
        <p:spPr>
          <a:xfrm>
            <a:off x="5600329" y="4686964"/>
            <a:ext cx="3652471" cy="774767"/>
          </a:xfrm>
          <a:prstGeom prst="rect">
            <a:avLst/>
          </a:prstGeom>
        </p:spPr>
      </p:pic>
    </p:spTree>
    <p:extLst>
      <p:ext uri="{BB962C8B-B14F-4D97-AF65-F5344CB8AC3E}">
        <p14:creationId xmlns:p14="http://schemas.microsoft.com/office/powerpoint/2010/main" val="369014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anim calcmode="lin" valueType="num">
                                      <p:cBhvr>
                                        <p:cTn id="8" dur="2000" fill="hold"/>
                                        <p:tgtEl>
                                          <p:spTgt spid="6"/>
                                        </p:tgtEl>
                                        <p:attrNameLst>
                                          <p:attrName>ppt_x</p:attrName>
                                        </p:attrNameLst>
                                      </p:cBhvr>
                                      <p:tavLst>
                                        <p:tav tm="0">
                                          <p:val>
                                            <p:strVal val="#ppt_x"/>
                                          </p:val>
                                        </p:tav>
                                        <p:tav tm="100000">
                                          <p:val>
                                            <p:strVal val="#ppt_x"/>
                                          </p:val>
                                        </p:tav>
                                      </p:tavLst>
                                    </p:anim>
                                    <p:anim calcmode="lin" valueType="num">
                                      <p:cBhvr>
                                        <p:cTn id="9" dur="2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6800D-8FCA-77F6-6862-46C86CA4FDF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49825D-D14A-7638-90CA-71C5BD699683}"/>
              </a:ext>
            </a:extLst>
          </p:cNvPr>
          <p:cNvSpPr>
            <a:spLocks noGrp="1"/>
          </p:cNvSpPr>
          <p:nvPr>
            <p:ph type="sldNum" sz="quarter" idx="12"/>
          </p:nvPr>
        </p:nvSpPr>
        <p:spPr/>
        <p:txBody>
          <a:bodyPr/>
          <a:lstStyle/>
          <a:p>
            <a:fld id="{6F215E70-FDA5-6C45-8C7C-E922E56675B4}" type="slidenum">
              <a:rPr lang="en-US"/>
              <a:t>25</a:t>
            </a:fld>
            <a:endParaRPr lang="en-US"/>
          </a:p>
        </p:txBody>
      </p:sp>
      <p:sp>
        <p:nvSpPr>
          <p:cNvPr id="3" name="TextBox 2">
            <a:extLst>
              <a:ext uri="{FF2B5EF4-FFF2-40B4-BE49-F238E27FC236}">
                <a16:creationId xmlns:a16="http://schemas.microsoft.com/office/drawing/2014/main" id="{42A8BA8B-D08A-77F4-AF78-7617D4B88109}"/>
              </a:ext>
            </a:extLst>
          </p:cNvPr>
          <p:cNvSpPr txBox="1"/>
          <p:nvPr/>
        </p:nvSpPr>
        <p:spPr>
          <a:xfrm>
            <a:off x="977900" y="1402641"/>
            <a:ext cx="10439400" cy="3416320"/>
          </a:xfrm>
          <a:prstGeom prst="rect">
            <a:avLst/>
          </a:prstGeom>
          <a:noFill/>
          <a:ln>
            <a:solidFill>
              <a:schemeClr val="bg1"/>
            </a:solidFill>
          </a:ln>
        </p:spPr>
        <p:txBody>
          <a:bodyPr wrap="square" rtlCol="0">
            <a:spAutoFit/>
          </a:bodyPr>
          <a:lstStyle/>
          <a:p>
            <a:r>
              <a:rPr lang="en-US" b="1">
                <a:solidFill>
                  <a:schemeClr val="bg1"/>
                </a:solidFill>
                <a:effectLst/>
                <a:latin typeface="Courier New" panose="02070309020205020404" pitchFamily="49" charset="0"/>
                <a:cs typeface="Courier New" panose="02070309020205020404" pitchFamily="49" charset="0"/>
              </a:rPr>
              <a:t>&gt;&gt; template_fname = </a:t>
            </a:r>
            <a:r>
              <a:rPr lang="en-US" b="1">
                <a:solidFill>
                  <a:srgbClr val="FF40FF"/>
                </a:solidFill>
                <a:effectLst/>
                <a:latin typeface="Courier New" panose="02070309020205020404" pitchFamily="49" charset="0"/>
                <a:cs typeface="Courier New" panose="02070309020205020404" pitchFamily="49" charset="0"/>
              </a:rPr>
              <a:t>'Segmented_MNI152nl_on_MNI111_nifti.nii'</a:t>
            </a:r>
            <a:r>
              <a:rPr lang="en-US" b="1">
                <a:solidFill>
                  <a:schemeClr val="bg1"/>
                </a:solidFill>
                <a:effectLst/>
                <a:latin typeface="Courier New" panose="02070309020205020404" pitchFamily="49" charset="0"/>
                <a:cs typeface="Courier New" panose="02070309020205020404" pitchFamily="49" charset="0"/>
              </a:rPr>
              <a:t>;</a:t>
            </a:r>
          </a:p>
          <a:p>
            <a:r>
              <a:rPr lang="en-US" b="1">
                <a:solidFill>
                  <a:schemeClr val="bg1"/>
                </a:solidFill>
                <a:effectLst/>
                <a:latin typeface="Courier New" panose="02070309020205020404" pitchFamily="49" charset="0"/>
                <a:cs typeface="Courier New" panose="02070309020205020404" pitchFamily="49" charset="0"/>
              </a:rPr>
              <a:t>&gt;&gt; [template,template_info] = LoadVolumetricData(template_fname);</a:t>
            </a:r>
          </a:p>
          <a:p>
            <a:endParaRPr lang="en-US" b="1">
              <a:solidFill>
                <a:schemeClr val="bg1"/>
              </a:solidFill>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&gt;&gt; </a:t>
            </a:r>
            <a:r>
              <a:rPr lang="en-US" b="1">
                <a:solidFill>
                  <a:srgbClr val="00B050"/>
                </a:solidFill>
                <a:effectLst/>
                <a:latin typeface="Courier New" panose="02070309020205020404" pitchFamily="49" charset="0"/>
                <a:cs typeface="Courier New" panose="02070309020205020404" pitchFamily="49" charset="0"/>
              </a:rPr>
              <a:t>% transform the template to the data space</a:t>
            </a:r>
          </a:p>
          <a:p>
            <a:endParaRPr lang="en-US" b="1">
              <a:solidFill>
                <a:schemeClr val="bg1"/>
              </a:solidFill>
              <a:effectLst/>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&gt;&gt; template_clipped = affine3d_img(template, template_info, ...</a:t>
            </a:r>
          </a:p>
          <a:p>
            <a:r>
              <a:rPr lang="en-US" b="1">
                <a:solidFill>
                  <a:schemeClr val="bg1"/>
                </a:solidFill>
                <a:latin typeface="Courier New" panose="02070309020205020404" pitchFamily="49" charset="0"/>
                <a:cs typeface="Courier New" panose="02070309020205020404" pitchFamily="49" charset="0"/>
              </a:rPr>
              <a:t>						</a:t>
            </a:r>
            <a:r>
              <a:rPr lang="en-US" b="1">
                <a:solidFill>
                  <a:schemeClr val="bg1"/>
                </a:solidFill>
                <a:effectLst/>
                <a:latin typeface="Courier New" panose="02070309020205020404" pitchFamily="49" charset="0"/>
                <a:cs typeface="Courier New" panose="02070309020205020404" pitchFamily="49" charset="0"/>
              </a:rPr>
              <a:t>info.tissue.dim, [], </a:t>
            </a:r>
            <a:r>
              <a:rPr lang="en-US" b="1">
                <a:solidFill>
                  <a:srgbClr val="FF40FF"/>
                </a:solidFill>
                <a:effectLst/>
                <a:latin typeface="Courier New" panose="02070309020205020404" pitchFamily="49" charset="0"/>
                <a:cs typeface="Courier New" panose="02070309020205020404" pitchFamily="49" charset="0"/>
              </a:rPr>
              <a:t>'nearest'</a:t>
            </a:r>
            <a:r>
              <a:rPr lang="en-US" b="1">
                <a:solidFill>
                  <a:schemeClr val="bg1"/>
                </a:solidFill>
                <a:effectLst/>
                <a:latin typeface="Courier New" panose="02070309020205020404" pitchFamily="49" charset="0"/>
                <a:cs typeface="Courier New" panose="02070309020205020404" pitchFamily="49" charset="0"/>
              </a:rPr>
              <a:t>); </a:t>
            </a:r>
          </a:p>
          <a:p>
            <a:endParaRPr lang="en-US" b="1">
              <a:solidFill>
                <a:schemeClr val="bg1"/>
              </a:solidFill>
              <a:effectLst/>
              <a:latin typeface="Courier New" panose="02070309020205020404" pitchFamily="49" charset="0"/>
              <a:cs typeface="Courier New" panose="02070309020205020404" pitchFamily="49" charset="0"/>
            </a:endParaRPr>
          </a:p>
          <a:p>
            <a:r>
              <a:rPr lang="en-US" b="1">
                <a:solidFill>
                  <a:schemeClr val="bg1"/>
                </a:solidFill>
                <a:latin typeface="Courier New" panose="02070309020205020404" pitchFamily="49" charset="0"/>
                <a:cs typeface="Courier New" panose="02070309020205020404" pitchFamily="49" charset="0"/>
              </a:rPr>
              <a:t>&gt;&gt; </a:t>
            </a:r>
            <a:r>
              <a:rPr lang="en-US" b="1">
                <a:solidFill>
                  <a:srgbClr val="00B050"/>
                </a:solidFill>
                <a:latin typeface="Courier New" panose="02070309020205020404" pitchFamily="49" charset="0"/>
                <a:cs typeface="Courier New" panose="02070309020205020404" pitchFamily="49" charset="0"/>
              </a:rPr>
              <a:t>% transform the data to the template space</a:t>
            </a:r>
          </a:p>
          <a:p>
            <a:br>
              <a:rPr lang="en-US" b="1">
                <a:solidFill>
                  <a:schemeClr val="bg1"/>
                </a:solidFill>
                <a:effectLst/>
                <a:latin typeface="Courier New" panose="02070309020205020404" pitchFamily="49" charset="0"/>
                <a:cs typeface="Courier New" panose="02070309020205020404" pitchFamily="49" charset="0"/>
              </a:rPr>
            </a:br>
            <a:r>
              <a:rPr lang="en-US" b="1">
                <a:solidFill>
                  <a:schemeClr val="bg1"/>
                </a:solidFill>
                <a:effectLst/>
                <a:latin typeface="Courier New" panose="02070309020205020404" pitchFamily="49" charset="0"/>
                <a:cs typeface="Courier New" panose="02070309020205020404" pitchFamily="49" charset="0"/>
              </a:rPr>
              <a:t>&gt;&gt; FFR_in_wholebrainspace = affine3d_img(FFR_as_vol, info.tissue.dim, ...</a:t>
            </a:r>
          </a:p>
          <a:p>
            <a:r>
              <a:rPr lang="en-US" b="1">
                <a:solidFill>
                  <a:schemeClr val="bg1"/>
                </a:solidFill>
                <a:latin typeface="Courier New" panose="02070309020205020404" pitchFamily="49" charset="0"/>
                <a:cs typeface="Courier New" panose="02070309020205020404" pitchFamily="49" charset="0"/>
              </a:rPr>
              <a:t>					       </a:t>
            </a:r>
            <a:r>
              <a:rPr lang="en-US" b="1">
                <a:solidFill>
                  <a:schemeClr val="bg1"/>
                </a:solidFill>
                <a:effectLst/>
                <a:latin typeface="Courier New" panose="02070309020205020404" pitchFamily="49" charset="0"/>
                <a:cs typeface="Courier New" panose="02070309020205020404" pitchFamily="49" charset="0"/>
              </a:rPr>
              <a:t>template_info);</a:t>
            </a:r>
          </a:p>
        </p:txBody>
      </p:sp>
      <p:sp>
        <p:nvSpPr>
          <p:cNvPr id="4" name="TextBox 3">
            <a:extLst>
              <a:ext uri="{FF2B5EF4-FFF2-40B4-BE49-F238E27FC236}">
                <a16:creationId xmlns:a16="http://schemas.microsoft.com/office/drawing/2014/main" id="{1F696DDC-0994-4F91-2134-7D46255CFDA2}"/>
              </a:ext>
            </a:extLst>
          </p:cNvPr>
          <p:cNvSpPr txBox="1"/>
          <p:nvPr/>
        </p:nvSpPr>
        <p:spPr>
          <a:xfrm>
            <a:off x="1096211" y="5125990"/>
            <a:ext cx="10202778" cy="461665"/>
          </a:xfrm>
          <a:prstGeom prst="rect">
            <a:avLst/>
          </a:prstGeom>
          <a:noFill/>
        </p:spPr>
        <p:txBody>
          <a:bodyPr wrap="square" rtlCol="0">
            <a:spAutoFit/>
          </a:bodyPr>
          <a:lstStyle/>
          <a:p>
            <a:r>
              <a:rPr lang="en-US" sz="2400">
                <a:solidFill>
                  <a:schemeClr val="bg1"/>
                </a:solidFill>
                <a:latin typeface="Trebuchet MS" panose="020B0703020202090204" pitchFamily="34" charset="0"/>
                <a:cs typeface="Courier New" panose="02070309020205020404" pitchFamily="49" charset="0"/>
              </a:rPr>
              <a:t>Results are plotted individually in the following slides for comparison...</a:t>
            </a:r>
          </a:p>
        </p:txBody>
      </p:sp>
      <p:sp>
        <p:nvSpPr>
          <p:cNvPr id="5" name="TextBox 4">
            <a:extLst>
              <a:ext uri="{FF2B5EF4-FFF2-40B4-BE49-F238E27FC236}">
                <a16:creationId xmlns:a16="http://schemas.microsoft.com/office/drawing/2014/main" id="{49ECC17B-B6B0-6CC5-D19F-4D000A8BCB39}"/>
              </a:ext>
            </a:extLst>
          </p:cNvPr>
          <p:cNvSpPr txBox="1"/>
          <p:nvPr/>
        </p:nvSpPr>
        <p:spPr>
          <a:xfrm>
            <a:off x="977900" y="454736"/>
            <a:ext cx="6947445" cy="584775"/>
          </a:xfrm>
          <a:prstGeom prst="rect">
            <a:avLst/>
          </a:prstGeom>
          <a:noFill/>
        </p:spPr>
        <p:txBody>
          <a:bodyPr wrap="square" rtlCol="0">
            <a:spAutoFit/>
          </a:bodyPr>
          <a:lstStyle/>
          <a:p>
            <a:r>
              <a:rPr lang="en-US" sz="3200" u="sng">
                <a:solidFill>
                  <a:schemeClr val="bg1"/>
                </a:solidFill>
                <a:latin typeface="Trebuchet MS" panose="020B0703020202090204" pitchFamily="34" charset="0"/>
              </a:rPr>
              <a:t>Preparing for Visualization</a:t>
            </a:r>
            <a:endParaRPr lang="en-US" sz="3200" u="sng">
              <a:solidFill>
                <a:schemeClr val="bg1"/>
              </a:solidFill>
              <a:effectLst/>
              <a:latin typeface="Trebuchet MS" panose="020B0703020202090204" pitchFamily="34" charset="0"/>
            </a:endParaRPr>
          </a:p>
        </p:txBody>
      </p:sp>
    </p:spTree>
    <p:extLst>
      <p:ext uri="{BB962C8B-B14F-4D97-AF65-F5344CB8AC3E}">
        <p14:creationId xmlns:p14="http://schemas.microsoft.com/office/powerpoint/2010/main" val="24392713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5236D-007F-6FE2-5C49-56BED6BC8F0C}"/>
            </a:ext>
          </a:extLst>
        </p:cNvPr>
        <p:cNvGrpSpPr/>
        <p:nvPr/>
      </p:nvGrpSpPr>
      <p:grpSpPr>
        <a:xfrm>
          <a:off x="0" y="0"/>
          <a:ext cx="0" cy="0"/>
          <a:chOff x="0" y="0"/>
          <a:chExt cx="0" cy="0"/>
        </a:xfrm>
      </p:grpSpPr>
      <p:pic>
        <p:nvPicPr>
          <p:cNvPr id="6" name="Picture 5" descr="A screenshot of a computer screen&#10;&#10;Description automatically generated">
            <a:extLst>
              <a:ext uri="{FF2B5EF4-FFF2-40B4-BE49-F238E27FC236}">
                <a16:creationId xmlns:a16="http://schemas.microsoft.com/office/drawing/2014/main" id="{D605352D-4449-C271-529E-6A402E9429E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00161" y="358655"/>
            <a:ext cx="11191677" cy="5057776"/>
          </a:xfrm>
          <a:prstGeom prst="rect">
            <a:avLst/>
          </a:prstGeom>
        </p:spPr>
      </p:pic>
      <p:sp>
        <p:nvSpPr>
          <p:cNvPr id="2" name="Slide Number Placeholder 1">
            <a:extLst>
              <a:ext uri="{FF2B5EF4-FFF2-40B4-BE49-F238E27FC236}">
                <a16:creationId xmlns:a16="http://schemas.microsoft.com/office/drawing/2014/main" id="{A887277A-68D2-CE73-1F02-FFBA0317A18D}"/>
              </a:ext>
            </a:extLst>
          </p:cNvPr>
          <p:cNvSpPr>
            <a:spLocks noGrp="1"/>
          </p:cNvSpPr>
          <p:nvPr>
            <p:ph type="sldNum" sz="quarter" idx="12"/>
          </p:nvPr>
        </p:nvSpPr>
        <p:spPr/>
        <p:txBody>
          <a:bodyPr/>
          <a:lstStyle/>
          <a:p>
            <a:fld id="{6F215E70-FDA5-6C45-8C7C-E922E56675B4}" type="slidenum">
              <a:rPr lang="en-US"/>
              <a:t>26</a:t>
            </a:fld>
            <a:endParaRPr lang="en-US"/>
          </a:p>
        </p:txBody>
      </p:sp>
      <p:sp>
        <p:nvSpPr>
          <p:cNvPr id="3" name="TextBox 2">
            <a:extLst>
              <a:ext uri="{FF2B5EF4-FFF2-40B4-BE49-F238E27FC236}">
                <a16:creationId xmlns:a16="http://schemas.microsoft.com/office/drawing/2014/main" id="{C22CE143-3C7D-8BCB-D102-A83D86615E60}"/>
              </a:ext>
            </a:extLst>
          </p:cNvPr>
          <p:cNvSpPr txBox="1"/>
          <p:nvPr/>
        </p:nvSpPr>
        <p:spPr>
          <a:xfrm>
            <a:off x="1701436" y="4757147"/>
            <a:ext cx="8458200" cy="461665"/>
          </a:xfrm>
          <a:prstGeom prst="rect">
            <a:avLst/>
          </a:prstGeom>
          <a:noFill/>
        </p:spPr>
        <p:txBody>
          <a:bodyPr wrap="square" rtlCol="0">
            <a:spAutoFit/>
          </a:bodyPr>
          <a:lstStyle/>
          <a:p>
            <a:pPr algn="ctr"/>
            <a:r>
              <a:rPr lang="en-US" sz="2400" b="1">
                <a:solidFill>
                  <a:schemeClr val="bg1"/>
                </a:solidFill>
                <a:effectLst/>
                <a:latin typeface="Courier New" panose="02070309020205020404" pitchFamily="49" charset="0"/>
                <a:cs typeface="Courier New" panose="02070309020205020404" pitchFamily="49" charset="0"/>
              </a:rPr>
              <a:t>PlotSlices(template)</a:t>
            </a:r>
            <a:endParaRPr lang="en-US" sz="2400" b="1">
              <a:solidFill>
                <a:schemeClr val="bg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0663636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A9805-B2EB-F81E-7E43-4B59311650BE}"/>
            </a:ext>
          </a:extLst>
        </p:cNvPr>
        <p:cNvGrpSpPr/>
        <p:nvPr/>
      </p:nvGrpSpPr>
      <p:grpSpPr>
        <a:xfrm>
          <a:off x="0" y="0"/>
          <a:ext cx="0" cy="0"/>
          <a:chOff x="0" y="0"/>
          <a:chExt cx="0" cy="0"/>
        </a:xfrm>
      </p:grpSpPr>
      <p:pic>
        <p:nvPicPr>
          <p:cNvPr id="8" name="Picture 7" descr="A screenshot of a computer&#10;&#10;Description automatically generated">
            <a:extLst>
              <a:ext uri="{FF2B5EF4-FFF2-40B4-BE49-F238E27FC236}">
                <a16:creationId xmlns:a16="http://schemas.microsoft.com/office/drawing/2014/main" id="{A59EE422-0CBE-984A-1A8B-75E976F4E4B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5702" y="647700"/>
            <a:ext cx="9573098" cy="4326303"/>
          </a:xfrm>
          <a:prstGeom prst="rect">
            <a:avLst/>
          </a:prstGeom>
        </p:spPr>
      </p:pic>
      <p:sp>
        <p:nvSpPr>
          <p:cNvPr id="2" name="Slide Number Placeholder 1">
            <a:extLst>
              <a:ext uri="{FF2B5EF4-FFF2-40B4-BE49-F238E27FC236}">
                <a16:creationId xmlns:a16="http://schemas.microsoft.com/office/drawing/2014/main" id="{BA2FD389-CBB7-17B8-41FF-E6DE152AE173}"/>
              </a:ext>
            </a:extLst>
          </p:cNvPr>
          <p:cNvSpPr>
            <a:spLocks noGrp="1"/>
          </p:cNvSpPr>
          <p:nvPr>
            <p:ph type="sldNum" sz="quarter" idx="12"/>
          </p:nvPr>
        </p:nvSpPr>
        <p:spPr/>
        <p:txBody>
          <a:bodyPr/>
          <a:lstStyle/>
          <a:p>
            <a:fld id="{6F215E70-FDA5-6C45-8C7C-E922E56675B4}" type="slidenum">
              <a:rPr lang="en-US"/>
              <a:t>27</a:t>
            </a:fld>
            <a:endParaRPr lang="en-US"/>
          </a:p>
        </p:txBody>
      </p:sp>
      <p:sp>
        <p:nvSpPr>
          <p:cNvPr id="3" name="TextBox 2">
            <a:extLst>
              <a:ext uri="{FF2B5EF4-FFF2-40B4-BE49-F238E27FC236}">
                <a16:creationId xmlns:a16="http://schemas.microsoft.com/office/drawing/2014/main" id="{01C4C340-1BF9-310C-34CE-9A5DFAF2DD26}"/>
              </a:ext>
            </a:extLst>
          </p:cNvPr>
          <p:cNvSpPr txBox="1"/>
          <p:nvPr/>
        </p:nvSpPr>
        <p:spPr>
          <a:xfrm>
            <a:off x="1866900" y="4743170"/>
            <a:ext cx="8458200" cy="461665"/>
          </a:xfrm>
          <a:prstGeom prst="rect">
            <a:avLst/>
          </a:prstGeom>
          <a:noFill/>
        </p:spPr>
        <p:txBody>
          <a:bodyPr wrap="square" rtlCol="0">
            <a:spAutoFit/>
          </a:bodyPr>
          <a:lstStyle/>
          <a:p>
            <a:pPr algn="ctr"/>
            <a:r>
              <a:rPr lang="en-US" sz="2400" b="1">
                <a:solidFill>
                  <a:schemeClr val="bg1"/>
                </a:solidFill>
                <a:effectLst/>
                <a:latin typeface="Courier New" panose="02070309020205020404" pitchFamily="49" charset="0"/>
                <a:cs typeface="Courier New" panose="02070309020205020404" pitchFamily="49" charset="0"/>
              </a:rPr>
              <a:t>PlotSlices(template_clipped)</a:t>
            </a:r>
          </a:p>
        </p:txBody>
      </p:sp>
    </p:spTree>
    <p:extLst>
      <p:ext uri="{BB962C8B-B14F-4D97-AF65-F5344CB8AC3E}">
        <p14:creationId xmlns:p14="http://schemas.microsoft.com/office/powerpoint/2010/main" val="42428533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325E057B-D04E-4D70-C5B7-8E2928E27C4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05180" y="443244"/>
            <a:ext cx="10781639" cy="4872470"/>
          </a:xfrm>
          <a:prstGeom prst="rect">
            <a:avLst/>
          </a:prstGeom>
        </p:spPr>
      </p:pic>
      <p:sp>
        <p:nvSpPr>
          <p:cNvPr id="2" name="Slide Number Placeholder 1">
            <a:extLst>
              <a:ext uri="{FF2B5EF4-FFF2-40B4-BE49-F238E27FC236}">
                <a16:creationId xmlns:a16="http://schemas.microsoft.com/office/drawing/2014/main" id="{772445F2-893B-55EB-CF50-F7D56AC3D5FC}"/>
              </a:ext>
            </a:extLst>
          </p:cNvPr>
          <p:cNvSpPr>
            <a:spLocks noGrp="1"/>
          </p:cNvSpPr>
          <p:nvPr>
            <p:ph type="sldNum" sz="quarter" idx="12"/>
          </p:nvPr>
        </p:nvSpPr>
        <p:spPr/>
        <p:txBody>
          <a:bodyPr/>
          <a:lstStyle/>
          <a:p>
            <a:fld id="{6F215E70-FDA5-6C45-8C7C-E922E56675B4}" type="slidenum">
              <a:rPr lang="en-US"/>
              <a:t>28</a:t>
            </a:fld>
            <a:endParaRPr lang="en-US"/>
          </a:p>
        </p:txBody>
      </p:sp>
      <p:sp>
        <p:nvSpPr>
          <p:cNvPr id="3" name="TextBox 2">
            <a:extLst>
              <a:ext uri="{FF2B5EF4-FFF2-40B4-BE49-F238E27FC236}">
                <a16:creationId xmlns:a16="http://schemas.microsoft.com/office/drawing/2014/main" id="{19BAEEBC-86BD-6487-530C-E103F7599573}"/>
              </a:ext>
            </a:extLst>
          </p:cNvPr>
          <p:cNvSpPr txBox="1"/>
          <p:nvPr/>
        </p:nvSpPr>
        <p:spPr>
          <a:xfrm>
            <a:off x="2425700" y="5084882"/>
            <a:ext cx="8458200" cy="461665"/>
          </a:xfrm>
          <a:prstGeom prst="rect">
            <a:avLst/>
          </a:prstGeom>
          <a:noFill/>
        </p:spPr>
        <p:txBody>
          <a:bodyPr wrap="square" rtlCol="0">
            <a:spAutoFit/>
          </a:bodyPr>
          <a:lstStyle/>
          <a:p>
            <a:pPr algn="ctr"/>
            <a:r>
              <a:rPr lang="en-US" sz="2400" b="1">
                <a:solidFill>
                  <a:schemeClr val="bg1"/>
                </a:solidFill>
                <a:effectLst/>
                <a:latin typeface="Courier New" panose="02070309020205020404" pitchFamily="49" charset="0"/>
                <a:cs typeface="Courier New" panose="02070309020205020404" pitchFamily="49" charset="0"/>
              </a:rPr>
              <a:t>PlotSlices(FFR_as_vol)</a:t>
            </a:r>
          </a:p>
        </p:txBody>
      </p:sp>
    </p:spTree>
    <p:extLst>
      <p:ext uri="{BB962C8B-B14F-4D97-AF65-F5344CB8AC3E}">
        <p14:creationId xmlns:p14="http://schemas.microsoft.com/office/powerpoint/2010/main" val="34897378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A3F1C-647A-506D-F66A-917EF77DB246}"/>
            </a:ext>
          </a:extLst>
        </p:cNvPr>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E0A4D635-2909-0318-902F-E0B76893EF4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44550" y="439260"/>
            <a:ext cx="10160000" cy="4591537"/>
          </a:xfrm>
          <a:prstGeom prst="rect">
            <a:avLst/>
          </a:prstGeom>
        </p:spPr>
      </p:pic>
      <p:sp>
        <p:nvSpPr>
          <p:cNvPr id="2" name="Slide Number Placeholder 1">
            <a:extLst>
              <a:ext uri="{FF2B5EF4-FFF2-40B4-BE49-F238E27FC236}">
                <a16:creationId xmlns:a16="http://schemas.microsoft.com/office/drawing/2014/main" id="{8117D09C-BC48-77DD-0AC7-9E98AA7A6471}"/>
              </a:ext>
            </a:extLst>
          </p:cNvPr>
          <p:cNvSpPr>
            <a:spLocks noGrp="1"/>
          </p:cNvSpPr>
          <p:nvPr>
            <p:ph type="sldNum" sz="quarter" idx="12"/>
          </p:nvPr>
        </p:nvSpPr>
        <p:spPr/>
        <p:txBody>
          <a:bodyPr/>
          <a:lstStyle/>
          <a:p>
            <a:fld id="{6F215E70-FDA5-6C45-8C7C-E922E56675B4}" type="slidenum">
              <a:rPr lang="en-US"/>
              <a:t>29</a:t>
            </a:fld>
            <a:endParaRPr lang="en-US"/>
          </a:p>
        </p:txBody>
      </p:sp>
      <p:sp>
        <p:nvSpPr>
          <p:cNvPr id="3" name="TextBox 2">
            <a:extLst>
              <a:ext uri="{FF2B5EF4-FFF2-40B4-BE49-F238E27FC236}">
                <a16:creationId xmlns:a16="http://schemas.microsoft.com/office/drawing/2014/main" id="{287EDE0A-A531-6243-4078-643F4C218EF9}"/>
              </a:ext>
            </a:extLst>
          </p:cNvPr>
          <p:cNvSpPr txBox="1"/>
          <p:nvPr/>
        </p:nvSpPr>
        <p:spPr>
          <a:xfrm>
            <a:off x="666750" y="5030797"/>
            <a:ext cx="10858500" cy="461665"/>
          </a:xfrm>
          <a:prstGeom prst="rect">
            <a:avLst/>
          </a:prstGeom>
          <a:noFill/>
        </p:spPr>
        <p:txBody>
          <a:bodyPr wrap="square" rtlCol="0">
            <a:spAutoFit/>
          </a:bodyPr>
          <a:lstStyle/>
          <a:p>
            <a:pPr algn="ctr"/>
            <a:r>
              <a:rPr lang="en-US" sz="2400" b="1">
                <a:solidFill>
                  <a:schemeClr val="bg1"/>
                </a:solidFill>
                <a:effectLst/>
                <a:latin typeface="Courier New" panose="02070309020205020404" pitchFamily="49" charset="0"/>
                <a:cs typeface="Courier New" panose="02070309020205020404" pitchFamily="49" charset="0"/>
              </a:rPr>
              <a:t>PlotSlices(template_clipped,info.tissue.dim,[],FFR_as_vol)</a:t>
            </a:r>
          </a:p>
        </p:txBody>
      </p:sp>
    </p:spTree>
    <p:extLst>
      <p:ext uri="{BB962C8B-B14F-4D97-AF65-F5344CB8AC3E}">
        <p14:creationId xmlns:p14="http://schemas.microsoft.com/office/powerpoint/2010/main" val="16389402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110FD-B581-5385-A275-7CE7FABFB9FA}"/>
            </a:ext>
          </a:extLst>
        </p:cNvPr>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656821DD-82E3-8564-89B6-918366FF31D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9900" y="547077"/>
            <a:ext cx="11062660" cy="4999470"/>
          </a:xfrm>
          <a:prstGeom prst="rect">
            <a:avLst/>
          </a:prstGeom>
        </p:spPr>
      </p:pic>
      <p:sp>
        <p:nvSpPr>
          <p:cNvPr id="2" name="Slide Number Placeholder 1">
            <a:extLst>
              <a:ext uri="{FF2B5EF4-FFF2-40B4-BE49-F238E27FC236}">
                <a16:creationId xmlns:a16="http://schemas.microsoft.com/office/drawing/2014/main" id="{00847F54-CC9F-4F2B-1B64-0C6B5393C3BD}"/>
              </a:ext>
            </a:extLst>
          </p:cNvPr>
          <p:cNvSpPr>
            <a:spLocks noGrp="1"/>
          </p:cNvSpPr>
          <p:nvPr>
            <p:ph type="sldNum" sz="quarter" idx="12"/>
          </p:nvPr>
        </p:nvSpPr>
        <p:spPr/>
        <p:txBody>
          <a:bodyPr/>
          <a:lstStyle/>
          <a:p>
            <a:fld id="{6F215E70-FDA5-6C45-8C7C-E922E56675B4}" type="slidenum">
              <a:rPr lang="en-US"/>
              <a:t>30</a:t>
            </a:fld>
            <a:endParaRPr lang="en-US"/>
          </a:p>
        </p:txBody>
      </p:sp>
      <p:sp>
        <p:nvSpPr>
          <p:cNvPr id="3" name="TextBox 2">
            <a:extLst>
              <a:ext uri="{FF2B5EF4-FFF2-40B4-BE49-F238E27FC236}">
                <a16:creationId xmlns:a16="http://schemas.microsoft.com/office/drawing/2014/main" id="{BD4A0805-B218-44F2-364A-084DFC2997E7}"/>
              </a:ext>
            </a:extLst>
          </p:cNvPr>
          <p:cNvSpPr txBox="1"/>
          <p:nvPr/>
        </p:nvSpPr>
        <p:spPr>
          <a:xfrm>
            <a:off x="2057400" y="5211882"/>
            <a:ext cx="8458200" cy="461665"/>
          </a:xfrm>
          <a:prstGeom prst="rect">
            <a:avLst/>
          </a:prstGeom>
          <a:noFill/>
        </p:spPr>
        <p:txBody>
          <a:bodyPr wrap="square" rtlCol="0">
            <a:spAutoFit/>
          </a:bodyPr>
          <a:lstStyle/>
          <a:p>
            <a:pPr algn="ctr"/>
            <a:r>
              <a:rPr lang="en-US" sz="2400" b="1">
                <a:solidFill>
                  <a:schemeClr val="bg1"/>
                </a:solidFill>
                <a:effectLst/>
                <a:latin typeface="Courier New" panose="02070309020205020404" pitchFamily="49" charset="0"/>
                <a:cs typeface="Courier New" panose="02070309020205020404" pitchFamily="49" charset="0"/>
              </a:rPr>
              <a:t>PlotSlices(FFR_in_wholebrainspace)</a:t>
            </a:r>
          </a:p>
        </p:txBody>
      </p:sp>
    </p:spTree>
    <p:extLst>
      <p:ext uri="{BB962C8B-B14F-4D97-AF65-F5344CB8AC3E}">
        <p14:creationId xmlns:p14="http://schemas.microsoft.com/office/powerpoint/2010/main" val="41124394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05558-45A4-CA23-3E68-75C6DDC5DE97}"/>
            </a:ext>
          </a:extLst>
        </p:cNvPr>
        <p:cNvGrpSpPr/>
        <p:nvPr/>
      </p:nvGrpSpPr>
      <p:grpSpPr>
        <a:xfrm>
          <a:off x="0" y="0"/>
          <a:ext cx="0" cy="0"/>
          <a:chOff x="0" y="0"/>
          <a:chExt cx="0" cy="0"/>
        </a:xfrm>
      </p:grpSpPr>
      <p:pic>
        <p:nvPicPr>
          <p:cNvPr id="5" name="Picture 4" descr="A screenshot of a computer screen&#10;&#10;Description automatically generated">
            <a:extLst>
              <a:ext uri="{FF2B5EF4-FFF2-40B4-BE49-F238E27FC236}">
                <a16:creationId xmlns:a16="http://schemas.microsoft.com/office/drawing/2014/main" id="{A31AB74C-DEDF-5433-4D3B-EA2797D9A45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73100" y="403781"/>
            <a:ext cx="10845800" cy="4901466"/>
          </a:xfrm>
          <a:prstGeom prst="rect">
            <a:avLst/>
          </a:prstGeom>
        </p:spPr>
      </p:pic>
      <p:sp>
        <p:nvSpPr>
          <p:cNvPr id="2" name="Slide Number Placeholder 1">
            <a:extLst>
              <a:ext uri="{FF2B5EF4-FFF2-40B4-BE49-F238E27FC236}">
                <a16:creationId xmlns:a16="http://schemas.microsoft.com/office/drawing/2014/main" id="{8A17CF01-560D-17A0-1030-A5A20898B52D}"/>
              </a:ext>
            </a:extLst>
          </p:cNvPr>
          <p:cNvSpPr>
            <a:spLocks noGrp="1"/>
          </p:cNvSpPr>
          <p:nvPr>
            <p:ph type="sldNum" sz="quarter" idx="12"/>
          </p:nvPr>
        </p:nvSpPr>
        <p:spPr/>
        <p:txBody>
          <a:bodyPr/>
          <a:lstStyle/>
          <a:p>
            <a:fld id="{6F215E70-FDA5-6C45-8C7C-E922E56675B4}" type="slidenum">
              <a:rPr lang="en-US"/>
              <a:t>31</a:t>
            </a:fld>
            <a:endParaRPr lang="en-US"/>
          </a:p>
        </p:txBody>
      </p:sp>
      <p:sp>
        <p:nvSpPr>
          <p:cNvPr id="3" name="TextBox 2">
            <a:extLst>
              <a:ext uri="{FF2B5EF4-FFF2-40B4-BE49-F238E27FC236}">
                <a16:creationId xmlns:a16="http://schemas.microsoft.com/office/drawing/2014/main" id="{766BA47A-7CCC-166C-913E-F147BFE27485}"/>
              </a:ext>
            </a:extLst>
          </p:cNvPr>
          <p:cNvSpPr txBox="1"/>
          <p:nvPr/>
        </p:nvSpPr>
        <p:spPr>
          <a:xfrm>
            <a:off x="409073" y="4891029"/>
            <a:ext cx="11562348" cy="461665"/>
          </a:xfrm>
          <a:prstGeom prst="rect">
            <a:avLst/>
          </a:prstGeom>
          <a:noFill/>
          <a:ln>
            <a:noFill/>
          </a:ln>
        </p:spPr>
        <p:txBody>
          <a:bodyPr wrap="square" rtlCol="0">
            <a:spAutoFit/>
          </a:bodyPr>
          <a:lstStyle/>
          <a:p>
            <a:pPr algn="ctr"/>
            <a:r>
              <a:rPr lang="en-US" sz="2400" b="1">
                <a:solidFill>
                  <a:schemeClr val="bg1"/>
                </a:solidFill>
                <a:effectLst/>
                <a:latin typeface="Courier New" panose="02070309020205020404" pitchFamily="49" charset="0"/>
                <a:cs typeface="Courier New" panose="02070309020205020404" pitchFamily="49" charset="0"/>
              </a:rPr>
              <a:t>PlotSlices(template,template_info,[],FFR_in_wholebrainspace)</a:t>
            </a:r>
          </a:p>
        </p:txBody>
      </p:sp>
    </p:spTree>
    <p:extLst>
      <p:ext uri="{BB962C8B-B14F-4D97-AF65-F5344CB8AC3E}">
        <p14:creationId xmlns:p14="http://schemas.microsoft.com/office/powerpoint/2010/main" val="27733420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E7E7C-D076-1C35-62FD-307E6BA709F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803FB7-802C-C6DE-2A4B-396BEBCFAEEF}"/>
              </a:ext>
            </a:extLst>
          </p:cNvPr>
          <p:cNvSpPr>
            <a:spLocks noGrp="1"/>
          </p:cNvSpPr>
          <p:nvPr>
            <p:ph type="sldNum" sz="quarter" idx="12"/>
          </p:nvPr>
        </p:nvSpPr>
        <p:spPr/>
        <p:txBody>
          <a:bodyPr/>
          <a:lstStyle/>
          <a:p>
            <a:fld id="{6F215E70-FDA5-6C45-8C7C-E922E56675B4}" type="slidenum">
              <a:rPr lang="en-US"/>
              <a:t>32</a:t>
            </a:fld>
            <a:endParaRPr lang="en-US"/>
          </a:p>
        </p:txBody>
      </p:sp>
      <p:sp>
        <p:nvSpPr>
          <p:cNvPr id="3" name="TextBox 2">
            <a:extLst>
              <a:ext uri="{FF2B5EF4-FFF2-40B4-BE49-F238E27FC236}">
                <a16:creationId xmlns:a16="http://schemas.microsoft.com/office/drawing/2014/main" id="{7DB06EFF-287D-C0F5-7A30-51A2FAC80101}"/>
              </a:ext>
            </a:extLst>
          </p:cNvPr>
          <p:cNvSpPr txBox="1"/>
          <p:nvPr/>
        </p:nvSpPr>
        <p:spPr>
          <a:xfrm>
            <a:off x="2836997" y="1442105"/>
            <a:ext cx="6947445" cy="1077218"/>
          </a:xfrm>
          <a:prstGeom prst="rect">
            <a:avLst/>
          </a:prstGeom>
          <a:noFill/>
        </p:spPr>
        <p:txBody>
          <a:bodyPr wrap="square" rtlCol="0">
            <a:spAutoFit/>
          </a:bodyPr>
          <a:lstStyle/>
          <a:p>
            <a:pPr algn="ctr"/>
            <a:r>
              <a:rPr lang="en-US" sz="3200">
                <a:solidFill>
                  <a:schemeClr val="bg1"/>
                </a:solidFill>
                <a:effectLst/>
                <a:latin typeface="Trebuchet MS" panose="020B0703020202090204" pitchFamily="34" charset="0"/>
              </a:rPr>
              <a:t>Example 3</a:t>
            </a:r>
          </a:p>
          <a:p>
            <a:pPr algn="ctr"/>
            <a:r>
              <a:rPr lang="en-US" sz="3200">
                <a:solidFill>
                  <a:schemeClr val="bg1"/>
                </a:solidFill>
                <a:latin typeface="Trebuchet MS" panose="020B0703020202090204" pitchFamily="34" charset="0"/>
              </a:rPr>
              <a:t>Mapping to subject-specific anatomy</a:t>
            </a:r>
            <a:endParaRPr lang="en-US" sz="3200">
              <a:solidFill>
                <a:schemeClr val="bg1"/>
              </a:solidFill>
              <a:effectLst/>
              <a:latin typeface="Trebuchet MS" panose="020B0703020202090204" pitchFamily="34" charset="0"/>
            </a:endParaRPr>
          </a:p>
        </p:txBody>
      </p:sp>
      <p:sp>
        <p:nvSpPr>
          <p:cNvPr id="4" name="TextBox 3">
            <a:extLst>
              <a:ext uri="{FF2B5EF4-FFF2-40B4-BE49-F238E27FC236}">
                <a16:creationId xmlns:a16="http://schemas.microsoft.com/office/drawing/2014/main" id="{CBC29862-F716-D2A2-37F3-D38554DE56D4}"/>
              </a:ext>
            </a:extLst>
          </p:cNvPr>
          <p:cNvSpPr txBox="1"/>
          <p:nvPr/>
        </p:nvSpPr>
        <p:spPr>
          <a:xfrm>
            <a:off x="1808271" y="3429000"/>
            <a:ext cx="9004897" cy="1200329"/>
          </a:xfrm>
          <a:prstGeom prst="rect">
            <a:avLst/>
          </a:prstGeom>
          <a:noFill/>
        </p:spPr>
        <p:txBody>
          <a:bodyPr wrap="square" rtlCol="0">
            <a:spAutoFit/>
          </a:bodyPr>
          <a:lstStyle/>
          <a:p>
            <a:r>
              <a:rPr lang="en-US" sz="2400">
                <a:solidFill>
                  <a:schemeClr val="bg1"/>
                </a:solidFill>
                <a:latin typeface="Trebuchet MS" panose="020B0703020202090204" pitchFamily="34" charset="0"/>
                <a:cs typeface="Courier New" panose="02070309020205020404" pitchFamily="49" charset="0"/>
              </a:rPr>
              <a:t>In this example, we load a subject T1 and use it to view the FFR. Because the head model used to create the FFR was based on the MNI atlas, we must transform the FFR into the T1 space.</a:t>
            </a:r>
          </a:p>
        </p:txBody>
      </p:sp>
    </p:spTree>
    <p:extLst>
      <p:ext uri="{BB962C8B-B14F-4D97-AF65-F5344CB8AC3E}">
        <p14:creationId xmlns:p14="http://schemas.microsoft.com/office/powerpoint/2010/main" val="3383636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Description automatically generated">
            <a:extLst>
              <a:ext uri="{FF2B5EF4-FFF2-40B4-BE49-F238E27FC236}">
                <a16:creationId xmlns:a16="http://schemas.microsoft.com/office/drawing/2014/main" id="{F86C96A3-7540-D9F9-C5AB-DA6246CF74BC}"/>
              </a:ext>
            </a:extLst>
          </p:cNvPr>
          <p:cNvPicPr>
            <a:picLocks noChangeAspect="1"/>
          </p:cNvPicPr>
          <p:nvPr/>
        </p:nvPicPr>
        <p:blipFill>
          <a:blip r:embed="rId2" cstate="screen">
            <a:extLst>
              <a:ext uri="{28A0092B-C50C-407E-A947-70E740481C1C}">
                <a14:useLocalDpi xmlns:a14="http://schemas.microsoft.com/office/drawing/2010/main"/>
              </a:ext>
            </a:extLst>
          </a:blip>
          <a:srcRect t="5301" b="11701"/>
          <a:stretch/>
        </p:blipFill>
        <p:spPr>
          <a:xfrm>
            <a:off x="1920240" y="1357688"/>
            <a:ext cx="8902757" cy="3339291"/>
          </a:xfrm>
          <a:prstGeom prst="rect">
            <a:avLst/>
          </a:prstGeom>
        </p:spPr>
      </p:pic>
      <p:sp>
        <p:nvSpPr>
          <p:cNvPr id="2" name="Slide Number Placeholder 1">
            <a:extLst>
              <a:ext uri="{FF2B5EF4-FFF2-40B4-BE49-F238E27FC236}">
                <a16:creationId xmlns:a16="http://schemas.microsoft.com/office/drawing/2014/main" id="{D622B204-ED40-9066-3F9F-B0690123EC93}"/>
              </a:ext>
            </a:extLst>
          </p:cNvPr>
          <p:cNvSpPr>
            <a:spLocks noGrp="1"/>
          </p:cNvSpPr>
          <p:nvPr>
            <p:ph type="sldNum" sz="quarter" idx="12"/>
          </p:nvPr>
        </p:nvSpPr>
        <p:spPr/>
        <p:txBody>
          <a:bodyPr/>
          <a:lstStyle/>
          <a:p>
            <a:fld id="{6F215E70-FDA5-6C45-8C7C-E922E56675B4}" type="slidenum">
              <a:rPr lang="en-US"/>
              <a:t>33</a:t>
            </a:fld>
            <a:endParaRPr lang="en-US"/>
          </a:p>
        </p:txBody>
      </p:sp>
      <p:sp>
        <p:nvSpPr>
          <p:cNvPr id="5" name="TextBox 4">
            <a:extLst>
              <a:ext uri="{FF2B5EF4-FFF2-40B4-BE49-F238E27FC236}">
                <a16:creationId xmlns:a16="http://schemas.microsoft.com/office/drawing/2014/main" id="{9650BBD6-3B6F-391F-C036-8CBA7384040F}"/>
              </a:ext>
            </a:extLst>
          </p:cNvPr>
          <p:cNvSpPr txBox="1"/>
          <p:nvPr/>
        </p:nvSpPr>
        <p:spPr>
          <a:xfrm>
            <a:off x="1828799" y="4979240"/>
            <a:ext cx="8788401" cy="646331"/>
          </a:xfrm>
          <a:prstGeom prst="rect">
            <a:avLst/>
          </a:prstGeom>
          <a:noFill/>
        </p:spPr>
        <p:txBody>
          <a:bodyPr wrap="square" rtlCol="0">
            <a:spAutoFit/>
          </a:bodyPr>
          <a:lstStyle/>
          <a:p>
            <a:r>
              <a:rPr lang="en-US" b="1">
                <a:solidFill>
                  <a:schemeClr val="bg1"/>
                </a:solidFill>
                <a:latin typeface="Courier New" panose="02070309020205020404" pitchFamily="49" charset="0"/>
                <a:cs typeface="Courier New" panose="02070309020205020404" pitchFamily="49" charset="0"/>
              </a:rPr>
              <a:t>[ T1,T1_info ] = LoadVolumetricData(</a:t>
            </a:r>
            <a:r>
              <a:rPr lang="en-US" b="1">
                <a:solidFill>
                  <a:srgbClr val="FF40FF"/>
                </a:solidFill>
                <a:latin typeface="Courier New" panose="02070309020205020404" pitchFamily="49" charset="0"/>
                <a:cs typeface="Courier New" panose="02070309020205020404" pitchFamily="49" charset="0"/>
              </a:rPr>
              <a:t>'NeuroDOT_Example_T1.nii'</a:t>
            </a:r>
            <a:r>
              <a:rPr lang="en-US" b="1">
                <a:solidFill>
                  <a:schemeClr val="bg1"/>
                </a:solidFill>
                <a:latin typeface="Courier New" panose="02070309020205020404" pitchFamily="49" charset="0"/>
                <a:cs typeface="Courier New" panose="02070309020205020404" pitchFamily="49" charset="0"/>
              </a:rPr>
              <a:t>);</a:t>
            </a:r>
          </a:p>
          <a:p>
            <a:r>
              <a:rPr lang="en-US" b="1">
                <a:solidFill>
                  <a:schemeClr val="bg1"/>
                </a:solidFill>
                <a:latin typeface="Courier New" panose="02070309020205020404" pitchFamily="49" charset="0"/>
                <a:cs typeface="Courier New" panose="02070309020205020404" pitchFamily="49" charset="0"/>
              </a:rPr>
              <a:t>PlotSlices(T1,T1_info)</a:t>
            </a:r>
          </a:p>
        </p:txBody>
      </p:sp>
      <p:sp>
        <p:nvSpPr>
          <p:cNvPr id="6" name="TextBox 5">
            <a:extLst>
              <a:ext uri="{FF2B5EF4-FFF2-40B4-BE49-F238E27FC236}">
                <a16:creationId xmlns:a16="http://schemas.microsoft.com/office/drawing/2014/main" id="{72996E50-B1F6-22B1-785A-19E53A13DA1B}"/>
              </a:ext>
            </a:extLst>
          </p:cNvPr>
          <p:cNvSpPr txBox="1"/>
          <p:nvPr/>
        </p:nvSpPr>
        <p:spPr>
          <a:xfrm>
            <a:off x="6466037" y="5869124"/>
            <a:ext cx="4887763" cy="369332"/>
          </a:xfrm>
          <a:prstGeom prst="rect">
            <a:avLst/>
          </a:prstGeom>
          <a:noFill/>
          <a:ln>
            <a:noFill/>
          </a:ln>
        </p:spPr>
        <p:txBody>
          <a:bodyPr wrap="square" rtlCol="0">
            <a:spAutoFit/>
          </a:bodyPr>
          <a:lstStyle/>
          <a:p>
            <a:r>
              <a:rPr lang="en-US">
                <a:solidFill>
                  <a:srgbClr val="FFFF00"/>
                </a:solidFill>
                <a:latin typeface="Trebuchet MS" panose="020B0703020202090204" pitchFamily="34" charset="0"/>
              </a:rPr>
              <a:t>included in the NeuroDOT distribution</a:t>
            </a:r>
          </a:p>
        </p:txBody>
      </p:sp>
      <p:sp>
        <p:nvSpPr>
          <p:cNvPr id="10" name="Up Arrow 9">
            <a:extLst>
              <a:ext uri="{FF2B5EF4-FFF2-40B4-BE49-F238E27FC236}">
                <a16:creationId xmlns:a16="http://schemas.microsoft.com/office/drawing/2014/main" id="{A46BC3FD-9BD3-4B28-8D6E-9FABD6297F81}"/>
              </a:ext>
            </a:extLst>
          </p:cNvPr>
          <p:cNvSpPr/>
          <p:nvPr/>
        </p:nvSpPr>
        <p:spPr>
          <a:xfrm>
            <a:off x="8205228" y="5407459"/>
            <a:ext cx="235103" cy="389001"/>
          </a:xfrm>
          <a:prstGeom prst="upArrow">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98026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6C49EC-3E99-A9F0-B5AF-924F4FDB654C}"/>
              </a:ext>
            </a:extLst>
          </p:cNvPr>
          <p:cNvPicPr>
            <a:picLocks noChangeAspect="1"/>
          </p:cNvPicPr>
          <p:nvPr/>
        </p:nvPicPr>
        <p:blipFill>
          <a:blip r:embed="rId2" cstate="screen">
            <a:extLst>
              <a:ext uri="{28A0092B-C50C-407E-A947-70E740481C1C}">
                <a14:useLocalDpi xmlns:a14="http://schemas.microsoft.com/office/drawing/2010/main"/>
              </a:ext>
            </a:extLst>
          </a:blip>
          <a:srcRect t="4213" b="11105"/>
          <a:stretch/>
        </p:blipFill>
        <p:spPr>
          <a:xfrm>
            <a:off x="1920240" y="1315233"/>
            <a:ext cx="8902757" cy="3407079"/>
          </a:xfrm>
          <a:prstGeom prst="rect">
            <a:avLst/>
          </a:prstGeom>
        </p:spPr>
      </p:pic>
      <p:sp>
        <p:nvSpPr>
          <p:cNvPr id="2" name="Slide Number Placeholder 1">
            <a:extLst>
              <a:ext uri="{FF2B5EF4-FFF2-40B4-BE49-F238E27FC236}">
                <a16:creationId xmlns:a16="http://schemas.microsoft.com/office/drawing/2014/main" id="{D4F6BC3C-6F67-0C6B-6031-BCD50ADDCE6D}"/>
              </a:ext>
            </a:extLst>
          </p:cNvPr>
          <p:cNvSpPr>
            <a:spLocks noGrp="1"/>
          </p:cNvSpPr>
          <p:nvPr>
            <p:ph type="sldNum" sz="quarter" idx="12"/>
          </p:nvPr>
        </p:nvSpPr>
        <p:spPr/>
        <p:txBody>
          <a:bodyPr/>
          <a:lstStyle/>
          <a:p>
            <a:fld id="{6F215E70-FDA5-6C45-8C7C-E922E56675B4}" type="slidenum">
              <a:rPr lang="en-US"/>
              <a:t>34</a:t>
            </a:fld>
            <a:endParaRPr lang="en-US"/>
          </a:p>
        </p:txBody>
      </p:sp>
      <p:sp>
        <p:nvSpPr>
          <p:cNvPr id="5" name="TextBox 4">
            <a:extLst>
              <a:ext uri="{FF2B5EF4-FFF2-40B4-BE49-F238E27FC236}">
                <a16:creationId xmlns:a16="http://schemas.microsoft.com/office/drawing/2014/main" id="{9EE3B8E1-95CD-98FE-7678-518CABFE654D}"/>
              </a:ext>
            </a:extLst>
          </p:cNvPr>
          <p:cNvSpPr txBox="1"/>
          <p:nvPr/>
        </p:nvSpPr>
        <p:spPr>
          <a:xfrm>
            <a:off x="1350906" y="5128570"/>
            <a:ext cx="10411033" cy="646331"/>
          </a:xfrm>
          <a:prstGeom prst="rect">
            <a:avLst/>
          </a:prstGeom>
          <a:noFill/>
        </p:spPr>
        <p:txBody>
          <a:bodyPr wrap="square" rtlCol="0">
            <a:spAutoFit/>
          </a:bodyPr>
          <a:lstStyle/>
          <a:p>
            <a:r>
              <a:rPr lang="en-US" b="1">
                <a:solidFill>
                  <a:schemeClr val="bg1"/>
                </a:solidFill>
                <a:effectLst/>
                <a:latin typeface="Courier New" panose="02070309020205020404" pitchFamily="49" charset="0"/>
                <a:cs typeface="Courier New" panose="02070309020205020404" pitchFamily="49" charset="0"/>
              </a:rPr>
              <a:t>FFR_in_subjectspace = affine3d_img(FFR_as_vol,info.tissue.dim,T1_info);</a:t>
            </a:r>
          </a:p>
          <a:p>
            <a:r>
              <a:rPr lang="en-US" b="1">
                <a:solidFill>
                  <a:schemeClr val="bg1"/>
                </a:solidFill>
                <a:effectLst/>
                <a:latin typeface="Courier New" panose="02070309020205020404" pitchFamily="49" charset="0"/>
                <a:cs typeface="Courier New" panose="02070309020205020404" pitchFamily="49" charset="0"/>
              </a:rPr>
              <a:t>PlotSlices(T1,T1_info,[], FFR_in_subjectspace)</a:t>
            </a:r>
          </a:p>
        </p:txBody>
      </p:sp>
      <p:sp>
        <p:nvSpPr>
          <p:cNvPr id="6" name="TextBox 5">
            <a:extLst>
              <a:ext uri="{FF2B5EF4-FFF2-40B4-BE49-F238E27FC236}">
                <a16:creationId xmlns:a16="http://schemas.microsoft.com/office/drawing/2014/main" id="{811A0318-F0DB-FED4-4796-DF5A4833765B}"/>
              </a:ext>
            </a:extLst>
          </p:cNvPr>
          <p:cNvSpPr txBox="1"/>
          <p:nvPr/>
        </p:nvSpPr>
        <p:spPr>
          <a:xfrm>
            <a:off x="511243" y="533729"/>
            <a:ext cx="11250696" cy="400110"/>
          </a:xfrm>
          <a:prstGeom prst="rect">
            <a:avLst/>
          </a:prstGeom>
          <a:noFill/>
        </p:spPr>
        <p:txBody>
          <a:bodyPr wrap="square" rtlCol="0">
            <a:spAutoFit/>
          </a:bodyPr>
          <a:lstStyle/>
          <a:p>
            <a:r>
              <a:rPr lang="en-US" sz="2000">
                <a:solidFill>
                  <a:schemeClr val="bg1"/>
                </a:solidFill>
                <a:latin typeface="Trebuchet MS" panose="020B0703020202090204" pitchFamily="34" charset="0"/>
                <a:cs typeface="Courier New" panose="02070309020205020404" pitchFamily="49" charset="0"/>
              </a:rPr>
              <a:t>Here we match the bounding box and voxel size of the FFR to the subject T1 using affine3d_img:</a:t>
            </a:r>
          </a:p>
        </p:txBody>
      </p:sp>
    </p:spTree>
    <p:extLst>
      <p:ext uri="{BB962C8B-B14F-4D97-AF65-F5344CB8AC3E}">
        <p14:creationId xmlns:p14="http://schemas.microsoft.com/office/powerpoint/2010/main" val="32660443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420BC4-AEDE-75C1-26FD-EB72764E559F}"/>
              </a:ext>
            </a:extLst>
          </p:cNvPr>
          <p:cNvPicPr>
            <a:picLocks noChangeAspect="1"/>
          </p:cNvPicPr>
          <p:nvPr/>
        </p:nvPicPr>
        <p:blipFill>
          <a:blip r:embed="rId2" cstate="screen">
            <a:extLst>
              <a:ext uri="{28A0092B-C50C-407E-A947-70E740481C1C}">
                <a14:useLocalDpi xmlns:a14="http://schemas.microsoft.com/office/drawing/2010/main"/>
              </a:ext>
            </a:extLst>
          </a:blip>
          <a:srcRect t="2642" b="11692"/>
          <a:stretch/>
        </p:blipFill>
        <p:spPr>
          <a:xfrm>
            <a:off x="1920240" y="1250575"/>
            <a:ext cx="8902758" cy="3446685"/>
          </a:xfrm>
          <a:prstGeom prst="rect">
            <a:avLst/>
          </a:prstGeom>
        </p:spPr>
      </p:pic>
      <p:sp>
        <p:nvSpPr>
          <p:cNvPr id="2" name="Slide Number Placeholder 1">
            <a:extLst>
              <a:ext uri="{FF2B5EF4-FFF2-40B4-BE49-F238E27FC236}">
                <a16:creationId xmlns:a16="http://schemas.microsoft.com/office/drawing/2014/main" id="{78AFFF71-7AD7-6D79-18CD-149DCFF3BF03}"/>
              </a:ext>
            </a:extLst>
          </p:cNvPr>
          <p:cNvSpPr>
            <a:spLocks noGrp="1"/>
          </p:cNvSpPr>
          <p:nvPr>
            <p:ph type="sldNum" sz="quarter" idx="12"/>
          </p:nvPr>
        </p:nvSpPr>
        <p:spPr/>
        <p:txBody>
          <a:bodyPr/>
          <a:lstStyle/>
          <a:p>
            <a:fld id="{6F215E70-FDA5-6C45-8C7C-E922E56675B4}" type="slidenum">
              <a:rPr lang="en-US"/>
              <a:t>35</a:t>
            </a:fld>
            <a:endParaRPr lang="en-US"/>
          </a:p>
        </p:txBody>
      </p:sp>
      <p:sp>
        <p:nvSpPr>
          <p:cNvPr id="4" name="TextBox 3">
            <a:extLst>
              <a:ext uri="{FF2B5EF4-FFF2-40B4-BE49-F238E27FC236}">
                <a16:creationId xmlns:a16="http://schemas.microsoft.com/office/drawing/2014/main" id="{09C0F7AE-F70F-0508-3B29-C041CF373C8A}"/>
              </a:ext>
            </a:extLst>
          </p:cNvPr>
          <p:cNvSpPr txBox="1"/>
          <p:nvPr/>
        </p:nvSpPr>
        <p:spPr>
          <a:xfrm>
            <a:off x="1009106" y="4944654"/>
            <a:ext cx="10890620" cy="923330"/>
          </a:xfrm>
          <a:prstGeom prst="rect">
            <a:avLst/>
          </a:prstGeom>
          <a:noFill/>
        </p:spPr>
        <p:txBody>
          <a:bodyPr wrap="square" rtlCol="0">
            <a:spAutoFit/>
          </a:bodyPr>
          <a:lstStyle/>
          <a:p>
            <a:r>
              <a:rPr lang="en-US" b="1">
                <a:solidFill>
                  <a:srgbClr val="00B050"/>
                </a:solidFill>
                <a:effectLst/>
                <a:latin typeface="Courier New" panose="02070309020205020404" pitchFamily="49" charset="0"/>
                <a:cs typeface="Courier New" panose="02070309020205020404" pitchFamily="49" charset="0"/>
              </a:rPr>
              <a:t>% t4 is from the head modeling tutorial listed above</a:t>
            </a:r>
          </a:p>
          <a:p>
            <a:r>
              <a:rPr lang="en-US" b="1">
                <a:solidFill>
                  <a:schemeClr val="bg1"/>
                </a:solidFill>
                <a:effectLst/>
                <a:latin typeface="Courier New" panose="02070309020205020404" pitchFamily="49" charset="0"/>
                <a:cs typeface="Courier New" panose="02070309020205020404" pitchFamily="49" charset="0"/>
              </a:rPr>
              <a:t>FFR_in_subjectspace = affine3d_img(FFR_as_vol,info.tissue.dim,T1_info,</a:t>
            </a:r>
            <a:r>
              <a:rPr lang="en-US" b="1">
                <a:solidFill>
                  <a:srgbClr val="00B050"/>
                </a:solidFill>
                <a:effectLst/>
                <a:latin typeface="Courier New" panose="02070309020205020404" pitchFamily="49" charset="0"/>
                <a:cs typeface="Courier New" panose="02070309020205020404" pitchFamily="49" charset="0"/>
              </a:rPr>
              <a:t>t4</a:t>
            </a:r>
            <a:r>
              <a:rPr lang="en-US" b="1">
                <a:solidFill>
                  <a:schemeClr val="bg1"/>
                </a:solidFill>
                <a:effectLst/>
                <a:latin typeface="Courier New" panose="02070309020205020404" pitchFamily="49" charset="0"/>
                <a:cs typeface="Courier New" panose="02070309020205020404" pitchFamily="49" charset="0"/>
              </a:rPr>
              <a:t>);</a:t>
            </a:r>
          </a:p>
          <a:p>
            <a:r>
              <a:rPr lang="en-US" b="1">
                <a:solidFill>
                  <a:schemeClr val="bg1"/>
                </a:solidFill>
                <a:effectLst/>
                <a:latin typeface="Courier New" panose="02070309020205020404" pitchFamily="49" charset="0"/>
                <a:cs typeface="Courier New" panose="02070309020205020404" pitchFamily="49" charset="0"/>
              </a:rPr>
              <a:t>PlotSlices(T1,T1_info,[], FFR_in_subjectspace)</a:t>
            </a:r>
          </a:p>
        </p:txBody>
      </p:sp>
      <p:sp>
        <p:nvSpPr>
          <p:cNvPr id="5" name="TextBox 4">
            <a:extLst>
              <a:ext uri="{FF2B5EF4-FFF2-40B4-BE49-F238E27FC236}">
                <a16:creationId xmlns:a16="http://schemas.microsoft.com/office/drawing/2014/main" id="{89E52660-7CA5-9A0F-43C6-3E70F60C3F44}"/>
              </a:ext>
            </a:extLst>
          </p:cNvPr>
          <p:cNvSpPr txBox="1"/>
          <p:nvPr/>
        </p:nvSpPr>
        <p:spPr>
          <a:xfrm>
            <a:off x="614261" y="408266"/>
            <a:ext cx="11514715" cy="707886"/>
          </a:xfrm>
          <a:prstGeom prst="rect">
            <a:avLst/>
          </a:prstGeom>
          <a:noFill/>
        </p:spPr>
        <p:txBody>
          <a:bodyPr wrap="square" rtlCol="0">
            <a:spAutoFit/>
          </a:bodyPr>
          <a:lstStyle/>
          <a:p>
            <a:r>
              <a:rPr lang="en-US" sz="2000">
                <a:solidFill>
                  <a:schemeClr val="bg1"/>
                </a:solidFill>
                <a:latin typeface="Trebuchet MS" panose="020B0703020202090204" pitchFamily="34" charset="0"/>
                <a:cs typeface="Courier New" panose="02070309020205020404" pitchFamily="49" charset="0"/>
              </a:rPr>
              <a:t>We can improve the FFR fit by adding an affine transform generated specifically for this subject.</a:t>
            </a:r>
          </a:p>
          <a:p>
            <a:r>
              <a:rPr lang="en-US" sz="2000">
                <a:solidFill>
                  <a:schemeClr val="bg1"/>
                </a:solidFill>
                <a:latin typeface="Trebuchet MS" panose="020B0703020202090204" pitchFamily="34" charset="0"/>
                <a:cs typeface="Courier New" panose="02070309020205020404" pitchFamily="49" charset="0"/>
              </a:rPr>
              <a:t>See: </a:t>
            </a:r>
            <a:r>
              <a:rPr lang="en-US" sz="2000" i="1">
                <a:solidFill>
                  <a:schemeClr val="bg1"/>
                </a:solidFill>
                <a:latin typeface="Trebuchet MS" panose="020B0703020202090204" pitchFamily="34" charset="0"/>
                <a:cs typeface="Courier New" panose="02070309020205020404" pitchFamily="49" charset="0"/>
              </a:rPr>
              <a:t>NeuroDOT_Tutorial_Participant_Specific_Head_Modeling.pptx</a:t>
            </a:r>
            <a:r>
              <a:rPr lang="en-US" sz="2000">
                <a:solidFill>
                  <a:schemeClr val="bg1"/>
                </a:solidFill>
                <a:latin typeface="Trebuchet MS" panose="020B0703020202090204" pitchFamily="34" charset="0"/>
                <a:cs typeface="Courier New" panose="02070309020205020404" pitchFamily="49" charset="0"/>
              </a:rPr>
              <a:t> in the NeuroDOT distribution.</a:t>
            </a:r>
          </a:p>
        </p:txBody>
      </p:sp>
    </p:spTree>
    <p:extLst>
      <p:ext uri="{BB962C8B-B14F-4D97-AF65-F5344CB8AC3E}">
        <p14:creationId xmlns:p14="http://schemas.microsoft.com/office/powerpoint/2010/main" val="30204724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9240B-3C26-422B-919D-F6DAEE44984A}"/>
              </a:ext>
            </a:extLst>
          </p:cNvPr>
          <p:cNvSpPr>
            <a:spLocks noGrp="1"/>
          </p:cNvSpPr>
          <p:nvPr>
            <p:ph type="title"/>
          </p:nvPr>
        </p:nvSpPr>
        <p:spPr/>
        <p:txBody>
          <a:bodyPr/>
          <a:lstStyle/>
          <a:p>
            <a:r>
              <a:rPr lang="en-US" dirty="0">
                <a:solidFill>
                  <a:srgbClr val="FF0000"/>
                </a:solidFill>
                <a:latin typeface="Trebuchet MS" panose="020B0603020202020204" pitchFamily="34" charset="0"/>
              </a:rPr>
              <a:t>That’s It (For Now)</a:t>
            </a:r>
          </a:p>
        </p:txBody>
      </p:sp>
      <p:sp>
        <p:nvSpPr>
          <p:cNvPr id="3" name="Content Placeholder 2">
            <a:extLst>
              <a:ext uri="{FF2B5EF4-FFF2-40B4-BE49-F238E27FC236}">
                <a16:creationId xmlns:a16="http://schemas.microsoft.com/office/drawing/2014/main" id="{7A7F3594-3716-470D-A3F7-A3FD77ADC6ED}"/>
              </a:ext>
            </a:extLst>
          </p:cNvPr>
          <p:cNvSpPr>
            <a:spLocks noGrp="1"/>
          </p:cNvSpPr>
          <p:nvPr>
            <p:ph idx="1"/>
          </p:nvPr>
        </p:nvSpPr>
        <p:spPr>
          <a:xfrm>
            <a:off x="939799" y="1690688"/>
            <a:ext cx="10325101" cy="4351338"/>
          </a:xfrm>
        </p:spPr>
        <p:txBody>
          <a:bodyPr>
            <a:normAutofit fontScale="77500" lnSpcReduction="20000"/>
          </a:bodyPr>
          <a:lstStyle/>
          <a:p>
            <a:pPr>
              <a:lnSpc>
                <a:spcPct val="120000"/>
              </a:lnSpc>
            </a:pPr>
            <a:r>
              <a:rPr lang="en-US" sz="2400" dirty="0">
                <a:solidFill>
                  <a:schemeClr val="bg1"/>
                </a:solidFill>
                <a:latin typeface="Trebuchet MS" panose="020B0603020202020204" pitchFamily="34" charset="0"/>
              </a:rPr>
              <a:t>Congratulations! You have finished the NeuroDOT Tutorial Spatial Transformations tutorial</a:t>
            </a:r>
          </a:p>
          <a:p>
            <a:pPr>
              <a:lnSpc>
                <a:spcPct val="120000"/>
              </a:lnSpc>
            </a:pPr>
            <a:r>
              <a:rPr lang="en-US" sz="2400" dirty="0">
                <a:solidFill>
                  <a:schemeClr val="bg1"/>
                </a:solidFill>
                <a:latin typeface="Trebuchet MS" panose="020B0603020202020204" pitchFamily="34" charset="0"/>
              </a:rPr>
              <a:t>You are now ready to start the other </a:t>
            </a:r>
            <a:r>
              <a:rPr lang="en-US" sz="2400" dirty="0" err="1">
                <a:solidFill>
                  <a:schemeClr val="bg1"/>
                </a:solidFill>
                <a:latin typeface="Trebuchet MS" panose="020B0603020202020204" pitchFamily="34" charset="0"/>
              </a:rPr>
              <a:t>NeuroDOT</a:t>
            </a:r>
            <a:r>
              <a:rPr lang="en-US" sz="2400" dirty="0">
                <a:solidFill>
                  <a:schemeClr val="bg1"/>
                </a:solidFill>
                <a:latin typeface="Trebuchet MS" panose="020B0603020202020204" pitchFamily="34" charset="0"/>
              </a:rPr>
              <a:t> Tutorials</a:t>
            </a:r>
          </a:p>
          <a:p>
            <a:pPr>
              <a:lnSpc>
                <a:spcPct val="120000"/>
              </a:lnSpc>
            </a:pPr>
            <a:r>
              <a:rPr lang="en-US" sz="2400" dirty="0">
                <a:solidFill>
                  <a:schemeClr val="bg1"/>
                </a:solidFill>
                <a:latin typeface="Trebuchet MS" panose="020B0603020202020204" pitchFamily="34" charset="0"/>
              </a:rPr>
              <a:t>Recommended order for the tutorials is:</a:t>
            </a:r>
          </a:p>
          <a:p>
            <a:pPr lvl="1">
              <a:lnSpc>
                <a:spcPct val="120000"/>
              </a:lnSpc>
            </a:pPr>
            <a:r>
              <a:rPr lang="en-US" dirty="0">
                <a:solidFill>
                  <a:schemeClr val="bg1"/>
                </a:solidFill>
                <a:latin typeface="Trebuchet MS" panose="020B0603020202020204" pitchFamily="34" charset="0"/>
              </a:rPr>
              <a:t>Preprocessing</a:t>
            </a:r>
          </a:p>
          <a:p>
            <a:pPr lvl="1">
              <a:lnSpc>
                <a:spcPct val="120000"/>
              </a:lnSpc>
            </a:pPr>
            <a:r>
              <a:rPr lang="en-US" dirty="0">
                <a:solidFill>
                  <a:schemeClr val="bg1"/>
                </a:solidFill>
                <a:latin typeface="Trebuchet MS" panose="020B0603020202020204" pitchFamily="34" charset="0"/>
              </a:rPr>
              <a:t>Image Reconstruction</a:t>
            </a:r>
          </a:p>
          <a:p>
            <a:pPr lvl="1">
              <a:lnSpc>
                <a:spcPct val="120000"/>
              </a:lnSpc>
            </a:pPr>
            <a:r>
              <a:rPr lang="en-US" dirty="0">
                <a:solidFill>
                  <a:schemeClr val="bg1"/>
                </a:solidFill>
                <a:latin typeface="Trebuchet MS" panose="020B0603020202020204" pitchFamily="34" charset="0"/>
              </a:rPr>
              <a:t>Generating a Light Model</a:t>
            </a:r>
          </a:p>
          <a:p>
            <a:pPr lvl="1">
              <a:lnSpc>
                <a:spcPct val="120000"/>
              </a:lnSpc>
            </a:pPr>
            <a:r>
              <a:rPr lang="en-US" dirty="0">
                <a:solidFill>
                  <a:schemeClr val="bg1"/>
                </a:solidFill>
                <a:latin typeface="Trebuchet MS" panose="020B0603020202020204" pitchFamily="34" charset="0"/>
              </a:rPr>
              <a:t>Full Data Processing</a:t>
            </a:r>
          </a:p>
          <a:p>
            <a:pPr lvl="1">
              <a:lnSpc>
                <a:spcPct val="120000"/>
              </a:lnSpc>
            </a:pPr>
            <a:r>
              <a:rPr lang="en-US" dirty="0">
                <a:solidFill>
                  <a:schemeClr val="bg1"/>
                </a:solidFill>
                <a:latin typeface="Trebuchet MS" panose="020B0603020202020204" pitchFamily="34" charset="0"/>
              </a:rPr>
              <a:t>Generating a Light Model PAD Adult 96x92</a:t>
            </a:r>
          </a:p>
          <a:p>
            <a:pPr>
              <a:lnSpc>
                <a:spcPct val="120000"/>
              </a:lnSpc>
            </a:pPr>
            <a:r>
              <a:rPr lang="en-US" sz="2400" dirty="0">
                <a:solidFill>
                  <a:schemeClr val="bg1"/>
                </a:solidFill>
                <a:latin typeface="Trebuchet MS" panose="020B0603020202020204" pitchFamily="34" charset="0"/>
              </a:rPr>
              <a:t>If you have any questions about the material presented in this tutorial, please consult the WUSTL Bio-photonics Research Center (BRC) GitHub page </a:t>
            </a:r>
            <a:r>
              <a:rPr lang="en-US" sz="2400" dirty="0">
                <a:latin typeface="Trebuchet MS" panose="020B0603020202020204" pitchFamily="34" charset="0"/>
                <a:hlinkClick r:id="rId2"/>
              </a:rPr>
              <a:t>https://github.com/WUSTL-ORL/NeuroDOT</a:t>
            </a:r>
            <a:r>
              <a:rPr lang="en-US" sz="2400" dirty="0">
                <a:latin typeface="Trebuchet MS" panose="020B0603020202020204" pitchFamily="34" charset="0"/>
              </a:rPr>
              <a:t> </a:t>
            </a:r>
            <a:r>
              <a:rPr lang="en-US" sz="2400" dirty="0">
                <a:solidFill>
                  <a:schemeClr val="bg1"/>
                </a:solidFill>
                <a:latin typeface="Trebuchet MS" panose="020B0603020202020204" pitchFamily="34" charset="0"/>
              </a:rPr>
              <a:t>in the documentation folder, </a:t>
            </a:r>
            <a:r>
              <a:rPr lang="en-US" sz="2400">
                <a:solidFill>
                  <a:schemeClr val="bg1"/>
                </a:solidFill>
                <a:latin typeface="Trebuchet MS" panose="020B0603020202020204" pitchFamily="34" charset="0"/>
              </a:rPr>
              <a:t>or contact</a:t>
            </a:r>
            <a:r>
              <a:rPr lang="en-US" sz="2400">
                <a:solidFill>
                  <a:schemeClr val="bg1"/>
                </a:solidFill>
              </a:rPr>
              <a:t> NeuroDOT Support</a:t>
            </a:r>
            <a:r>
              <a:rPr lang="en-US" sz="2400"/>
              <a:t>: </a:t>
            </a:r>
            <a:r>
              <a:rPr lang="en-US" sz="2400">
                <a:hlinkClick r:id="rId3"/>
              </a:rPr>
              <a:t>neurodot-support@wustl.edu</a:t>
            </a:r>
            <a:r>
              <a:rPr lang="en-US" sz="2400"/>
              <a:t> </a:t>
            </a:r>
            <a:endParaRPr lang="en-US" sz="2400" dirty="0">
              <a:latin typeface="Trebuchet MS" panose="020B0603020202020204" pitchFamily="34" charset="0"/>
            </a:endParaRPr>
          </a:p>
        </p:txBody>
      </p:sp>
    </p:spTree>
    <p:extLst>
      <p:ext uri="{BB962C8B-B14F-4D97-AF65-F5344CB8AC3E}">
        <p14:creationId xmlns:p14="http://schemas.microsoft.com/office/powerpoint/2010/main" val="17318375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3BCE7-414D-3EAA-9C61-81A68BF81CB3}"/>
              </a:ext>
            </a:extLst>
          </p:cNvPr>
          <p:cNvSpPr>
            <a:spLocks noGrp="1"/>
          </p:cNvSpPr>
          <p:nvPr>
            <p:ph type="title"/>
          </p:nvPr>
        </p:nvSpPr>
        <p:spPr/>
        <p:txBody>
          <a:bodyPr/>
          <a:lstStyle/>
          <a:p>
            <a:r>
              <a:rPr lang="en-US" dirty="0">
                <a:solidFill>
                  <a:srgbClr val="FF0000"/>
                </a:solidFill>
              </a:rPr>
              <a:t>Help Expand NeuroDOT’s Utility!</a:t>
            </a:r>
          </a:p>
        </p:txBody>
      </p:sp>
      <p:sp>
        <p:nvSpPr>
          <p:cNvPr id="3" name="Content Placeholder 2">
            <a:extLst>
              <a:ext uri="{FF2B5EF4-FFF2-40B4-BE49-F238E27FC236}">
                <a16:creationId xmlns:a16="http://schemas.microsoft.com/office/drawing/2014/main" id="{B4AE1AFD-E0BF-B7CE-30F1-4AED6553B085}"/>
              </a:ext>
            </a:extLst>
          </p:cNvPr>
          <p:cNvSpPr>
            <a:spLocks noGrp="1"/>
          </p:cNvSpPr>
          <p:nvPr>
            <p:ph idx="1"/>
          </p:nvPr>
        </p:nvSpPr>
        <p:spPr>
          <a:xfrm>
            <a:off x="1064999" y="1903616"/>
            <a:ext cx="10062002" cy="3880773"/>
          </a:xfrm>
        </p:spPr>
        <p:txBody>
          <a:bodyPr>
            <a:normAutofit fontScale="77500" lnSpcReduction="20000"/>
          </a:bodyPr>
          <a:lstStyle/>
          <a:p>
            <a:r>
              <a:rPr lang="en-US" dirty="0">
                <a:solidFill>
                  <a:schemeClr val="bg1"/>
                </a:solidFill>
              </a:rPr>
              <a:t>Please fill out the NeuroDOT registration form to help us better develop the NeuroDOT toolbox and expand its utility to address your fNIRS/DOT data analysis needs:</a:t>
            </a:r>
          </a:p>
          <a:p>
            <a:pPr lvl="1"/>
            <a:r>
              <a:rPr lang="en-US" dirty="0">
                <a:hlinkClick r:id="rId2"/>
              </a:rPr>
              <a:t>https://forms.gle/8QNGnx7ZbKuUHg3bA</a:t>
            </a:r>
            <a:r>
              <a:rPr lang="en-US" dirty="0"/>
              <a:t> </a:t>
            </a:r>
          </a:p>
          <a:p>
            <a:pPr marL="457200" lvl="1" indent="0">
              <a:buNone/>
            </a:pPr>
            <a:endParaRPr lang="en-US" dirty="0"/>
          </a:p>
          <a:p>
            <a:pPr marL="457200" lvl="1" indent="0">
              <a:buNone/>
            </a:pPr>
            <a:endParaRPr lang="en-US" dirty="0"/>
          </a:p>
          <a:p>
            <a:pPr marL="457200" lvl="1" indent="0">
              <a:buNone/>
            </a:pPr>
            <a:endParaRPr lang="en-US" dirty="0"/>
          </a:p>
          <a:p>
            <a:r>
              <a:rPr lang="en-US" dirty="0">
                <a:solidFill>
                  <a:schemeClr val="bg1"/>
                </a:solidFill>
              </a:rPr>
              <a:t>Additionally, please provide specific feedback, or ask questions to the development team:</a:t>
            </a:r>
          </a:p>
          <a:p>
            <a:pPr lvl="1"/>
            <a:r>
              <a:rPr lang="en-US" dirty="0">
                <a:hlinkClick r:id="rId3"/>
              </a:rPr>
              <a:t>https://forms.gle/jv6RkX5s784LgQC89</a:t>
            </a:r>
            <a:r>
              <a:rPr lang="en-US" dirty="0"/>
              <a:t> </a:t>
            </a:r>
          </a:p>
          <a:p>
            <a:endParaRPr lang="en-US" dirty="0"/>
          </a:p>
          <a:p>
            <a:r>
              <a:rPr lang="en-US" b="1" i="1" dirty="0">
                <a:solidFill>
                  <a:schemeClr val="accent1"/>
                </a:solidFill>
              </a:rPr>
              <a:t>Note: you will not be contacted by the NeuroDOT development team unless you opt-in to receiving communications.</a:t>
            </a:r>
          </a:p>
        </p:txBody>
      </p:sp>
      <p:sp>
        <p:nvSpPr>
          <p:cNvPr id="4" name="Slide Number Placeholder 3">
            <a:extLst>
              <a:ext uri="{FF2B5EF4-FFF2-40B4-BE49-F238E27FC236}">
                <a16:creationId xmlns:a16="http://schemas.microsoft.com/office/drawing/2014/main" id="{57A55562-6001-7F2E-323C-203129D6ED5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EA515B-EB3D-473C-ADE9-FD8348C61D57}" type="slidenum">
              <a:rPr kumimoji="0" lang="en-US" sz="900" b="0" i="0" u="none" strike="noStrike" kern="1200" cap="none" spc="0" normalizeH="0" baseline="0" noProof="0" smtClean="0">
                <a:ln>
                  <a:noFill/>
                </a:ln>
                <a:solidFill>
                  <a:srgbClr val="90C226"/>
                </a:solidFill>
                <a:effectLst/>
                <a:uLnTx/>
                <a:uFillTx/>
                <a:latin typeface="Trebuchet MS" panose="020B0603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900" b="0" i="0" u="none" strike="noStrike" kern="1200" cap="none" spc="0" normalizeH="0" baseline="0" noProof="0">
              <a:ln>
                <a:noFill/>
              </a:ln>
              <a:solidFill>
                <a:srgbClr val="90C226"/>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17357393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C67EF98-FBE5-A45C-E172-C5860BCD74A7}"/>
              </a:ext>
            </a:extLst>
          </p:cNvPr>
          <p:cNvSpPr>
            <a:spLocks noGrp="1"/>
          </p:cNvSpPr>
          <p:nvPr>
            <p:ph type="sldNum" sz="quarter" idx="12"/>
          </p:nvPr>
        </p:nvSpPr>
        <p:spPr/>
        <p:txBody>
          <a:bodyPr/>
          <a:lstStyle/>
          <a:p>
            <a:fld id="{6F215E70-FDA5-6C45-8C7C-E922E56675B4}" type="slidenum">
              <a:rPr lang="en-US"/>
              <a:t>38</a:t>
            </a:fld>
            <a:endParaRPr lang="en-US"/>
          </a:p>
        </p:txBody>
      </p:sp>
      <p:sp>
        <p:nvSpPr>
          <p:cNvPr id="3" name="TextBox 2">
            <a:extLst>
              <a:ext uri="{FF2B5EF4-FFF2-40B4-BE49-F238E27FC236}">
                <a16:creationId xmlns:a16="http://schemas.microsoft.com/office/drawing/2014/main" id="{8318E9CF-A4CD-FC6B-EFF5-2F3E1045A9F1}"/>
              </a:ext>
            </a:extLst>
          </p:cNvPr>
          <p:cNvSpPr txBox="1"/>
          <p:nvPr/>
        </p:nvSpPr>
        <p:spPr>
          <a:xfrm>
            <a:off x="1378645" y="1435948"/>
            <a:ext cx="10132541" cy="2246769"/>
          </a:xfrm>
          <a:prstGeom prst="rect">
            <a:avLst/>
          </a:prstGeom>
          <a:noFill/>
        </p:spPr>
        <p:txBody>
          <a:bodyPr wrap="square" rtlCol="0">
            <a:spAutoFit/>
          </a:bodyPr>
          <a:lstStyle/>
          <a:p>
            <a:r>
              <a:rPr lang="en-US" sz="2800" u="sng">
                <a:solidFill>
                  <a:schemeClr val="bg1"/>
                </a:solidFill>
                <a:latin typeface="Trebuchet MS" panose="020B0703020202090204" pitchFamily="34" charset="0"/>
              </a:rPr>
              <a:t>Appendices</a:t>
            </a:r>
          </a:p>
          <a:p>
            <a:endParaRPr lang="en-US" sz="2800" u="sng">
              <a:solidFill>
                <a:schemeClr val="bg1"/>
              </a:solidFill>
              <a:latin typeface="Trebuchet MS" panose="020B0703020202090204" pitchFamily="34" charset="0"/>
            </a:endParaRPr>
          </a:p>
          <a:p>
            <a:r>
              <a:rPr lang="en-US" sz="2800">
                <a:solidFill>
                  <a:schemeClr val="bg1"/>
                </a:solidFill>
                <a:latin typeface="Trebuchet MS" panose="020B0703020202090204" pitchFamily="34" charset="0"/>
              </a:rPr>
              <a:t>A1 – The info struct </a:t>
            </a:r>
          </a:p>
          <a:p>
            <a:r>
              <a:rPr lang="en-US" sz="2800">
                <a:solidFill>
                  <a:schemeClr val="bg1"/>
                </a:solidFill>
                <a:latin typeface="Trebuchet MS" panose="020B0703020202090204" pitchFamily="34" charset="0"/>
              </a:rPr>
              <a:t>A2 – Example transforms defined using the info struct</a:t>
            </a:r>
          </a:p>
          <a:p>
            <a:r>
              <a:rPr lang="en-US" sz="2800">
                <a:solidFill>
                  <a:schemeClr val="bg1"/>
                </a:solidFill>
                <a:latin typeface="Trebuchet MS" panose="020B0703020202090204" pitchFamily="34" charset="0"/>
              </a:rPr>
              <a:t>A3 – Example transforms defined using the t4 matrix</a:t>
            </a:r>
          </a:p>
        </p:txBody>
      </p:sp>
    </p:spTree>
    <p:extLst>
      <p:ext uri="{BB962C8B-B14F-4D97-AF65-F5344CB8AC3E}">
        <p14:creationId xmlns:p14="http://schemas.microsoft.com/office/powerpoint/2010/main" val="3972802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81E90-F047-CEC8-A437-705C9068F92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A9EB9F7-5E1D-0E06-5AC7-290FBD1FD619}"/>
              </a:ext>
            </a:extLst>
          </p:cNvPr>
          <p:cNvSpPr txBox="1"/>
          <p:nvPr/>
        </p:nvSpPr>
        <p:spPr>
          <a:xfrm>
            <a:off x="939351" y="629833"/>
            <a:ext cx="10132541" cy="523220"/>
          </a:xfrm>
          <a:prstGeom prst="rect">
            <a:avLst/>
          </a:prstGeom>
          <a:noFill/>
        </p:spPr>
        <p:txBody>
          <a:bodyPr wrap="square" rtlCol="0">
            <a:spAutoFit/>
          </a:bodyPr>
          <a:lstStyle/>
          <a:p>
            <a:r>
              <a:rPr lang="en-US" sz="2800" u="sng">
                <a:solidFill>
                  <a:schemeClr val="bg1"/>
                </a:solidFill>
                <a:latin typeface="Trebuchet MS" panose="020B0703020202090204" pitchFamily="34" charset="0"/>
              </a:rPr>
              <a:t>A1: The “info” struct -- a closer look</a:t>
            </a:r>
            <a:endParaRPr lang="en-US" sz="2800">
              <a:solidFill>
                <a:schemeClr val="bg1"/>
              </a:solidFill>
              <a:latin typeface="Trebuchet MS" panose="020B0703020202090204" pitchFamily="34" charset="0"/>
            </a:endParaRPr>
          </a:p>
        </p:txBody>
      </p:sp>
      <p:sp>
        <p:nvSpPr>
          <p:cNvPr id="3" name="Slide Number Placeholder 2">
            <a:extLst>
              <a:ext uri="{FF2B5EF4-FFF2-40B4-BE49-F238E27FC236}">
                <a16:creationId xmlns:a16="http://schemas.microsoft.com/office/drawing/2014/main" id="{B3F677B6-99C8-40AC-3DB9-23D65850FEF0}"/>
              </a:ext>
            </a:extLst>
          </p:cNvPr>
          <p:cNvSpPr>
            <a:spLocks noGrp="1"/>
          </p:cNvSpPr>
          <p:nvPr>
            <p:ph type="sldNum" sz="quarter" idx="12"/>
          </p:nvPr>
        </p:nvSpPr>
        <p:spPr>
          <a:xfrm>
            <a:off x="8568070" y="6016108"/>
            <a:ext cx="2743200" cy="365125"/>
          </a:xfrm>
        </p:spPr>
        <p:txBody>
          <a:bodyPr/>
          <a:lstStyle/>
          <a:p>
            <a:fld id="{6F215E70-FDA5-6C45-8C7C-E922E56675B4}" type="slidenum">
              <a:rPr lang="en-US"/>
              <a:t>39</a:t>
            </a:fld>
            <a:endParaRPr lang="en-US"/>
          </a:p>
        </p:txBody>
      </p:sp>
      <p:sp>
        <p:nvSpPr>
          <p:cNvPr id="4" name="TextBox 3">
            <a:extLst>
              <a:ext uri="{FF2B5EF4-FFF2-40B4-BE49-F238E27FC236}">
                <a16:creationId xmlns:a16="http://schemas.microsoft.com/office/drawing/2014/main" id="{855FC655-48D1-15FC-AA8F-254A494B7D9A}"/>
              </a:ext>
            </a:extLst>
          </p:cNvPr>
          <p:cNvSpPr txBox="1"/>
          <p:nvPr/>
        </p:nvSpPr>
        <p:spPr>
          <a:xfrm>
            <a:off x="1045138" y="1434631"/>
            <a:ext cx="4918565" cy="1938992"/>
          </a:xfrm>
          <a:prstGeom prst="rect">
            <a:avLst/>
          </a:prstGeom>
          <a:noFill/>
        </p:spPr>
        <p:txBody>
          <a:bodyPr wrap="square" rtlCol="0">
            <a:spAutoFit/>
          </a:bodyPr>
          <a:lstStyle/>
          <a:p>
            <a:pPr algn="r"/>
            <a:r>
              <a:rPr lang="en-US" sz="2400">
                <a:solidFill>
                  <a:schemeClr val="bg1"/>
                </a:solidFill>
                <a:latin typeface="Courier New" panose="02070309020205020404" pitchFamily="49" charset="0"/>
                <a:cs typeface="Courier New" panose="02070309020205020404" pitchFamily="49" charset="0"/>
              </a:rPr>
              <a:t> 	</a:t>
            </a:r>
            <a:r>
              <a:rPr lang="en-US" sz="2400" b="1">
                <a:solidFill>
                  <a:schemeClr val="bg1"/>
                </a:solidFill>
                <a:latin typeface="Courier New" panose="02070309020205020404" pitchFamily="49" charset="0"/>
                <a:cs typeface="Courier New" panose="02070309020205020404" pitchFamily="49" charset="0"/>
              </a:rPr>
              <a:t>            .nVx</a:t>
            </a:r>
          </a:p>
          <a:p>
            <a:pPr algn="r"/>
            <a:r>
              <a:rPr lang="en-US" sz="2400" b="1">
                <a:solidFill>
                  <a:schemeClr val="bg1"/>
                </a:solidFill>
                <a:latin typeface="Courier New" panose="02070309020205020404" pitchFamily="49" charset="0"/>
                <a:cs typeface="Courier New" panose="02070309020205020404" pitchFamily="49" charset="0"/>
              </a:rPr>
              <a:t>                   .nVy</a:t>
            </a:r>
          </a:p>
          <a:p>
            <a:pPr algn="r"/>
            <a:r>
              <a:rPr lang="en-US" sz="2400" b="1">
                <a:solidFill>
                  <a:schemeClr val="bg1"/>
                </a:solidFill>
                <a:latin typeface="Courier New" panose="02070309020205020404" pitchFamily="49" charset="0"/>
                <a:cs typeface="Courier New" panose="02070309020205020404" pitchFamily="49" charset="0"/>
              </a:rPr>
              <a:t>                   .nVz</a:t>
            </a:r>
          </a:p>
          <a:p>
            <a:pPr algn="r"/>
            <a:r>
              <a:rPr lang="en-US" sz="2400" b="1">
                <a:solidFill>
                  <a:schemeClr val="bg1"/>
                </a:solidFill>
                <a:latin typeface="Courier New" panose="02070309020205020404" pitchFamily="49" charset="0"/>
                <a:cs typeface="Courier New" panose="02070309020205020404" pitchFamily="49" charset="0"/>
              </a:rPr>
              <a:t>		   .mmppix</a:t>
            </a:r>
          </a:p>
          <a:p>
            <a:pPr algn="r"/>
            <a:r>
              <a:rPr lang="en-US" sz="2400">
                <a:solidFill>
                  <a:schemeClr val="bg1"/>
                </a:solidFill>
                <a:latin typeface="Courier New" panose="02070309020205020404" pitchFamily="49" charset="0"/>
                <a:cs typeface="Courier New" panose="02070309020205020404" pitchFamily="49" charset="0"/>
              </a:rPr>
              <a:t>                 .</a:t>
            </a:r>
            <a:r>
              <a:rPr lang="en-US" sz="2400" b="1">
                <a:solidFill>
                  <a:schemeClr val="bg1"/>
                </a:solidFill>
                <a:latin typeface="Courier New" panose="02070309020205020404" pitchFamily="49" charset="0"/>
                <a:cs typeface="Courier New" panose="02070309020205020404" pitchFamily="49" charset="0"/>
              </a:rPr>
              <a:t>center</a:t>
            </a:r>
          </a:p>
        </p:txBody>
      </p:sp>
      <p:sp>
        <p:nvSpPr>
          <p:cNvPr id="6" name="TextBox 5">
            <a:extLst>
              <a:ext uri="{FF2B5EF4-FFF2-40B4-BE49-F238E27FC236}">
                <a16:creationId xmlns:a16="http://schemas.microsoft.com/office/drawing/2014/main" id="{C5488D3A-2F1E-0FCC-8880-B882420DB9D8}"/>
              </a:ext>
            </a:extLst>
          </p:cNvPr>
          <p:cNvSpPr txBox="1"/>
          <p:nvPr/>
        </p:nvSpPr>
        <p:spPr>
          <a:xfrm>
            <a:off x="6436249" y="1849870"/>
            <a:ext cx="4710613" cy="400110"/>
          </a:xfrm>
          <a:prstGeom prst="rect">
            <a:avLst/>
          </a:prstGeom>
          <a:noFill/>
        </p:spPr>
        <p:txBody>
          <a:bodyPr wrap="square" rtlCol="0">
            <a:spAutoFit/>
          </a:bodyPr>
          <a:lstStyle/>
          <a:p>
            <a:r>
              <a:rPr lang="en-US" sz="2000">
                <a:solidFill>
                  <a:srgbClr val="FFFF00"/>
                </a:solidFill>
                <a:latin typeface="Trebuchet MS" panose="020B0703020202090204" pitchFamily="34" charset="0"/>
              </a:rPr>
              <a:t>the image dimensions in voxels</a:t>
            </a:r>
          </a:p>
        </p:txBody>
      </p:sp>
      <p:sp>
        <p:nvSpPr>
          <p:cNvPr id="7" name="TextBox 6">
            <a:extLst>
              <a:ext uri="{FF2B5EF4-FFF2-40B4-BE49-F238E27FC236}">
                <a16:creationId xmlns:a16="http://schemas.microsoft.com/office/drawing/2014/main" id="{9FE00B47-C11A-DA38-65B1-0AF4E6C62BFC}"/>
              </a:ext>
            </a:extLst>
          </p:cNvPr>
          <p:cNvSpPr txBox="1"/>
          <p:nvPr/>
        </p:nvSpPr>
        <p:spPr>
          <a:xfrm>
            <a:off x="595500" y="2845240"/>
            <a:ext cx="3922877" cy="707886"/>
          </a:xfrm>
          <a:prstGeom prst="rect">
            <a:avLst/>
          </a:prstGeom>
          <a:noFill/>
        </p:spPr>
        <p:txBody>
          <a:bodyPr wrap="square" rtlCol="0">
            <a:spAutoFit/>
          </a:bodyPr>
          <a:lstStyle/>
          <a:p>
            <a:pPr algn="ctr"/>
            <a:r>
              <a:rPr lang="en-US" sz="2000" u="sng">
                <a:solidFill>
                  <a:srgbClr val="FFFF00"/>
                </a:solidFill>
                <a:latin typeface="Trebuchet MS" panose="020B0703020202090204" pitchFamily="34" charset="0"/>
              </a:rPr>
              <a:t>center</a:t>
            </a:r>
            <a:r>
              <a:rPr lang="en-US" sz="2000">
                <a:solidFill>
                  <a:srgbClr val="FFFF00"/>
                </a:solidFill>
                <a:latin typeface="Trebuchet MS" panose="020B0703020202090204" pitchFamily="34" charset="0"/>
              </a:rPr>
              <a:t>: the image center</a:t>
            </a:r>
          </a:p>
          <a:p>
            <a:pPr algn="ctr"/>
            <a:r>
              <a:rPr lang="en-US" sz="2000">
                <a:solidFill>
                  <a:srgbClr val="FFFF00"/>
                </a:solidFill>
                <a:latin typeface="Trebuchet MS" panose="020B0703020202090204" pitchFamily="34" charset="0"/>
              </a:rPr>
              <a:t> in mm</a:t>
            </a:r>
          </a:p>
        </p:txBody>
      </p:sp>
      <p:sp>
        <p:nvSpPr>
          <p:cNvPr id="8" name="TextBox 7">
            <a:extLst>
              <a:ext uri="{FF2B5EF4-FFF2-40B4-BE49-F238E27FC236}">
                <a16:creationId xmlns:a16="http://schemas.microsoft.com/office/drawing/2014/main" id="{4813A66E-5A5A-D890-EFF8-65B7707F8FAE}"/>
              </a:ext>
            </a:extLst>
          </p:cNvPr>
          <p:cNvSpPr txBox="1"/>
          <p:nvPr/>
        </p:nvSpPr>
        <p:spPr>
          <a:xfrm>
            <a:off x="6600658" y="2537463"/>
            <a:ext cx="4167606" cy="1015663"/>
          </a:xfrm>
          <a:prstGeom prst="rect">
            <a:avLst/>
          </a:prstGeom>
          <a:noFill/>
        </p:spPr>
        <p:txBody>
          <a:bodyPr wrap="square" rtlCol="0">
            <a:spAutoFit/>
          </a:bodyPr>
          <a:lstStyle/>
          <a:p>
            <a:r>
              <a:rPr lang="en-US" sz="2000" u="sng">
                <a:solidFill>
                  <a:srgbClr val="FFFF00"/>
                </a:solidFill>
                <a:latin typeface="Trebuchet MS" panose="020B0703020202090204" pitchFamily="34" charset="0"/>
              </a:rPr>
              <a:t>mmppix</a:t>
            </a:r>
            <a:r>
              <a:rPr lang="en-US" sz="2000">
                <a:solidFill>
                  <a:srgbClr val="FFFF00"/>
                </a:solidFill>
                <a:latin typeface="Trebuchet MS" panose="020B0703020202090204" pitchFamily="34" charset="0"/>
              </a:rPr>
              <a:t>: change in image mm for a unit change in voxel index (sign indicates direction) </a:t>
            </a:r>
          </a:p>
        </p:txBody>
      </p:sp>
      <p:sp>
        <p:nvSpPr>
          <p:cNvPr id="9" name="Right Brace 8">
            <a:extLst>
              <a:ext uri="{FF2B5EF4-FFF2-40B4-BE49-F238E27FC236}">
                <a16:creationId xmlns:a16="http://schemas.microsoft.com/office/drawing/2014/main" id="{022ED7EE-3F0C-B25B-5EDC-D65158BCE25D}"/>
              </a:ext>
            </a:extLst>
          </p:cNvPr>
          <p:cNvSpPr/>
          <p:nvPr/>
        </p:nvSpPr>
        <p:spPr>
          <a:xfrm>
            <a:off x="6078522" y="1588520"/>
            <a:ext cx="280451" cy="948943"/>
          </a:xfrm>
          <a:prstGeom prst="rightBrace">
            <a:avLst/>
          </a:prstGeom>
          <a:ln w="25400">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7FB49C2F-A53E-182B-E88E-E4733FEDB018}"/>
              </a:ext>
            </a:extLst>
          </p:cNvPr>
          <p:cNvSpPr txBox="1"/>
          <p:nvPr/>
        </p:nvSpPr>
        <p:spPr>
          <a:xfrm>
            <a:off x="1530774" y="3938231"/>
            <a:ext cx="9130451" cy="1323439"/>
          </a:xfrm>
          <a:prstGeom prst="rect">
            <a:avLst/>
          </a:prstGeom>
          <a:noFill/>
        </p:spPr>
        <p:txBody>
          <a:bodyPr wrap="square" rtlCol="0">
            <a:spAutoFit/>
          </a:bodyPr>
          <a:lstStyle/>
          <a:p>
            <a:r>
              <a:rPr lang="en-US" sz="2000">
                <a:solidFill>
                  <a:schemeClr val="bg1"/>
                </a:solidFill>
                <a:latin typeface="Trebuchet MS" panose="020B0703020202090204" pitchFamily="34" charset="0"/>
              </a:rPr>
              <a:t>These five fields appear in several different structures that are generated in a typical NeuroDOT pipeline (see next two slides for examples). However, </a:t>
            </a:r>
            <a:r>
              <a:rPr lang="en-US" sz="2000" i="1">
                <a:solidFill>
                  <a:schemeClr val="bg1"/>
                </a:solidFill>
                <a:latin typeface="Trebuchet MS" panose="020B0703020202090204" pitchFamily="34" charset="0"/>
              </a:rPr>
              <a:t>any</a:t>
            </a:r>
            <a:r>
              <a:rPr lang="en-US" sz="2000">
                <a:solidFill>
                  <a:schemeClr val="bg1"/>
                </a:solidFill>
                <a:latin typeface="Trebuchet MS" panose="020B0703020202090204" pitchFamily="34" charset="0"/>
              </a:rPr>
              <a:t> structure can be passed to affine3d_img as image_info or target_info as long it contains these five fields. This slide lists the meaning of these data.</a:t>
            </a:r>
          </a:p>
        </p:txBody>
      </p:sp>
      <p:sp>
        <p:nvSpPr>
          <p:cNvPr id="5" name="TextBox 4">
            <a:extLst>
              <a:ext uri="{FF2B5EF4-FFF2-40B4-BE49-F238E27FC236}">
                <a16:creationId xmlns:a16="http://schemas.microsoft.com/office/drawing/2014/main" id="{AEF4B746-FF1F-6BA8-28F3-7ECB872122DE}"/>
              </a:ext>
            </a:extLst>
          </p:cNvPr>
          <p:cNvSpPr txBox="1"/>
          <p:nvPr/>
        </p:nvSpPr>
        <p:spPr>
          <a:xfrm>
            <a:off x="1069463" y="5646776"/>
            <a:ext cx="10298568" cy="369332"/>
          </a:xfrm>
          <a:prstGeom prst="rect">
            <a:avLst/>
          </a:prstGeom>
          <a:noFill/>
        </p:spPr>
        <p:txBody>
          <a:bodyPr wrap="square" rtlCol="0">
            <a:spAutoFit/>
          </a:bodyPr>
          <a:lstStyle/>
          <a:p>
            <a:r>
              <a:rPr lang="en-US">
                <a:solidFill>
                  <a:schemeClr val="bg1"/>
                </a:solidFill>
                <a:latin typeface="Trebuchet MS" panose="020B0703020202090204" pitchFamily="34" charset="0"/>
              </a:rPr>
              <a:t>See </a:t>
            </a:r>
            <a:r>
              <a:rPr lang="en-US" i="1">
                <a:solidFill>
                  <a:schemeClr val="bg1"/>
                </a:solidFill>
                <a:latin typeface="Trebuchet MS" panose="020B0703020202090204" pitchFamily="34" charset="0"/>
              </a:rPr>
              <a:t>NeuroDOT_Tutorial_Data_Organization.pptx </a:t>
            </a:r>
            <a:r>
              <a:rPr lang="en-US">
                <a:solidFill>
                  <a:schemeClr val="bg1"/>
                </a:solidFill>
                <a:latin typeface="Trebuchet MS" panose="020B0703020202090204" pitchFamily="34" charset="0"/>
              </a:rPr>
              <a:t>to learn more about NeuroDOT data structures.</a:t>
            </a:r>
          </a:p>
        </p:txBody>
      </p:sp>
    </p:spTree>
    <p:extLst>
      <p:ext uri="{BB962C8B-B14F-4D97-AF65-F5344CB8AC3E}">
        <p14:creationId xmlns:p14="http://schemas.microsoft.com/office/powerpoint/2010/main" val="39988695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A1F7C-3CA6-632A-4F8C-C353B10208A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BFF5F75-0B70-71CE-350E-284E9B45B9CA}"/>
              </a:ext>
            </a:extLst>
          </p:cNvPr>
          <p:cNvSpPr txBox="1"/>
          <p:nvPr/>
        </p:nvSpPr>
        <p:spPr>
          <a:xfrm>
            <a:off x="957942" y="502574"/>
            <a:ext cx="10132541" cy="523220"/>
          </a:xfrm>
          <a:prstGeom prst="rect">
            <a:avLst/>
          </a:prstGeom>
          <a:noFill/>
        </p:spPr>
        <p:txBody>
          <a:bodyPr wrap="square" rtlCol="0">
            <a:spAutoFit/>
          </a:bodyPr>
          <a:lstStyle/>
          <a:p>
            <a:r>
              <a:rPr lang="en-US" sz="2800" u="sng">
                <a:solidFill>
                  <a:schemeClr val="bg1"/>
                </a:solidFill>
                <a:latin typeface="Trebuchet MS" panose="020B0703020202090204" pitchFamily="34" charset="0"/>
              </a:rPr>
              <a:t>The info struct</a:t>
            </a:r>
            <a:endParaRPr lang="en-US" sz="2800">
              <a:solidFill>
                <a:schemeClr val="bg1"/>
              </a:solidFill>
              <a:latin typeface="Trebuchet MS" panose="020B0703020202090204" pitchFamily="34" charset="0"/>
            </a:endParaRPr>
          </a:p>
        </p:txBody>
      </p:sp>
      <p:sp>
        <p:nvSpPr>
          <p:cNvPr id="3" name="Slide Number Placeholder 2">
            <a:extLst>
              <a:ext uri="{FF2B5EF4-FFF2-40B4-BE49-F238E27FC236}">
                <a16:creationId xmlns:a16="http://schemas.microsoft.com/office/drawing/2014/main" id="{14A0F52D-81C1-C009-94F0-9167C89A93DE}"/>
              </a:ext>
            </a:extLst>
          </p:cNvPr>
          <p:cNvSpPr>
            <a:spLocks noGrp="1"/>
          </p:cNvSpPr>
          <p:nvPr>
            <p:ph type="sldNum" sz="quarter" idx="12"/>
          </p:nvPr>
        </p:nvSpPr>
        <p:spPr/>
        <p:txBody>
          <a:bodyPr/>
          <a:lstStyle/>
          <a:p>
            <a:fld id="{6F215E70-FDA5-6C45-8C7C-E922E56675B4}" type="slidenum">
              <a:rPr lang="en-US"/>
              <a:t>40</a:t>
            </a:fld>
            <a:endParaRPr lang="en-US"/>
          </a:p>
        </p:txBody>
      </p:sp>
      <p:sp>
        <p:nvSpPr>
          <p:cNvPr id="4" name="TextBox 3">
            <a:extLst>
              <a:ext uri="{FF2B5EF4-FFF2-40B4-BE49-F238E27FC236}">
                <a16:creationId xmlns:a16="http://schemas.microsoft.com/office/drawing/2014/main" id="{9B24593F-9749-2DD8-1F6B-933B79C08DBE}"/>
              </a:ext>
            </a:extLst>
          </p:cNvPr>
          <p:cNvSpPr txBox="1"/>
          <p:nvPr/>
        </p:nvSpPr>
        <p:spPr>
          <a:xfrm>
            <a:off x="2889069" y="1001038"/>
            <a:ext cx="8972005" cy="5355312"/>
          </a:xfrm>
          <a:prstGeom prst="rect">
            <a:avLst/>
          </a:prstGeom>
          <a:noFill/>
        </p:spPr>
        <p:txBody>
          <a:bodyPr wrap="square" rtlCol="0">
            <a:spAutoFit/>
          </a:bodyPr>
          <a:lstStyle/>
          <a:p>
            <a:r>
              <a:rPr lang="en-US">
                <a:solidFill>
                  <a:schemeClr val="bg1"/>
                </a:solidFill>
                <a:latin typeface="Courier New" panose="02070309020205020404" pitchFamily="49" charset="0"/>
                <a:cs typeface="Courier New" panose="02070309020205020404" pitchFamily="49" charset="0"/>
              </a:rPr>
              <a:t> 	version_of_keys: '3.3'</a:t>
            </a:r>
          </a:p>
          <a:p>
            <a:r>
              <a:rPr lang="en-US">
                <a:solidFill>
                  <a:schemeClr val="bg1"/>
                </a:solidFill>
                <a:latin typeface="Courier New" panose="02070309020205020404" pitchFamily="49" charset="0"/>
                <a:cs typeface="Courier New" panose="02070309020205020404" pitchFamily="49" charset="0"/>
              </a:rPr>
              <a:t>                format: 'single'</a:t>
            </a:r>
          </a:p>
          <a:p>
            <a:r>
              <a:rPr lang="en-US">
                <a:solidFill>
                  <a:schemeClr val="bg1"/>
                </a:solidFill>
                <a:latin typeface="Courier New" panose="02070309020205020404" pitchFamily="49" charset="0"/>
                <a:cs typeface="Courier New" panose="02070309020205020404" pitchFamily="49" charset="0"/>
              </a:rPr>
              <a:t>    conversion_program: 'NeuroDOT_LoadVolumetricData'</a:t>
            </a:r>
          </a:p>
          <a:p>
            <a:r>
              <a:rPr lang="en-US">
                <a:solidFill>
                  <a:schemeClr val="bg1"/>
                </a:solidFill>
                <a:latin typeface="Courier New" panose="02070309020205020404" pitchFamily="49" charset="0"/>
                <a:cs typeface="Courier New" panose="02070309020205020404" pitchFamily="49" charset="0"/>
              </a:rPr>
              <a:t>              filename: 'Segmented_MNI152nl_on_MNI111_nifti.nii'</a:t>
            </a:r>
          </a:p>
          <a:p>
            <a:r>
              <a:rPr lang="en-US">
                <a:solidFill>
                  <a:schemeClr val="bg1"/>
                </a:solidFill>
                <a:latin typeface="Courier New" panose="02070309020205020404" pitchFamily="49" charset="0"/>
                <a:cs typeface="Courier New" panose="02070309020205020404" pitchFamily="49" charset="0"/>
              </a:rPr>
              <a:t>       bytes_per_pixel: 4</a:t>
            </a:r>
          </a:p>
          <a:p>
            <a:r>
              <a:rPr lang="en-US">
                <a:solidFill>
                  <a:schemeClr val="bg1"/>
                </a:solidFill>
                <a:latin typeface="Courier New" panose="02070309020205020404" pitchFamily="49" charset="0"/>
                <a:cs typeface="Courier New" panose="02070309020205020404" pitchFamily="49" charset="0"/>
              </a:rPr>
              <a:t>                  byte: 'l'</a:t>
            </a:r>
          </a:p>
          <a:p>
            <a:r>
              <a:rPr lang="en-US">
                <a:solidFill>
                  <a:schemeClr val="bg1"/>
                </a:solidFill>
                <a:latin typeface="Courier New" panose="02070309020205020404" pitchFamily="49" charset="0"/>
                <a:cs typeface="Courier New" panose="02070309020205020404" pitchFamily="49" charset="0"/>
              </a:rPr>
              <a:t>                   acq: 'transverse'</a:t>
            </a:r>
          </a:p>
          <a:p>
            <a:r>
              <a:rPr lang="en-US">
                <a:solidFill>
                  <a:schemeClr val="bg1"/>
                </a:solidFill>
                <a:latin typeface="Courier New" panose="02070309020205020404" pitchFamily="49" charset="0"/>
                <a:cs typeface="Courier New" panose="02070309020205020404" pitchFamily="49" charset="0"/>
              </a:rPr>
              <a:t>                  nDim: 4</a:t>
            </a:r>
          </a:p>
          <a:p>
            <a:r>
              <a:rPr lang="en-US" b="1">
                <a:solidFill>
                  <a:schemeClr val="bg1"/>
                </a:solidFill>
                <a:latin typeface="Courier New" panose="02070309020205020404" pitchFamily="49" charset="0"/>
                <a:cs typeface="Courier New" panose="02070309020205020404" pitchFamily="49" charset="0"/>
              </a:rPr>
              <a:t>                   nVx: 176</a:t>
            </a:r>
          </a:p>
          <a:p>
            <a:r>
              <a:rPr lang="en-US" b="1">
                <a:solidFill>
                  <a:schemeClr val="bg1"/>
                </a:solidFill>
                <a:latin typeface="Courier New" panose="02070309020205020404" pitchFamily="49" charset="0"/>
                <a:cs typeface="Courier New" panose="02070309020205020404" pitchFamily="49" charset="0"/>
              </a:rPr>
              <a:t>                   nVy: 208</a:t>
            </a:r>
          </a:p>
          <a:p>
            <a:r>
              <a:rPr lang="en-US" b="1">
                <a:solidFill>
                  <a:schemeClr val="bg1"/>
                </a:solidFill>
                <a:latin typeface="Courier New" panose="02070309020205020404" pitchFamily="49" charset="0"/>
                <a:cs typeface="Courier New" panose="02070309020205020404" pitchFamily="49" charset="0"/>
              </a:rPr>
              <a:t>                   nVz: 176</a:t>
            </a:r>
          </a:p>
          <a:p>
            <a:r>
              <a:rPr lang="en-US">
                <a:solidFill>
                  <a:schemeClr val="bg1"/>
                </a:solidFill>
                <a:latin typeface="Courier New" panose="02070309020205020404" pitchFamily="49" charset="0"/>
                <a:cs typeface="Courier New" panose="02070309020205020404" pitchFamily="49" charset="0"/>
              </a:rPr>
              <a:t>                   nVt: 1</a:t>
            </a:r>
          </a:p>
          <a:p>
            <a:r>
              <a:rPr lang="en-US">
                <a:solidFill>
                  <a:schemeClr val="bg1"/>
                </a:solidFill>
                <a:latin typeface="Courier New" panose="02070309020205020404" pitchFamily="49" charset="0"/>
                <a:cs typeface="Courier New" panose="02070309020205020404" pitchFamily="49" charset="0"/>
              </a:rPr>
              <a:t>                   mmx: 1</a:t>
            </a:r>
          </a:p>
          <a:p>
            <a:r>
              <a:rPr lang="en-US">
                <a:solidFill>
                  <a:schemeClr val="bg1"/>
                </a:solidFill>
                <a:latin typeface="Courier New" panose="02070309020205020404" pitchFamily="49" charset="0"/>
                <a:cs typeface="Courier New" panose="02070309020205020404" pitchFamily="49" charset="0"/>
              </a:rPr>
              <a:t>                   mmy: 1</a:t>
            </a:r>
          </a:p>
          <a:p>
            <a:r>
              <a:rPr lang="en-US">
                <a:solidFill>
                  <a:schemeClr val="bg1"/>
                </a:solidFill>
                <a:latin typeface="Courier New" panose="02070309020205020404" pitchFamily="49" charset="0"/>
                <a:cs typeface="Courier New" panose="02070309020205020404" pitchFamily="49" charset="0"/>
              </a:rPr>
              <a:t>                   mmz: 1</a:t>
            </a:r>
          </a:p>
          <a:p>
            <a:r>
              <a:rPr lang="en-US" b="1">
                <a:solidFill>
                  <a:schemeClr val="bg1"/>
                </a:solidFill>
                <a:latin typeface="Courier New" panose="02070309020205020404" pitchFamily="49" charset="0"/>
                <a:cs typeface="Courier New" panose="02070309020205020404" pitchFamily="49" charset="0"/>
              </a:rPr>
              <a:t>                mmppix: [1 -1 -1]</a:t>
            </a:r>
          </a:p>
          <a:p>
            <a:r>
              <a:rPr lang="en-US" b="1">
                <a:solidFill>
                  <a:schemeClr val="bg1"/>
                </a:solidFill>
                <a:latin typeface="Courier New" panose="02070309020205020404" pitchFamily="49" charset="0"/>
                <a:cs typeface="Courier New" panose="02070309020205020404" pitchFamily="49" charset="0"/>
              </a:rPr>
              <a:t>                center: [89 -85 -101]</a:t>
            </a:r>
          </a:p>
          <a:p>
            <a:r>
              <a:rPr lang="en-US">
                <a:solidFill>
                  <a:schemeClr val="bg1"/>
                </a:solidFill>
                <a:latin typeface="Courier New" panose="02070309020205020404" pitchFamily="49" charset="0"/>
                <a:cs typeface="Courier New" panose="02070309020205020404" pitchFamily="49" charset="0"/>
              </a:rPr>
              <a:t>           orientation: 2</a:t>
            </a:r>
          </a:p>
          <a:p>
            <a:r>
              <a:rPr lang="en-US">
                <a:solidFill>
                  <a:schemeClr val="bg1"/>
                </a:solidFill>
                <a:latin typeface="Courier New" panose="02070309020205020404" pitchFamily="49" charset="0"/>
                <a:cs typeface="Courier New" panose="02070309020205020404" pitchFamily="49" charset="0"/>
              </a:rPr>
              <a:t>       original_header: [1×1 struct]</a:t>
            </a:r>
          </a:p>
        </p:txBody>
      </p:sp>
      <p:sp>
        <p:nvSpPr>
          <p:cNvPr id="5" name="TextBox 4">
            <a:extLst>
              <a:ext uri="{FF2B5EF4-FFF2-40B4-BE49-F238E27FC236}">
                <a16:creationId xmlns:a16="http://schemas.microsoft.com/office/drawing/2014/main" id="{779E5B89-DDD3-7B78-8DAF-5A44B252708D}"/>
              </a:ext>
            </a:extLst>
          </p:cNvPr>
          <p:cNvSpPr txBox="1"/>
          <p:nvPr/>
        </p:nvSpPr>
        <p:spPr>
          <a:xfrm>
            <a:off x="957942" y="968165"/>
            <a:ext cx="3599829" cy="646331"/>
          </a:xfrm>
          <a:prstGeom prst="rect">
            <a:avLst/>
          </a:prstGeom>
          <a:noFill/>
        </p:spPr>
        <p:txBody>
          <a:bodyPr wrap="square" rtlCol="0">
            <a:spAutoFit/>
          </a:bodyPr>
          <a:lstStyle/>
          <a:p>
            <a:r>
              <a:rPr lang="en-US">
                <a:solidFill>
                  <a:schemeClr val="bg1"/>
                </a:solidFill>
                <a:latin typeface="Trebuchet MS" panose="020B0703020202090204" pitchFamily="34" charset="0"/>
              </a:rPr>
              <a:t>returned by </a:t>
            </a:r>
          </a:p>
          <a:p>
            <a:r>
              <a:rPr lang="en-US">
                <a:solidFill>
                  <a:schemeClr val="bg1"/>
                </a:solidFill>
                <a:latin typeface="Trebuchet MS" panose="020B0703020202090204" pitchFamily="34" charset="0"/>
              </a:rPr>
              <a:t>LoadVolumetricData</a:t>
            </a:r>
            <a:endParaRPr lang="en-US">
              <a:latin typeface="Trebuchet MS" panose="020B0703020202090204" pitchFamily="34" charset="0"/>
            </a:endParaRPr>
          </a:p>
        </p:txBody>
      </p:sp>
    </p:spTree>
    <p:extLst>
      <p:ext uri="{BB962C8B-B14F-4D97-AF65-F5344CB8AC3E}">
        <p14:creationId xmlns:p14="http://schemas.microsoft.com/office/powerpoint/2010/main" val="25974741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8C7BC-4D23-2E9A-DA43-6FCD7583E95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892FE26-8ACA-EC0C-D7B4-CD5C52A4238D}"/>
              </a:ext>
            </a:extLst>
          </p:cNvPr>
          <p:cNvSpPr txBox="1"/>
          <p:nvPr/>
        </p:nvSpPr>
        <p:spPr>
          <a:xfrm>
            <a:off x="957942" y="502574"/>
            <a:ext cx="10132541" cy="523220"/>
          </a:xfrm>
          <a:prstGeom prst="rect">
            <a:avLst/>
          </a:prstGeom>
          <a:noFill/>
        </p:spPr>
        <p:txBody>
          <a:bodyPr wrap="square" rtlCol="0">
            <a:spAutoFit/>
          </a:bodyPr>
          <a:lstStyle/>
          <a:p>
            <a:r>
              <a:rPr lang="en-US" sz="2800" u="sng">
                <a:solidFill>
                  <a:schemeClr val="bg1"/>
                </a:solidFill>
                <a:latin typeface="Trebuchet MS" panose="020B0703020202090204" pitchFamily="34" charset="0"/>
              </a:rPr>
              <a:t>The info struct</a:t>
            </a:r>
            <a:endParaRPr lang="en-US" sz="2800">
              <a:solidFill>
                <a:schemeClr val="bg1"/>
              </a:solidFill>
              <a:latin typeface="Trebuchet MS" panose="020B0703020202090204" pitchFamily="34" charset="0"/>
            </a:endParaRPr>
          </a:p>
        </p:txBody>
      </p:sp>
      <p:sp>
        <p:nvSpPr>
          <p:cNvPr id="3" name="Slide Number Placeholder 2">
            <a:extLst>
              <a:ext uri="{FF2B5EF4-FFF2-40B4-BE49-F238E27FC236}">
                <a16:creationId xmlns:a16="http://schemas.microsoft.com/office/drawing/2014/main" id="{B593AC6A-21DB-FD1E-6A3F-CBF7396A52D5}"/>
              </a:ext>
            </a:extLst>
          </p:cNvPr>
          <p:cNvSpPr>
            <a:spLocks noGrp="1"/>
          </p:cNvSpPr>
          <p:nvPr>
            <p:ph type="sldNum" sz="quarter" idx="12"/>
          </p:nvPr>
        </p:nvSpPr>
        <p:spPr/>
        <p:txBody>
          <a:bodyPr/>
          <a:lstStyle/>
          <a:p>
            <a:fld id="{6F215E70-FDA5-6C45-8C7C-E922E56675B4}" type="slidenum">
              <a:rPr lang="en-US"/>
              <a:t>41</a:t>
            </a:fld>
            <a:endParaRPr lang="en-US"/>
          </a:p>
        </p:txBody>
      </p:sp>
      <p:sp>
        <p:nvSpPr>
          <p:cNvPr id="5" name="TextBox 4">
            <a:extLst>
              <a:ext uri="{FF2B5EF4-FFF2-40B4-BE49-F238E27FC236}">
                <a16:creationId xmlns:a16="http://schemas.microsoft.com/office/drawing/2014/main" id="{AE16CF0A-2CB6-DBDD-12B4-192950EB8AAE}"/>
              </a:ext>
            </a:extLst>
          </p:cNvPr>
          <p:cNvSpPr txBox="1"/>
          <p:nvPr/>
        </p:nvSpPr>
        <p:spPr>
          <a:xfrm>
            <a:off x="957942" y="990795"/>
            <a:ext cx="6390042" cy="369332"/>
          </a:xfrm>
          <a:prstGeom prst="rect">
            <a:avLst/>
          </a:prstGeom>
          <a:noFill/>
        </p:spPr>
        <p:txBody>
          <a:bodyPr wrap="square" rtlCol="0">
            <a:spAutoFit/>
          </a:bodyPr>
          <a:lstStyle/>
          <a:p>
            <a:r>
              <a:rPr lang="en-US">
                <a:solidFill>
                  <a:schemeClr val="bg1"/>
                </a:solidFill>
                <a:latin typeface="Trebuchet MS" panose="020B0703020202090204" pitchFamily="34" charset="0"/>
              </a:rPr>
              <a:t>saved with  an A matrix</a:t>
            </a:r>
          </a:p>
        </p:txBody>
      </p:sp>
      <p:sp>
        <p:nvSpPr>
          <p:cNvPr id="6" name="TextBox 5">
            <a:extLst>
              <a:ext uri="{FF2B5EF4-FFF2-40B4-BE49-F238E27FC236}">
                <a16:creationId xmlns:a16="http://schemas.microsoft.com/office/drawing/2014/main" id="{DC66C32F-AB25-4CEC-0829-93FB2869AE2D}"/>
              </a:ext>
            </a:extLst>
          </p:cNvPr>
          <p:cNvSpPr txBox="1"/>
          <p:nvPr/>
        </p:nvSpPr>
        <p:spPr>
          <a:xfrm>
            <a:off x="3622190" y="674641"/>
            <a:ext cx="8008172" cy="5632311"/>
          </a:xfrm>
          <a:prstGeom prst="rect">
            <a:avLst/>
          </a:prstGeom>
          <a:noFill/>
        </p:spPr>
        <p:txBody>
          <a:bodyPr wrap="square" rtlCol="0">
            <a:spAutoFit/>
          </a:bodyPr>
          <a:lstStyle/>
          <a:p>
            <a:r>
              <a:rPr lang="en-US">
                <a:solidFill>
                  <a:schemeClr val="bg1"/>
                </a:solidFill>
                <a:latin typeface="Courier New" panose="02070309020205020404" pitchFamily="49" charset="0"/>
                <a:cs typeface="Courier New" panose="02070309020205020404" pitchFamily="49" charset="0"/>
              </a:rPr>
              <a:t>        xmin: -66</a:t>
            </a:r>
          </a:p>
          <a:p>
            <a:r>
              <a:rPr lang="en-US">
                <a:solidFill>
                  <a:schemeClr val="bg1"/>
                </a:solidFill>
                <a:latin typeface="Courier New" panose="02070309020205020404" pitchFamily="49" charset="0"/>
                <a:cs typeface="Courier New" panose="02070309020205020404" pitchFamily="49" charset="0"/>
              </a:rPr>
              <a:t>        xmax: 67</a:t>
            </a:r>
          </a:p>
          <a:p>
            <a:r>
              <a:rPr lang="en-US">
                <a:solidFill>
                  <a:schemeClr val="bg1"/>
                </a:solidFill>
                <a:latin typeface="Courier New" panose="02070309020205020404" pitchFamily="49" charset="0"/>
                <a:cs typeface="Courier New" panose="02070309020205020404" pitchFamily="49" charset="0"/>
              </a:rPr>
              <a:t>        ymin: -119</a:t>
            </a:r>
          </a:p>
          <a:p>
            <a:r>
              <a:rPr lang="en-US">
                <a:solidFill>
                  <a:schemeClr val="bg1"/>
                </a:solidFill>
                <a:latin typeface="Courier New" panose="02070309020205020404" pitchFamily="49" charset="0"/>
                <a:cs typeface="Courier New" panose="02070309020205020404" pitchFamily="49" charset="0"/>
              </a:rPr>
              <a:t>        ymax: -72</a:t>
            </a:r>
          </a:p>
          <a:p>
            <a:r>
              <a:rPr lang="en-US">
                <a:solidFill>
                  <a:schemeClr val="bg1"/>
                </a:solidFill>
                <a:latin typeface="Courier New" panose="02070309020205020404" pitchFamily="49" charset="0"/>
                <a:cs typeface="Courier New" panose="02070309020205020404" pitchFamily="49" charset="0"/>
              </a:rPr>
              <a:t>        zmin: -29</a:t>
            </a:r>
          </a:p>
          <a:p>
            <a:r>
              <a:rPr lang="en-US">
                <a:solidFill>
                  <a:schemeClr val="bg1"/>
                </a:solidFill>
                <a:latin typeface="Courier New" panose="02070309020205020404" pitchFamily="49" charset="0"/>
                <a:cs typeface="Courier New" panose="02070309020205020404" pitchFamily="49" charset="0"/>
              </a:rPr>
              <a:t>        zmax: 52</a:t>
            </a:r>
          </a:p>
          <a:p>
            <a:r>
              <a:rPr lang="en-US">
                <a:solidFill>
                  <a:schemeClr val="bg1"/>
                </a:solidFill>
                <a:latin typeface="Courier New" panose="02070309020205020404" pitchFamily="49" charset="0"/>
                <a:cs typeface="Courier New" panose="02070309020205020404" pitchFamily="49" charset="0"/>
              </a:rPr>
              <a:t>          xv: [67 65 63 61 59 57 55 53 … ]  (1×67 double)</a:t>
            </a:r>
          </a:p>
          <a:p>
            <a:r>
              <a:rPr lang="en-US">
                <a:solidFill>
                  <a:schemeClr val="bg1"/>
                </a:solidFill>
                <a:latin typeface="Courier New" panose="02070309020205020404" pitchFamily="49" charset="0"/>
                <a:cs typeface="Courier New" panose="02070309020205020404" pitchFamily="49" charset="0"/>
              </a:rPr>
              <a:t>          yv: [-119 -117 -115 -113 -111 … ] (1×24 double)</a:t>
            </a:r>
          </a:p>
          <a:p>
            <a:r>
              <a:rPr lang="en-US">
                <a:solidFill>
                  <a:schemeClr val="bg1"/>
                </a:solidFill>
                <a:latin typeface="Courier New" panose="02070309020205020404" pitchFamily="49" charset="0"/>
                <a:cs typeface="Courier New" panose="02070309020205020404" pitchFamily="49" charset="0"/>
              </a:rPr>
              <a:t>          zv: [-29 -27 -25 -23 -21 -19 … ]  (1×41 double)</a:t>
            </a:r>
          </a:p>
          <a:p>
            <a:r>
              <a:rPr lang="en-US" b="1">
                <a:solidFill>
                  <a:schemeClr val="bg1"/>
                </a:solidFill>
                <a:latin typeface="Courier New" panose="02070309020205020404" pitchFamily="49" charset="0"/>
                <a:cs typeface="Courier New" panose="02070309020205020404" pitchFamily="49" charset="0"/>
              </a:rPr>
              <a:t>      center: [66 72 -52]</a:t>
            </a:r>
          </a:p>
          <a:p>
            <a:r>
              <a:rPr lang="en-US" b="1">
                <a:solidFill>
                  <a:schemeClr val="bg1"/>
                </a:solidFill>
                <a:latin typeface="Courier New" panose="02070309020205020404" pitchFamily="49" charset="0"/>
                <a:cs typeface="Courier New" panose="02070309020205020404" pitchFamily="49" charset="0"/>
              </a:rPr>
              <a:t>         nVx: 67</a:t>
            </a:r>
          </a:p>
          <a:p>
            <a:r>
              <a:rPr lang="en-US" b="1">
                <a:solidFill>
                  <a:schemeClr val="bg1"/>
                </a:solidFill>
                <a:latin typeface="Courier New" panose="02070309020205020404" pitchFamily="49" charset="0"/>
                <a:cs typeface="Courier New" panose="02070309020205020404" pitchFamily="49" charset="0"/>
              </a:rPr>
              <a:t>         nVy: 24</a:t>
            </a:r>
          </a:p>
          <a:p>
            <a:r>
              <a:rPr lang="en-US" b="1">
                <a:solidFill>
                  <a:schemeClr val="bg1"/>
                </a:solidFill>
                <a:latin typeface="Courier New" panose="02070309020205020404" pitchFamily="49" charset="0"/>
                <a:cs typeface="Courier New" panose="02070309020205020404" pitchFamily="49" charset="0"/>
              </a:rPr>
              <a:t>         nVz: 41</a:t>
            </a:r>
          </a:p>
          <a:p>
            <a:r>
              <a:rPr lang="en-US">
                <a:solidFill>
                  <a:schemeClr val="bg1"/>
                </a:solidFill>
                <a:latin typeface="Courier New" panose="02070309020205020404" pitchFamily="49" charset="0"/>
                <a:cs typeface="Courier New" panose="02070309020205020404" pitchFamily="49" charset="0"/>
              </a:rPr>
              <a:t>         nVt: 65928</a:t>
            </a:r>
          </a:p>
          <a:p>
            <a:r>
              <a:rPr lang="en-US">
                <a:solidFill>
                  <a:schemeClr val="bg1"/>
                </a:solidFill>
                <a:latin typeface="Courier New" panose="02070309020205020404" pitchFamily="49" charset="0"/>
                <a:cs typeface="Courier New" panose="02070309020205020404" pitchFamily="49" charset="0"/>
              </a:rPr>
              <a:t>          sV: 2</a:t>
            </a:r>
          </a:p>
          <a:p>
            <a:r>
              <a:rPr lang="en-US">
                <a:solidFill>
                  <a:schemeClr val="bg1"/>
                </a:solidFill>
                <a:latin typeface="Courier New" panose="02070309020205020404" pitchFamily="49" charset="0"/>
                <a:cs typeface="Courier New" panose="02070309020205020404" pitchFamily="49" charset="0"/>
              </a:rPr>
              <a:t>         acq: 'transverse'</a:t>
            </a:r>
          </a:p>
          <a:p>
            <a:r>
              <a:rPr lang="en-US" b="1">
                <a:solidFill>
                  <a:schemeClr val="bg1"/>
                </a:solidFill>
                <a:latin typeface="Courier New" panose="02070309020205020404" pitchFamily="49" charset="0"/>
                <a:cs typeface="Courier New" panose="02070309020205020404" pitchFamily="49" charset="0"/>
              </a:rPr>
              <a:t>      mmppix: [2 -2 -2]</a:t>
            </a:r>
          </a:p>
          <a:p>
            <a:r>
              <a:rPr lang="en-US">
                <a:solidFill>
                  <a:schemeClr val="bg1"/>
                </a:solidFill>
                <a:latin typeface="Courier New" panose="02070309020205020404" pitchFamily="49" charset="0"/>
                <a:cs typeface="Courier New" panose="02070309020205020404" pitchFamily="49" charset="0"/>
              </a:rPr>
              <a:t>    Good_Vox: [41496×1 double]</a:t>
            </a:r>
          </a:p>
          <a:p>
            <a:r>
              <a:rPr lang="en-US">
                <a:solidFill>
                  <a:schemeClr val="bg1"/>
                </a:solidFill>
                <a:latin typeface="Courier New" panose="02070309020205020404" pitchFamily="49" charset="0"/>
                <a:cs typeface="Courier New" panose="02070309020205020404" pitchFamily="49" charset="0"/>
              </a:rPr>
              <a:t>         Ngv: 41496</a:t>
            </a:r>
          </a:p>
          <a:p>
            <a:r>
              <a:rPr lang="en-US">
                <a:solidFill>
                  <a:schemeClr val="bg1"/>
                </a:solidFill>
                <a:latin typeface="Courier New" panose="02070309020205020404" pitchFamily="49" charset="0"/>
                <a:cs typeface="Courier New" panose="02070309020205020404" pitchFamily="49" charset="0"/>
              </a:rPr>
              <a:t>        tpos: [52×3 double]</a:t>
            </a:r>
          </a:p>
        </p:txBody>
      </p:sp>
      <p:sp>
        <p:nvSpPr>
          <p:cNvPr id="8" name="TextBox 7">
            <a:extLst>
              <a:ext uri="{FF2B5EF4-FFF2-40B4-BE49-F238E27FC236}">
                <a16:creationId xmlns:a16="http://schemas.microsoft.com/office/drawing/2014/main" id="{FB8C2291-1497-FFFF-B017-DBCFB4AFCCD0}"/>
              </a:ext>
            </a:extLst>
          </p:cNvPr>
          <p:cNvSpPr txBox="1"/>
          <p:nvPr/>
        </p:nvSpPr>
        <p:spPr>
          <a:xfrm>
            <a:off x="807721" y="1598654"/>
            <a:ext cx="3129578" cy="369332"/>
          </a:xfrm>
          <a:prstGeom prst="rect">
            <a:avLst/>
          </a:prstGeom>
          <a:noFill/>
        </p:spPr>
        <p:txBody>
          <a:bodyPr wrap="square" rtlCol="0">
            <a:spAutoFit/>
          </a:bodyPr>
          <a:lstStyle/>
          <a:p>
            <a:r>
              <a:rPr lang="en-US" b="1">
                <a:solidFill>
                  <a:schemeClr val="bg1"/>
                </a:solidFill>
                <a:latin typeface="Courier New" panose="02070309020205020404" pitchFamily="49" charset="0"/>
                <a:cs typeface="Courier New" panose="02070309020205020404" pitchFamily="49" charset="0"/>
              </a:rPr>
              <a:t>(A.info.tissue.dim)</a:t>
            </a:r>
            <a:endParaRPr lang="en-US" b="1">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1056838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7E674-4109-1709-CB10-97BAFA7CC773}"/>
            </a:ext>
          </a:extLst>
        </p:cNvPr>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628F6F3-A7CE-BEF6-BDFD-94026AB39931}"/>
              </a:ext>
            </a:extLst>
          </p:cNvPr>
          <p:cNvSpPr>
            <a:spLocks noGrp="1"/>
          </p:cNvSpPr>
          <p:nvPr>
            <p:ph type="sldNum" sz="quarter" idx="12"/>
          </p:nvPr>
        </p:nvSpPr>
        <p:spPr>
          <a:xfrm>
            <a:off x="8647670" y="6169318"/>
            <a:ext cx="2743200" cy="365125"/>
          </a:xfrm>
        </p:spPr>
        <p:txBody>
          <a:bodyPr/>
          <a:lstStyle/>
          <a:p>
            <a:fld id="{6F215E70-FDA5-6C45-8C7C-E922E56675B4}" type="slidenum">
              <a:rPr lang="en-US"/>
              <a:t>42</a:t>
            </a:fld>
            <a:endParaRPr lang="en-US"/>
          </a:p>
        </p:txBody>
      </p:sp>
      <p:sp>
        <p:nvSpPr>
          <p:cNvPr id="4" name="TextBox 3">
            <a:extLst>
              <a:ext uri="{FF2B5EF4-FFF2-40B4-BE49-F238E27FC236}">
                <a16:creationId xmlns:a16="http://schemas.microsoft.com/office/drawing/2014/main" id="{5D8D0916-5DDC-177E-D40B-9375DE98ABD9}"/>
              </a:ext>
            </a:extLst>
          </p:cNvPr>
          <p:cNvSpPr txBox="1"/>
          <p:nvPr/>
        </p:nvSpPr>
        <p:spPr>
          <a:xfrm>
            <a:off x="1811150" y="3750737"/>
            <a:ext cx="8569699" cy="1938992"/>
          </a:xfrm>
          <a:prstGeom prst="rect">
            <a:avLst/>
          </a:prstGeom>
          <a:noFill/>
        </p:spPr>
        <p:txBody>
          <a:bodyPr wrap="square" rtlCol="0">
            <a:spAutoFit/>
          </a:bodyPr>
          <a:lstStyle/>
          <a:p>
            <a:pPr algn="ctr"/>
            <a:r>
              <a:rPr lang="en-US" sz="2400">
                <a:solidFill>
                  <a:schemeClr val="bg1"/>
                </a:solidFill>
                <a:latin typeface="Trebuchet MS" panose="020B0703020202090204" pitchFamily="34" charset="0"/>
              </a:rPr>
              <a:t>Optional parameters are omitted in function calls whenever possible to simplify the code.</a:t>
            </a:r>
          </a:p>
          <a:p>
            <a:pPr algn="ctr"/>
            <a:endParaRPr lang="en-US" sz="2400">
              <a:solidFill>
                <a:schemeClr val="bg1"/>
              </a:solidFill>
              <a:latin typeface="Trebuchet MS" panose="020B0703020202090204" pitchFamily="34" charset="0"/>
            </a:endParaRPr>
          </a:p>
          <a:p>
            <a:pPr algn="ctr"/>
            <a:r>
              <a:rPr lang="en-US" sz="2400">
                <a:solidFill>
                  <a:schemeClr val="bg1"/>
                </a:solidFill>
                <a:latin typeface="Trebuchet MS" panose="020B0703020202090204" pitchFamily="34" charset="0"/>
              </a:rPr>
              <a:t>An overlay is not used in these examples. The goal is to illustrate the effect of the transformation on the image.</a:t>
            </a:r>
          </a:p>
        </p:txBody>
      </p:sp>
      <p:sp>
        <p:nvSpPr>
          <p:cNvPr id="7" name="TextBox 6">
            <a:extLst>
              <a:ext uri="{FF2B5EF4-FFF2-40B4-BE49-F238E27FC236}">
                <a16:creationId xmlns:a16="http://schemas.microsoft.com/office/drawing/2014/main" id="{0390CAAB-E971-86AE-D714-4174590F9912}"/>
              </a:ext>
            </a:extLst>
          </p:cNvPr>
          <p:cNvSpPr txBox="1"/>
          <p:nvPr/>
        </p:nvSpPr>
        <p:spPr>
          <a:xfrm>
            <a:off x="757961" y="556838"/>
            <a:ext cx="10912671" cy="523220"/>
          </a:xfrm>
          <a:prstGeom prst="rect">
            <a:avLst/>
          </a:prstGeom>
          <a:noFill/>
        </p:spPr>
        <p:txBody>
          <a:bodyPr wrap="square" rtlCol="0">
            <a:spAutoFit/>
          </a:bodyPr>
          <a:lstStyle/>
          <a:p>
            <a:r>
              <a:rPr lang="en-US" sz="2800" u="sng">
                <a:solidFill>
                  <a:schemeClr val="bg1"/>
                </a:solidFill>
                <a:effectLst/>
                <a:latin typeface="Trebuchet MS" panose="020B0703020202090204" pitchFamily="34" charset="0"/>
              </a:rPr>
              <a:t>A2: Example transforms defined using the info structure</a:t>
            </a:r>
            <a:endParaRPr lang="en-US" sz="2800" u="sng">
              <a:solidFill>
                <a:schemeClr val="bg1"/>
              </a:solidFill>
              <a:latin typeface="Trebuchet MS" panose="020B0703020202090204" pitchFamily="34" charset="0"/>
            </a:endParaRPr>
          </a:p>
        </p:txBody>
      </p:sp>
      <p:sp>
        <p:nvSpPr>
          <p:cNvPr id="8" name="TextBox 7">
            <a:extLst>
              <a:ext uri="{FF2B5EF4-FFF2-40B4-BE49-F238E27FC236}">
                <a16:creationId xmlns:a16="http://schemas.microsoft.com/office/drawing/2014/main" id="{4A6C0527-302D-5A79-A496-3109396322D0}"/>
              </a:ext>
            </a:extLst>
          </p:cNvPr>
          <p:cNvSpPr txBox="1"/>
          <p:nvPr/>
        </p:nvSpPr>
        <p:spPr>
          <a:xfrm>
            <a:off x="1561042" y="1445901"/>
            <a:ext cx="9724579" cy="1938992"/>
          </a:xfrm>
          <a:prstGeom prst="rect">
            <a:avLst/>
          </a:prstGeom>
          <a:noFill/>
        </p:spPr>
        <p:txBody>
          <a:bodyPr wrap="square" rtlCol="0">
            <a:spAutoFit/>
          </a:bodyPr>
          <a:lstStyle/>
          <a:p>
            <a:r>
              <a:rPr lang="en-US" sz="2400">
                <a:solidFill>
                  <a:schemeClr val="bg1"/>
                </a:solidFill>
                <a:latin typeface="Trebuchet MS" panose="020B0703020202090204" pitchFamily="34" charset="0"/>
              </a:rPr>
              <a:t>This appendix contains a gallery of elementary transforms defined by setting individual fields in the info structure. This is not something you will likely do in practice; rather, these examples are provided to illustrate how the info structure fields relate to the transform applied to the image. </a:t>
            </a:r>
          </a:p>
        </p:txBody>
      </p:sp>
    </p:spTree>
    <p:extLst>
      <p:ext uri="{BB962C8B-B14F-4D97-AF65-F5344CB8AC3E}">
        <p14:creationId xmlns:p14="http://schemas.microsoft.com/office/powerpoint/2010/main" val="40718943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952A77-B8F4-6FD8-5720-48BB7F1E9539}"/>
              </a:ext>
            </a:extLst>
          </p:cNvPr>
          <p:cNvSpPr>
            <a:spLocks noGrp="1"/>
          </p:cNvSpPr>
          <p:nvPr>
            <p:ph type="sldNum" sz="quarter" idx="12"/>
          </p:nvPr>
        </p:nvSpPr>
        <p:spPr/>
        <p:txBody>
          <a:bodyPr/>
          <a:lstStyle/>
          <a:p>
            <a:fld id="{6F215E70-FDA5-6C45-8C7C-E922E56675B4}" type="slidenum">
              <a:rPr lang="en-US"/>
              <a:t>43</a:t>
            </a:fld>
            <a:endParaRPr lang="en-US"/>
          </a:p>
        </p:txBody>
      </p:sp>
      <p:sp>
        <p:nvSpPr>
          <p:cNvPr id="3" name="TextBox 2">
            <a:extLst>
              <a:ext uri="{FF2B5EF4-FFF2-40B4-BE49-F238E27FC236}">
                <a16:creationId xmlns:a16="http://schemas.microsoft.com/office/drawing/2014/main" id="{8BD1CAA1-582D-27EF-D461-269BE0E04DD3}"/>
              </a:ext>
            </a:extLst>
          </p:cNvPr>
          <p:cNvSpPr txBox="1"/>
          <p:nvPr/>
        </p:nvSpPr>
        <p:spPr>
          <a:xfrm>
            <a:off x="647700" y="670165"/>
            <a:ext cx="10896600" cy="2862322"/>
          </a:xfrm>
          <a:prstGeom prst="rect">
            <a:avLst/>
          </a:prstGeom>
          <a:noFill/>
        </p:spPr>
        <p:txBody>
          <a:bodyPr wrap="square" rtlCol="0">
            <a:spAutoFit/>
          </a:bodyPr>
          <a:lstStyle/>
          <a:p>
            <a:r>
              <a:rPr lang="en-US" b="1">
                <a:solidFill>
                  <a:schemeClr val="bg1"/>
                </a:solidFill>
                <a:effectLst/>
                <a:latin typeface="Courier New" panose="02070309020205020404" pitchFamily="49" charset="0"/>
                <a:cs typeface="Courier New" panose="02070309020205020404" pitchFamily="49" charset="0"/>
              </a:rPr>
              <a:t>% load and plot template</a:t>
            </a:r>
          </a:p>
          <a:p>
            <a:endParaRPr lang="en-US" b="1">
              <a:solidFill>
                <a:schemeClr val="bg1"/>
              </a:solidFill>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imgA,infoA</a:t>
            </a:r>
            <a:r>
              <a:rPr lang="en-US" b="1">
                <a:solidFill>
                  <a:schemeClr val="bg1"/>
                </a:solidFill>
                <a:effectLst/>
                <a:latin typeface="Courier New" panose="02070309020205020404" pitchFamily="49" charset="0"/>
                <a:cs typeface="Courier New" panose="02070309020205020404" pitchFamily="49" charset="0"/>
              </a:rPr>
              <a:t>] = LoadVolumetricData('Segmented_MNI152nl_on_MNI111_nifti.nii');</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p>
          <a:p>
            <a:endParaRPr lang="en-US" b="1">
              <a:solidFill>
                <a:schemeClr val="bg1"/>
              </a:solidFill>
              <a:effectLst/>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infoB = infoA; 					% initialize infoB</a:t>
            </a:r>
          </a:p>
          <a:p>
            <a:r>
              <a:rPr lang="en-US" b="1">
                <a:solidFill>
                  <a:srgbClr val="FFFF00"/>
                </a:solidFill>
                <a:effectLst/>
                <a:latin typeface="Courier New" panose="02070309020205020404" pitchFamily="49" charset="0"/>
                <a:cs typeface="Courier New" panose="02070309020205020404" pitchFamily="49" charset="0"/>
              </a:rPr>
              <a:t>infoB.center(1) = infoB.center(1) + 50; </a:t>
            </a:r>
            <a:r>
              <a:rPr lang="en-US" b="1">
                <a:solidFill>
                  <a:schemeClr val="bg1"/>
                </a:solidFill>
                <a:effectLst/>
                <a:latin typeface="Courier New" panose="02070309020205020404" pitchFamily="49" charset="0"/>
                <a:cs typeface="Courier New" panose="02070309020205020404" pitchFamily="49" charset="0"/>
              </a:rPr>
              <a:t>		% change the relevant field</a:t>
            </a:r>
          </a:p>
          <a:p>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affine3d_img(</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infoA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FF00"/>
                </a:solidFill>
                <a:effectLst/>
                <a:latin typeface="Courier New" panose="02070309020205020404" pitchFamily="49" charset="0"/>
                <a:cs typeface="Courier New" panose="02070309020205020404" pitchFamily="49" charset="0"/>
              </a:rPr>
              <a:t>infoB</a:t>
            </a:r>
            <a:r>
              <a:rPr lang="en-US" b="1">
                <a:solidFill>
                  <a:schemeClr val="bg1"/>
                </a:solidFill>
                <a:effectLst/>
                <a:latin typeface="Courier New" panose="02070309020205020404" pitchFamily="49" charset="0"/>
                <a:cs typeface="Courier New" panose="02070309020205020404" pitchFamily="49" charset="0"/>
              </a:rPr>
              <a:t>); 		% generate the new image data</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plot the transformed template</a:t>
            </a:r>
          </a:p>
          <a:p>
            <a:endParaRPr lang="en-US" b="1">
              <a:solidFill>
                <a:schemeClr val="bg1"/>
              </a:solidFill>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F87E0CC3-F20D-F9BC-5623-7BD10E9B709D}"/>
              </a:ext>
            </a:extLst>
          </p:cNvPr>
          <p:cNvSpPr txBox="1"/>
          <p:nvPr/>
        </p:nvSpPr>
        <p:spPr>
          <a:xfrm>
            <a:off x="6198449" y="439333"/>
            <a:ext cx="5155351" cy="461665"/>
          </a:xfrm>
          <a:prstGeom prst="rect">
            <a:avLst/>
          </a:prstGeom>
          <a:noFill/>
        </p:spPr>
        <p:txBody>
          <a:bodyPr wrap="square" rtlCol="0">
            <a:spAutoFit/>
          </a:bodyPr>
          <a:lstStyle/>
          <a:p>
            <a:pPr algn="r"/>
            <a:r>
              <a:rPr lang="en-US" sz="2400" u="sng">
                <a:solidFill>
                  <a:schemeClr val="bg1"/>
                </a:solidFill>
                <a:latin typeface="Trebuchet MS" panose="020B0703020202090204" pitchFamily="34" charset="0"/>
              </a:rPr>
              <a:t>Example 1: Translate the x-origin</a:t>
            </a:r>
            <a:endParaRPr lang="en-US" sz="2400">
              <a:solidFill>
                <a:schemeClr val="bg1"/>
              </a:solidFill>
              <a:latin typeface="Trebuchet MS" panose="020B0703020202090204" pitchFamily="34" charset="0"/>
            </a:endParaRPr>
          </a:p>
        </p:txBody>
      </p:sp>
      <p:pic>
        <p:nvPicPr>
          <p:cNvPr id="8" name="Picture 7" descr="A screenshot of a computer screen&#10;&#10;Description automatically generated">
            <a:extLst>
              <a:ext uri="{FF2B5EF4-FFF2-40B4-BE49-F238E27FC236}">
                <a16:creationId xmlns:a16="http://schemas.microsoft.com/office/drawing/2014/main" id="{3B419EFF-1D2B-E98D-6D18-03F2CB95469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92100" y="3462893"/>
            <a:ext cx="5906349" cy="2560320"/>
          </a:xfrm>
          <a:prstGeom prst="rect">
            <a:avLst/>
          </a:prstGeom>
        </p:spPr>
      </p:pic>
      <p:pic>
        <p:nvPicPr>
          <p:cNvPr id="10" name="Picture 9" descr="A screenshot of a computer&#10;&#10;Description automatically generated">
            <a:extLst>
              <a:ext uri="{FF2B5EF4-FFF2-40B4-BE49-F238E27FC236}">
                <a16:creationId xmlns:a16="http://schemas.microsoft.com/office/drawing/2014/main" id="{7F765C07-8442-28BC-21C2-F3C3452E2BC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15380" y="3462893"/>
            <a:ext cx="5669280" cy="2562074"/>
          </a:xfrm>
          <a:prstGeom prst="rect">
            <a:avLst/>
          </a:prstGeom>
        </p:spPr>
      </p:pic>
      <p:sp>
        <p:nvSpPr>
          <p:cNvPr id="11" name="TextBox 10">
            <a:extLst>
              <a:ext uri="{FF2B5EF4-FFF2-40B4-BE49-F238E27FC236}">
                <a16:creationId xmlns:a16="http://schemas.microsoft.com/office/drawing/2014/main" id="{F76ABE28-D9E4-8910-7B72-CF6F8929D9E3}"/>
              </a:ext>
            </a:extLst>
          </p:cNvPr>
          <p:cNvSpPr txBox="1"/>
          <p:nvPr/>
        </p:nvSpPr>
        <p:spPr>
          <a:xfrm>
            <a:off x="2784829" y="5728993"/>
            <a:ext cx="920890" cy="461665"/>
          </a:xfrm>
          <a:prstGeom prst="rect">
            <a:avLst/>
          </a:prstGeom>
          <a:noFill/>
        </p:spPr>
        <p:txBody>
          <a:bodyPr wrap="square" rtlCol="0">
            <a:spAutoFit/>
          </a:bodyPr>
          <a:lstStyle/>
          <a:p>
            <a:r>
              <a:rPr lang="en-US" sz="2400" b="1">
                <a:solidFill>
                  <a:srgbClr val="FF0000"/>
                </a:solidFill>
                <a:latin typeface="Trebuchet MS" panose="020B0703020202090204" pitchFamily="34" charset="0"/>
              </a:rPr>
              <a:t>imgA</a:t>
            </a:r>
          </a:p>
        </p:txBody>
      </p:sp>
      <p:sp>
        <p:nvSpPr>
          <p:cNvPr id="12" name="TextBox 11">
            <a:extLst>
              <a:ext uri="{FF2B5EF4-FFF2-40B4-BE49-F238E27FC236}">
                <a16:creationId xmlns:a16="http://schemas.microsoft.com/office/drawing/2014/main" id="{8116ACE5-6162-122E-01C3-A45515150373}"/>
              </a:ext>
            </a:extLst>
          </p:cNvPr>
          <p:cNvSpPr txBox="1"/>
          <p:nvPr/>
        </p:nvSpPr>
        <p:spPr>
          <a:xfrm>
            <a:off x="8589575" y="5728993"/>
            <a:ext cx="920890" cy="461665"/>
          </a:xfrm>
          <a:prstGeom prst="rect">
            <a:avLst/>
          </a:prstGeom>
          <a:noFill/>
        </p:spPr>
        <p:txBody>
          <a:bodyPr wrap="square" rtlCol="0">
            <a:spAutoFit/>
          </a:bodyPr>
          <a:lstStyle/>
          <a:p>
            <a:r>
              <a:rPr lang="en-US" sz="2400" b="1">
                <a:solidFill>
                  <a:srgbClr val="00B050"/>
                </a:solidFill>
                <a:latin typeface="Trebuchet MS" panose="020B0703020202090204" pitchFamily="34" charset="0"/>
              </a:rPr>
              <a:t>imgB</a:t>
            </a:r>
          </a:p>
        </p:txBody>
      </p:sp>
    </p:spTree>
    <p:extLst>
      <p:ext uri="{BB962C8B-B14F-4D97-AF65-F5344CB8AC3E}">
        <p14:creationId xmlns:p14="http://schemas.microsoft.com/office/powerpoint/2010/main" val="4259360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0CBC2-66E9-5573-AEEC-8950700E3378}"/>
            </a:ext>
          </a:extLst>
        </p:cNvPr>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D6B58406-D16A-6CCF-D1D8-09FC6958518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19266" y="3464647"/>
            <a:ext cx="5665394" cy="2560320"/>
          </a:xfrm>
          <a:prstGeom prst="rect">
            <a:avLst/>
          </a:prstGeom>
        </p:spPr>
      </p:pic>
      <p:sp>
        <p:nvSpPr>
          <p:cNvPr id="2" name="Slide Number Placeholder 1">
            <a:extLst>
              <a:ext uri="{FF2B5EF4-FFF2-40B4-BE49-F238E27FC236}">
                <a16:creationId xmlns:a16="http://schemas.microsoft.com/office/drawing/2014/main" id="{55A8DD2A-6F22-1260-9DCD-3FBDC3D7819F}"/>
              </a:ext>
            </a:extLst>
          </p:cNvPr>
          <p:cNvSpPr>
            <a:spLocks noGrp="1"/>
          </p:cNvSpPr>
          <p:nvPr>
            <p:ph type="sldNum" sz="quarter" idx="12"/>
          </p:nvPr>
        </p:nvSpPr>
        <p:spPr/>
        <p:txBody>
          <a:bodyPr/>
          <a:lstStyle/>
          <a:p>
            <a:fld id="{6F215E70-FDA5-6C45-8C7C-E922E56675B4}" type="slidenum">
              <a:rPr lang="en-US"/>
              <a:t>44</a:t>
            </a:fld>
            <a:endParaRPr lang="en-US"/>
          </a:p>
        </p:txBody>
      </p:sp>
      <p:sp>
        <p:nvSpPr>
          <p:cNvPr id="3" name="TextBox 2">
            <a:extLst>
              <a:ext uri="{FF2B5EF4-FFF2-40B4-BE49-F238E27FC236}">
                <a16:creationId xmlns:a16="http://schemas.microsoft.com/office/drawing/2014/main" id="{340B3C55-898C-BBF2-74A7-89259FA704F9}"/>
              </a:ext>
            </a:extLst>
          </p:cNvPr>
          <p:cNvSpPr txBox="1"/>
          <p:nvPr/>
        </p:nvSpPr>
        <p:spPr>
          <a:xfrm>
            <a:off x="647700" y="670165"/>
            <a:ext cx="10896600" cy="2862322"/>
          </a:xfrm>
          <a:prstGeom prst="rect">
            <a:avLst/>
          </a:prstGeom>
          <a:noFill/>
        </p:spPr>
        <p:txBody>
          <a:bodyPr wrap="square" rtlCol="0">
            <a:spAutoFit/>
          </a:bodyPr>
          <a:lstStyle/>
          <a:p>
            <a:r>
              <a:rPr lang="en-US" b="1">
                <a:solidFill>
                  <a:schemeClr val="bg1"/>
                </a:solidFill>
                <a:effectLst/>
                <a:latin typeface="Courier New" panose="02070309020205020404" pitchFamily="49" charset="0"/>
                <a:cs typeface="Courier New" panose="02070309020205020404" pitchFamily="49" charset="0"/>
              </a:rPr>
              <a:t>% load and plot template</a:t>
            </a:r>
          </a:p>
          <a:p>
            <a:endParaRPr lang="en-US" b="1">
              <a:solidFill>
                <a:schemeClr val="bg1"/>
              </a:solidFill>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imgA,infoA</a:t>
            </a:r>
            <a:r>
              <a:rPr lang="en-US" b="1">
                <a:solidFill>
                  <a:schemeClr val="bg1"/>
                </a:solidFill>
                <a:effectLst/>
                <a:latin typeface="Courier New" panose="02070309020205020404" pitchFamily="49" charset="0"/>
                <a:cs typeface="Courier New" panose="02070309020205020404" pitchFamily="49" charset="0"/>
              </a:rPr>
              <a:t>] = LoadVolumetricData('Segmented_MNI152nl_on_MNI111_nifti.nii');</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p>
          <a:p>
            <a:endParaRPr lang="en-US" b="1">
              <a:solidFill>
                <a:schemeClr val="bg1"/>
              </a:solidFill>
              <a:effectLst/>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infoB = infoA; 					% initialize infoB</a:t>
            </a:r>
          </a:p>
          <a:p>
            <a:r>
              <a:rPr lang="en-US" b="1">
                <a:solidFill>
                  <a:srgbClr val="FFFF00"/>
                </a:solidFill>
                <a:effectLst/>
                <a:latin typeface="Courier New" panose="02070309020205020404" pitchFamily="49" charset="0"/>
                <a:cs typeface="Courier New" panose="02070309020205020404" pitchFamily="49" charset="0"/>
              </a:rPr>
              <a:t>infoB.center(2) = infoB.center(2) + 50; </a:t>
            </a:r>
            <a:r>
              <a:rPr lang="en-US" b="1">
                <a:solidFill>
                  <a:schemeClr val="bg1"/>
                </a:solidFill>
                <a:effectLst/>
                <a:latin typeface="Courier New" panose="02070309020205020404" pitchFamily="49" charset="0"/>
                <a:cs typeface="Courier New" panose="02070309020205020404" pitchFamily="49" charset="0"/>
              </a:rPr>
              <a:t>		% change the relevant field</a:t>
            </a:r>
          </a:p>
          <a:p>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affine3d_img(</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infoA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FF00"/>
                </a:solidFill>
                <a:effectLst/>
                <a:latin typeface="Courier New" panose="02070309020205020404" pitchFamily="49" charset="0"/>
                <a:cs typeface="Courier New" panose="02070309020205020404" pitchFamily="49" charset="0"/>
              </a:rPr>
              <a:t>infoB</a:t>
            </a:r>
            <a:r>
              <a:rPr lang="en-US" b="1">
                <a:solidFill>
                  <a:schemeClr val="bg1"/>
                </a:solidFill>
                <a:effectLst/>
                <a:latin typeface="Courier New" panose="02070309020205020404" pitchFamily="49" charset="0"/>
                <a:cs typeface="Courier New" panose="02070309020205020404" pitchFamily="49" charset="0"/>
              </a:rPr>
              <a:t>); 		% generate the new image data</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plot the transformed template</a:t>
            </a:r>
          </a:p>
          <a:p>
            <a:endParaRPr lang="en-US" b="1">
              <a:solidFill>
                <a:schemeClr val="bg1"/>
              </a:solidFill>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487BC825-6034-6C0B-2EE5-C32E3C4EE770}"/>
              </a:ext>
            </a:extLst>
          </p:cNvPr>
          <p:cNvSpPr txBox="1"/>
          <p:nvPr/>
        </p:nvSpPr>
        <p:spPr>
          <a:xfrm>
            <a:off x="6424863" y="439333"/>
            <a:ext cx="4928937" cy="461665"/>
          </a:xfrm>
          <a:prstGeom prst="rect">
            <a:avLst/>
          </a:prstGeom>
          <a:noFill/>
        </p:spPr>
        <p:txBody>
          <a:bodyPr wrap="square" rtlCol="0">
            <a:spAutoFit/>
          </a:bodyPr>
          <a:lstStyle/>
          <a:p>
            <a:pPr algn="r"/>
            <a:r>
              <a:rPr lang="en-US" sz="2400" u="sng">
                <a:solidFill>
                  <a:schemeClr val="bg1"/>
                </a:solidFill>
                <a:latin typeface="Trebuchet MS" panose="020B0703020202090204" pitchFamily="34" charset="0"/>
              </a:rPr>
              <a:t>Example 2: Translate the y-origin</a:t>
            </a:r>
            <a:endParaRPr lang="en-US" sz="2400">
              <a:solidFill>
                <a:schemeClr val="bg1"/>
              </a:solidFill>
              <a:latin typeface="Trebuchet MS" panose="020B0703020202090204" pitchFamily="34" charset="0"/>
            </a:endParaRPr>
          </a:p>
        </p:txBody>
      </p:sp>
      <p:pic>
        <p:nvPicPr>
          <p:cNvPr id="8" name="Picture 7" descr="A screenshot of a computer screen&#10;&#10;Description automatically generated">
            <a:extLst>
              <a:ext uri="{FF2B5EF4-FFF2-40B4-BE49-F238E27FC236}">
                <a16:creationId xmlns:a16="http://schemas.microsoft.com/office/drawing/2014/main" id="{C7DF76F2-7275-7666-2894-59377C2445D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2100" y="3462893"/>
            <a:ext cx="5906349" cy="2560320"/>
          </a:xfrm>
          <a:prstGeom prst="rect">
            <a:avLst/>
          </a:prstGeom>
        </p:spPr>
      </p:pic>
      <p:sp>
        <p:nvSpPr>
          <p:cNvPr id="11" name="TextBox 10">
            <a:extLst>
              <a:ext uri="{FF2B5EF4-FFF2-40B4-BE49-F238E27FC236}">
                <a16:creationId xmlns:a16="http://schemas.microsoft.com/office/drawing/2014/main" id="{1EF10294-C8A0-1068-B8CF-92B3AC7BDB41}"/>
              </a:ext>
            </a:extLst>
          </p:cNvPr>
          <p:cNvSpPr txBox="1"/>
          <p:nvPr/>
        </p:nvSpPr>
        <p:spPr>
          <a:xfrm>
            <a:off x="2784829" y="5728993"/>
            <a:ext cx="920890" cy="461665"/>
          </a:xfrm>
          <a:prstGeom prst="rect">
            <a:avLst/>
          </a:prstGeom>
          <a:noFill/>
        </p:spPr>
        <p:txBody>
          <a:bodyPr wrap="square" rtlCol="0">
            <a:spAutoFit/>
          </a:bodyPr>
          <a:lstStyle/>
          <a:p>
            <a:r>
              <a:rPr lang="en-US" sz="2400" b="1">
                <a:solidFill>
                  <a:srgbClr val="FF0000"/>
                </a:solidFill>
                <a:latin typeface="Trebuchet MS" panose="020B0703020202090204" pitchFamily="34" charset="0"/>
              </a:rPr>
              <a:t>imgA</a:t>
            </a:r>
          </a:p>
        </p:txBody>
      </p:sp>
      <p:sp>
        <p:nvSpPr>
          <p:cNvPr id="12" name="TextBox 11">
            <a:extLst>
              <a:ext uri="{FF2B5EF4-FFF2-40B4-BE49-F238E27FC236}">
                <a16:creationId xmlns:a16="http://schemas.microsoft.com/office/drawing/2014/main" id="{9EA657DD-DA45-F553-5947-4D898048E7BF}"/>
              </a:ext>
            </a:extLst>
          </p:cNvPr>
          <p:cNvSpPr txBox="1"/>
          <p:nvPr/>
        </p:nvSpPr>
        <p:spPr>
          <a:xfrm>
            <a:off x="8589575" y="5728993"/>
            <a:ext cx="920890" cy="461665"/>
          </a:xfrm>
          <a:prstGeom prst="rect">
            <a:avLst/>
          </a:prstGeom>
          <a:noFill/>
        </p:spPr>
        <p:txBody>
          <a:bodyPr wrap="square" rtlCol="0">
            <a:spAutoFit/>
          </a:bodyPr>
          <a:lstStyle/>
          <a:p>
            <a:r>
              <a:rPr lang="en-US" sz="2400" b="1">
                <a:solidFill>
                  <a:srgbClr val="00B050"/>
                </a:solidFill>
                <a:latin typeface="Trebuchet MS" panose="020B0703020202090204" pitchFamily="34" charset="0"/>
              </a:rPr>
              <a:t>imgB</a:t>
            </a:r>
          </a:p>
        </p:txBody>
      </p:sp>
    </p:spTree>
    <p:extLst>
      <p:ext uri="{BB962C8B-B14F-4D97-AF65-F5344CB8AC3E}">
        <p14:creationId xmlns:p14="http://schemas.microsoft.com/office/powerpoint/2010/main" val="1155721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982FB-3662-D00A-26F3-ED10C84F4053}"/>
            </a:ext>
          </a:extLst>
        </p:cNvPr>
        <p:cNvGrpSpPr/>
        <p:nvPr/>
      </p:nvGrpSpPr>
      <p:grpSpPr>
        <a:xfrm>
          <a:off x="0" y="0"/>
          <a:ext cx="0" cy="0"/>
          <a:chOff x="0" y="0"/>
          <a:chExt cx="0" cy="0"/>
        </a:xfrm>
      </p:grpSpPr>
      <p:pic>
        <p:nvPicPr>
          <p:cNvPr id="7" name="Picture 6" descr="A screenshot of a computer screen&#10;&#10;Description automatically generated">
            <a:extLst>
              <a:ext uri="{FF2B5EF4-FFF2-40B4-BE49-F238E27FC236}">
                <a16:creationId xmlns:a16="http://schemas.microsoft.com/office/drawing/2014/main" id="{EC8D5283-F5DE-D26A-0B0C-5ACFD56A2E4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19266" y="3464647"/>
            <a:ext cx="5665394" cy="2560320"/>
          </a:xfrm>
          <a:prstGeom prst="rect">
            <a:avLst/>
          </a:prstGeom>
        </p:spPr>
      </p:pic>
      <p:sp>
        <p:nvSpPr>
          <p:cNvPr id="2" name="Slide Number Placeholder 1">
            <a:extLst>
              <a:ext uri="{FF2B5EF4-FFF2-40B4-BE49-F238E27FC236}">
                <a16:creationId xmlns:a16="http://schemas.microsoft.com/office/drawing/2014/main" id="{863C72A3-66EF-6262-DEED-A838D99EBC64}"/>
              </a:ext>
            </a:extLst>
          </p:cNvPr>
          <p:cNvSpPr>
            <a:spLocks noGrp="1"/>
          </p:cNvSpPr>
          <p:nvPr>
            <p:ph type="sldNum" sz="quarter" idx="12"/>
          </p:nvPr>
        </p:nvSpPr>
        <p:spPr/>
        <p:txBody>
          <a:bodyPr/>
          <a:lstStyle/>
          <a:p>
            <a:fld id="{6F215E70-FDA5-6C45-8C7C-E922E56675B4}" type="slidenum">
              <a:rPr lang="en-US"/>
              <a:t>45</a:t>
            </a:fld>
            <a:endParaRPr lang="en-US"/>
          </a:p>
        </p:txBody>
      </p:sp>
      <p:sp>
        <p:nvSpPr>
          <p:cNvPr id="3" name="TextBox 2">
            <a:extLst>
              <a:ext uri="{FF2B5EF4-FFF2-40B4-BE49-F238E27FC236}">
                <a16:creationId xmlns:a16="http://schemas.microsoft.com/office/drawing/2014/main" id="{94677AB8-FBA1-B711-3AB2-642961E9A941}"/>
              </a:ext>
            </a:extLst>
          </p:cNvPr>
          <p:cNvSpPr txBox="1"/>
          <p:nvPr/>
        </p:nvSpPr>
        <p:spPr>
          <a:xfrm>
            <a:off x="647700" y="670165"/>
            <a:ext cx="10896600" cy="2862322"/>
          </a:xfrm>
          <a:prstGeom prst="rect">
            <a:avLst/>
          </a:prstGeom>
          <a:noFill/>
        </p:spPr>
        <p:txBody>
          <a:bodyPr wrap="square" rtlCol="0">
            <a:spAutoFit/>
          </a:bodyPr>
          <a:lstStyle/>
          <a:p>
            <a:r>
              <a:rPr lang="en-US" b="1">
                <a:solidFill>
                  <a:schemeClr val="bg1"/>
                </a:solidFill>
                <a:effectLst/>
                <a:latin typeface="Courier New" panose="02070309020205020404" pitchFamily="49" charset="0"/>
                <a:cs typeface="Courier New" panose="02070309020205020404" pitchFamily="49" charset="0"/>
              </a:rPr>
              <a:t>% load and plot template</a:t>
            </a:r>
          </a:p>
          <a:p>
            <a:endParaRPr lang="en-US" b="1">
              <a:solidFill>
                <a:schemeClr val="bg1"/>
              </a:solidFill>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imgA,infoA</a:t>
            </a:r>
            <a:r>
              <a:rPr lang="en-US" b="1">
                <a:solidFill>
                  <a:schemeClr val="bg1"/>
                </a:solidFill>
                <a:effectLst/>
                <a:latin typeface="Courier New" panose="02070309020205020404" pitchFamily="49" charset="0"/>
                <a:cs typeface="Courier New" panose="02070309020205020404" pitchFamily="49" charset="0"/>
              </a:rPr>
              <a:t>] = LoadVolumetricData('Segmented_MNI152nl_on_MNI111_nifti.nii');</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p>
          <a:p>
            <a:endParaRPr lang="en-US" b="1">
              <a:solidFill>
                <a:schemeClr val="bg1"/>
              </a:solidFill>
              <a:effectLst/>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infoB = infoA; 					% initialize infoB</a:t>
            </a:r>
          </a:p>
          <a:p>
            <a:r>
              <a:rPr lang="en-US" b="1">
                <a:solidFill>
                  <a:srgbClr val="FFFF00"/>
                </a:solidFill>
                <a:effectLst/>
                <a:latin typeface="Courier New" panose="02070309020205020404" pitchFamily="49" charset="0"/>
                <a:cs typeface="Courier New" panose="02070309020205020404" pitchFamily="49" charset="0"/>
              </a:rPr>
              <a:t>infoB.center(3) = infoB.center(3) + 50; </a:t>
            </a:r>
            <a:r>
              <a:rPr lang="en-US" b="1">
                <a:solidFill>
                  <a:schemeClr val="bg1"/>
                </a:solidFill>
                <a:effectLst/>
                <a:latin typeface="Courier New" panose="02070309020205020404" pitchFamily="49" charset="0"/>
                <a:cs typeface="Courier New" panose="02070309020205020404" pitchFamily="49" charset="0"/>
              </a:rPr>
              <a:t>		% change the relevant field</a:t>
            </a:r>
          </a:p>
          <a:p>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affine3d_img(</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infoA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FF00"/>
                </a:solidFill>
                <a:effectLst/>
                <a:latin typeface="Courier New" panose="02070309020205020404" pitchFamily="49" charset="0"/>
                <a:cs typeface="Courier New" panose="02070309020205020404" pitchFamily="49" charset="0"/>
              </a:rPr>
              <a:t>infoB</a:t>
            </a:r>
            <a:r>
              <a:rPr lang="en-US" b="1">
                <a:solidFill>
                  <a:schemeClr val="bg1"/>
                </a:solidFill>
                <a:effectLst/>
                <a:latin typeface="Courier New" panose="02070309020205020404" pitchFamily="49" charset="0"/>
                <a:cs typeface="Courier New" panose="02070309020205020404" pitchFamily="49" charset="0"/>
              </a:rPr>
              <a:t>); 		% generate the new image data</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plot the transformed template</a:t>
            </a:r>
          </a:p>
          <a:p>
            <a:endParaRPr lang="en-US" b="1">
              <a:solidFill>
                <a:schemeClr val="bg1"/>
              </a:solidFill>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37D9D146-DD1B-D45E-27B5-653F8C4BF9B9}"/>
              </a:ext>
            </a:extLst>
          </p:cNvPr>
          <p:cNvSpPr txBox="1"/>
          <p:nvPr/>
        </p:nvSpPr>
        <p:spPr>
          <a:xfrm>
            <a:off x="6460958" y="439333"/>
            <a:ext cx="4892842" cy="461665"/>
          </a:xfrm>
          <a:prstGeom prst="rect">
            <a:avLst/>
          </a:prstGeom>
          <a:noFill/>
        </p:spPr>
        <p:txBody>
          <a:bodyPr wrap="square" rtlCol="0">
            <a:spAutoFit/>
          </a:bodyPr>
          <a:lstStyle/>
          <a:p>
            <a:pPr algn="r"/>
            <a:r>
              <a:rPr lang="en-US" sz="2400" u="sng">
                <a:solidFill>
                  <a:schemeClr val="bg1"/>
                </a:solidFill>
                <a:latin typeface="Trebuchet MS" panose="020B0703020202090204" pitchFamily="34" charset="0"/>
              </a:rPr>
              <a:t>Example 3: Translate the z-origin</a:t>
            </a:r>
            <a:endParaRPr lang="en-US" sz="2400">
              <a:solidFill>
                <a:schemeClr val="bg1"/>
              </a:solidFill>
              <a:latin typeface="Trebuchet MS" panose="020B0703020202090204" pitchFamily="34" charset="0"/>
            </a:endParaRPr>
          </a:p>
        </p:txBody>
      </p:sp>
      <p:pic>
        <p:nvPicPr>
          <p:cNvPr id="8" name="Picture 7" descr="A screenshot of a computer screen&#10;&#10;Description automatically generated">
            <a:extLst>
              <a:ext uri="{FF2B5EF4-FFF2-40B4-BE49-F238E27FC236}">
                <a16:creationId xmlns:a16="http://schemas.microsoft.com/office/drawing/2014/main" id="{8B5DFA08-C7CE-2407-CD47-8071EC4F37C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2100" y="3462893"/>
            <a:ext cx="5906349" cy="2560320"/>
          </a:xfrm>
          <a:prstGeom prst="rect">
            <a:avLst/>
          </a:prstGeom>
        </p:spPr>
      </p:pic>
      <p:sp>
        <p:nvSpPr>
          <p:cNvPr id="11" name="TextBox 10">
            <a:extLst>
              <a:ext uri="{FF2B5EF4-FFF2-40B4-BE49-F238E27FC236}">
                <a16:creationId xmlns:a16="http://schemas.microsoft.com/office/drawing/2014/main" id="{92CFAD30-92BF-0CD6-61C3-0F8C3F2074D6}"/>
              </a:ext>
            </a:extLst>
          </p:cNvPr>
          <p:cNvSpPr txBox="1"/>
          <p:nvPr/>
        </p:nvSpPr>
        <p:spPr>
          <a:xfrm>
            <a:off x="2784829" y="5728993"/>
            <a:ext cx="920890" cy="461665"/>
          </a:xfrm>
          <a:prstGeom prst="rect">
            <a:avLst/>
          </a:prstGeom>
          <a:noFill/>
        </p:spPr>
        <p:txBody>
          <a:bodyPr wrap="square" rtlCol="0">
            <a:spAutoFit/>
          </a:bodyPr>
          <a:lstStyle/>
          <a:p>
            <a:r>
              <a:rPr lang="en-US" sz="2400" b="1">
                <a:solidFill>
                  <a:srgbClr val="FF0000"/>
                </a:solidFill>
                <a:latin typeface="Trebuchet MS" panose="020B0703020202090204" pitchFamily="34" charset="0"/>
              </a:rPr>
              <a:t>imgA</a:t>
            </a:r>
          </a:p>
        </p:txBody>
      </p:sp>
      <p:sp>
        <p:nvSpPr>
          <p:cNvPr id="12" name="TextBox 11">
            <a:extLst>
              <a:ext uri="{FF2B5EF4-FFF2-40B4-BE49-F238E27FC236}">
                <a16:creationId xmlns:a16="http://schemas.microsoft.com/office/drawing/2014/main" id="{53A7BA1E-0DEC-60F5-2B46-6BE910D0C718}"/>
              </a:ext>
            </a:extLst>
          </p:cNvPr>
          <p:cNvSpPr txBox="1"/>
          <p:nvPr/>
        </p:nvSpPr>
        <p:spPr>
          <a:xfrm>
            <a:off x="8589575" y="5728993"/>
            <a:ext cx="920890" cy="461665"/>
          </a:xfrm>
          <a:prstGeom prst="rect">
            <a:avLst/>
          </a:prstGeom>
          <a:noFill/>
        </p:spPr>
        <p:txBody>
          <a:bodyPr wrap="square" rtlCol="0">
            <a:spAutoFit/>
          </a:bodyPr>
          <a:lstStyle/>
          <a:p>
            <a:r>
              <a:rPr lang="en-US" sz="2400" b="1">
                <a:solidFill>
                  <a:srgbClr val="00B050"/>
                </a:solidFill>
                <a:latin typeface="Trebuchet MS" panose="020B0703020202090204" pitchFamily="34" charset="0"/>
              </a:rPr>
              <a:t>imgB</a:t>
            </a:r>
          </a:p>
        </p:txBody>
      </p:sp>
    </p:spTree>
    <p:extLst>
      <p:ext uri="{BB962C8B-B14F-4D97-AF65-F5344CB8AC3E}">
        <p14:creationId xmlns:p14="http://schemas.microsoft.com/office/powerpoint/2010/main" val="39184596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086E8-24CF-A584-43D1-A6F13B040E33}"/>
            </a:ext>
          </a:extLst>
        </p:cNvPr>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15E2A77B-D5F6-490C-78B0-D520C938E4D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19266" y="3464647"/>
            <a:ext cx="5665394" cy="2560320"/>
          </a:xfrm>
          <a:prstGeom prst="rect">
            <a:avLst/>
          </a:prstGeom>
        </p:spPr>
      </p:pic>
      <p:sp>
        <p:nvSpPr>
          <p:cNvPr id="2" name="Slide Number Placeholder 1">
            <a:extLst>
              <a:ext uri="{FF2B5EF4-FFF2-40B4-BE49-F238E27FC236}">
                <a16:creationId xmlns:a16="http://schemas.microsoft.com/office/drawing/2014/main" id="{B9FD471B-A71E-E258-69BF-1B20EEDAE0F3}"/>
              </a:ext>
            </a:extLst>
          </p:cNvPr>
          <p:cNvSpPr>
            <a:spLocks noGrp="1"/>
          </p:cNvSpPr>
          <p:nvPr>
            <p:ph type="sldNum" sz="quarter" idx="12"/>
          </p:nvPr>
        </p:nvSpPr>
        <p:spPr/>
        <p:txBody>
          <a:bodyPr/>
          <a:lstStyle/>
          <a:p>
            <a:fld id="{6F215E70-FDA5-6C45-8C7C-E922E56675B4}" type="slidenum">
              <a:rPr lang="en-US"/>
              <a:t>46</a:t>
            </a:fld>
            <a:endParaRPr lang="en-US"/>
          </a:p>
        </p:txBody>
      </p:sp>
      <p:sp>
        <p:nvSpPr>
          <p:cNvPr id="3" name="TextBox 2">
            <a:extLst>
              <a:ext uri="{FF2B5EF4-FFF2-40B4-BE49-F238E27FC236}">
                <a16:creationId xmlns:a16="http://schemas.microsoft.com/office/drawing/2014/main" id="{19B93777-A288-22D9-ADE5-C11BB515583F}"/>
              </a:ext>
            </a:extLst>
          </p:cNvPr>
          <p:cNvSpPr txBox="1"/>
          <p:nvPr/>
        </p:nvSpPr>
        <p:spPr>
          <a:xfrm>
            <a:off x="647700" y="670165"/>
            <a:ext cx="10896600" cy="2862322"/>
          </a:xfrm>
          <a:prstGeom prst="rect">
            <a:avLst/>
          </a:prstGeom>
          <a:noFill/>
        </p:spPr>
        <p:txBody>
          <a:bodyPr wrap="square" rtlCol="0">
            <a:spAutoFit/>
          </a:bodyPr>
          <a:lstStyle/>
          <a:p>
            <a:r>
              <a:rPr lang="en-US" b="1">
                <a:solidFill>
                  <a:schemeClr val="bg1"/>
                </a:solidFill>
                <a:effectLst/>
                <a:latin typeface="Courier New" panose="02070309020205020404" pitchFamily="49" charset="0"/>
                <a:cs typeface="Courier New" panose="02070309020205020404" pitchFamily="49" charset="0"/>
              </a:rPr>
              <a:t>% load and plot template</a:t>
            </a:r>
          </a:p>
          <a:p>
            <a:endParaRPr lang="en-US" b="1">
              <a:solidFill>
                <a:schemeClr val="bg1"/>
              </a:solidFill>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imgA,infoA</a:t>
            </a:r>
            <a:r>
              <a:rPr lang="en-US" b="1">
                <a:solidFill>
                  <a:schemeClr val="bg1"/>
                </a:solidFill>
                <a:effectLst/>
                <a:latin typeface="Courier New" panose="02070309020205020404" pitchFamily="49" charset="0"/>
                <a:cs typeface="Courier New" panose="02070309020205020404" pitchFamily="49" charset="0"/>
              </a:rPr>
              <a:t>] = LoadVolumetricData('Segmented_MNI152nl_on_MNI111_nifti.nii');</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p>
          <a:p>
            <a:endParaRPr lang="en-US" b="1">
              <a:solidFill>
                <a:schemeClr val="bg1"/>
              </a:solidFill>
              <a:effectLst/>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infoB = infoA; 					% initialize infoB</a:t>
            </a:r>
          </a:p>
          <a:p>
            <a:r>
              <a:rPr lang="en-US" b="1">
                <a:solidFill>
                  <a:srgbClr val="FFFF00"/>
                </a:solidFill>
                <a:effectLst/>
                <a:latin typeface="Courier New" panose="02070309020205020404" pitchFamily="49" charset="0"/>
                <a:cs typeface="Courier New" panose="02070309020205020404" pitchFamily="49" charset="0"/>
              </a:rPr>
              <a:t>infoB.nVx = infoA.nVx / 2;</a:t>
            </a:r>
            <a:r>
              <a:rPr lang="en-US" b="1">
                <a:solidFill>
                  <a:schemeClr val="bg1"/>
                </a:solidFill>
                <a:effectLst/>
                <a:latin typeface="Courier New" panose="02070309020205020404" pitchFamily="49" charset="0"/>
                <a:cs typeface="Courier New" panose="02070309020205020404" pitchFamily="49" charset="0"/>
              </a:rPr>
              <a:t>				% change the relevant field</a:t>
            </a:r>
          </a:p>
          <a:p>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affine3d_img(</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infoA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FF00"/>
                </a:solidFill>
                <a:effectLst/>
                <a:latin typeface="Courier New" panose="02070309020205020404" pitchFamily="49" charset="0"/>
                <a:cs typeface="Courier New" panose="02070309020205020404" pitchFamily="49" charset="0"/>
              </a:rPr>
              <a:t>infoB</a:t>
            </a:r>
            <a:r>
              <a:rPr lang="en-US" b="1">
                <a:solidFill>
                  <a:schemeClr val="bg1"/>
                </a:solidFill>
                <a:effectLst/>
                <a:latin typeface="Courier New" panose="02070309020205020404" pitchFamily="49" charset="0"/>
                <a:cs typeface="Courier New" panose="02070309020205020404" pitchFamily="49" charset="0"/>
              </a:rPr>
              <a:t>); 		% generate the new image data</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plot the transformed template</a:t>
            </a:r>
          </a:p>
          <a:p>
            <a:endParaRPr lang="en-US" b="1">
              <a:solidFill>
                <a:schemeClr val="bg1"/>
              </a:solidFill>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8F24B411-A05F-C8E5-19D1-5AA0A10D6384}"/>
              </a:ext>
            </a:extLst>
          </p:cNvPr>
          <p:cNvSpPr txBox="1"/>
          <p:nvPr/>
        </p:nvSpPr>
        <p:spPr>
          <a:xfrm>
            <a:off x="6063915" y="439333"/>
            <a:ext cx="5262479" cy="461665"/>
          </a:xfrm>
          <a:prstGeom prst="rect">
            <a:avLst/>
          </a:prstGeom>
          <a:noFill/>
        </p:spPr>
        <p:txBody>
          <a:bodyPr wrap="square" rtlCol="0">
            <a:spAutoFit/>
          </a:bodyPr>
          <a:lstStyle/>
          <a:p>
            <a:pPr algn="r"/>
            <a:r>
              <a:rPr lang="en-US" sz="2400" u="sng">
                <a:solidFill>
                  <a:schemeClr val="bg1"/>
                </a:solidFill>
                <a:latin typeface="Trebuchet MS" panose="020B0703020202090204" pitchFamily="34" charset="0"/>
              </a:rPr>
              <a:t>Example 4: Change the image width</a:t>
            </a:r>
            <a:endParaRPr lang="en-US" sz="2400">
              <a:solidFill>
                <a:schemeClr val="bg1"/>
              </a:solidFill>
              <a:latin typeface="Trebuchet MS" panose="020B0703020202090204" pitchFamily="34" charset="0"/>
            </a:endParaRPr>
          </a:p>
        </p:txBody>
      </p:sp>
      <p:pic>
        <p:nvPicPr>
          <p:cNvPr id="8" name="Picture 7" descr="A screenshot of a computer screen&#10;&#10;Description automatically generated">
            <a:extLst>
              <a:ext uri="{FF2B5EF4-FFF2-40B4-BE49-F238E27FC236}">
                <a16:creationId xmlns:a16="http://schemas.microsoft.com/office/drawing/2014/main" id="{CF82BC31-7F0C-5638-736B-BA7B7740E22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2100" y="3462893"/>
            <a:ext cx="5906349" cy="2560320"/>
          </a:xfrm>
          <a:prstGeom prst="rect">
            <a:avLst/>
          </a:prstGeom>
        </p:spPr>
      </p:pic>
      <p:sp>
        <p:nvSpPr>
          <p:cNvPr id="11" name="TextBox 10">
            <a:extLst>
              <a:ext uri="{FF2B5EF4-FFF2-40B4-BE49-F238E27FC236}">
                <a16:creationId xmlns:a16="http://schemas.microsoft.com/office/drawing/2014/main" id="{8570980C-F083-01B7-1937-47801F409CAC}"/>
              </a:ext>
            </a:extLst>
          </p:cNvPr>
          <p:cNvSpPr txBox="1"/>
          <p:nvPr/>
        </p:nvSpPr>
        <p:spPr>
          <a:xfrm>
            <a:off x="2784829" y="5728993"/>
            <a:ext cx="920890" cy="461665"/>
          </a:xfrm>
          <a:prstGeom prst="rect">
            <a:avLst/>
          </a:prstGeom>
          <a:noFill/>
        </p:spPr>
        <p:txBody>
          <a:bodyPr wrap="square" rtlCol="0">
            <a:spAutoFit/>
          </a:bodyPr>
          <a:lstStyle/>
          <a:p>
            <a:r>
              <a:rPr lang="en-US" sz="2400" b="1">
                <a:solidFill>
                  <a:srgbClr val="FF0000"/>
                </a:solidFill>
                <a:latin typeface="Trebuchet MS" panose="020B0703020202090204" pitchFamily="34" charset="0"/>
              </a:rPr>
              <a:t>imgA</a:t>
            </a:r>
          </a:p>
        </p:txBody>
      </p:sp>
      <p:sp>
        <p:nvSpPr>
          <p:cNvPr id="12" name="TextBox 11">
            <a:extLst>
              <a:ext uri="{FF2B5EF4-FFF2-40B4-BE49-F238E27FC236}">
                <a16:creationId xmlns:a16="http://schemas.microsoft.com/office/drawing/2014/main" id="{BE08A93C-4F0D-80C0-9041-0A4E8FEFAF83}"/>
              </a:ext>
            </a:extLst>
          </p:cNvPr>
          <p:cNvSpPr txBox="1"/>
          <p:nvPr/>
        </p:nvSpPr>
        <p:spPr>
          <a:xfrm>
            <a:off x="8589575" y="5728993"/>
            <a:ext cx="920890" cy="461665"/>
          </a:xfrm>
          <a:prstGeom prst="rect">
            <a:avLst/>
          </a:prstGeom>
          <a:noFill/>
        </p:spPr>
        <p:txBody>
          <a:bodyPr wrap="square" rtlCol="0">
            <a:spAutoFit/>
          </a:bodyPr>
          <a:lstStyle/>
          <a:p>
            <a:r>
              <a:rPr lang="en-US" sz="2400" b="1">
                <a:solidFill>
                  <a:srgbClr val="00B050"/>
                </a:solidFill>
                <a:latin typeface="Trebuchet MS" panose="020B0703020202090204" pitchFamily="34" charset="0"/>
              </a:rPr>
              <a:t>imgB</a:t>
            </a:r>
          </a:p>
        </p:txBody>
      </p:sp>
    </p:spTree>
    <p:extLst>
      <p:ext uri="{BB962C8B-B14F-4D97-AF65-F5344CB8AC3E}">
        <p14:creationId xmlns:p14="http://schemas.microsoft.com/office/powerpoint/2010/main" val="6289373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DDEAF-83D8-A161-42DB-B25241C2615C}"/>
            </a:ext>
          </a:extLst>
        </p:cNvPr>
        <p:cNvGrpSpPr/>
        <p:nvPr/>
      </p:nvGrpSpPr>
      <p:grpSpPr>
        <a:xfrm>
          <a:off x="0" y="0"/>
          <a:ext cx="0" cy="0"/>
          <a:chOff x="0" y="0"/>
          <a:chExt cx="0" cy="0"/>
        </a:xfrm>
      </p:grpSpPr>
      <p:pic>
        <p:nvPicPr>
          <p:cNvPr id="7" name="Picture 6" descr="A screenshot of a computer&#10;&#10;Description automatically generated">
            <a:extLst>
              <a:ext uri="{FF2B5EF4-FFF2-40B4-BE49-F238E27FC236}">
                <a16:creationId xmlns:a16="http://schemas.microsoft.com/office/drawing/2014/main" id="{4407F385-F3A0-2077-1F69-056030D2A21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19266" y="3464647"/>
            <a:ext cx="5665394" cy="2560320"/>
          </a:xfrm>
          <a:prstGeom prst="rect">
            <a:avLst/>
          </a:prstGeom>
        </p:spPr>
      </p:pic>
      <p:sp>
        <p:nvSpPr>
          <p:cNvPr id="2" name="Slide Number Placeholder 1">
            <a:extLst>
              <a:ext uri="{FF2B5EF4-FFF2-40B4-BE49-F238E27FC236}">
                <a16:creationId xmlns:a16="http://schemas.microsoft.com/office/drawing/2014/main" id="{61ED9538-D95D-BFC6-1DB9-D88157EDC078}"/>
              </a:ext>
            </a:extLst>
          </p:cNvPr>
          <p:cNvSpPr>
            <a:spLocks noGrp="1"/>
          </p:cNvSpPr>
          <p:nvPr>
            <p:ph type="sldNum" sz="quarter" idx="12"/>
          </p:nvPr>
        </p:nvSpPr>
        <p:spPr/>
        <p:txBody>
          <a:bodyPr/>
          <a:lstStyle/>
          <a:p>
            <a:fld id="{6F215E70-FDA5-6C45-8C7C-E922E56675B4}" type="slidenum">
              <a:rPr lang="en-US"/>
              <a:t>47</a:t>
            </a:fld>
            <a:endParaRPr lang="en-US"/>
          </a:p>
        </p:txBody>
      </p:sp>
      <p:sp>
        <p:nvSpPr>
          <p:cNvPr id="3" name="TextBox 2">
            <a:extLst>
              <a:ext uri="{FF2B5EF4-FFF2-40B4-BE49-F238E27FC236}">
                <a16:creationId xmlns:a16="http://schemas.microsoft.com/office/drawing/2014/main" id="{01EA24D3-8C0E-7B73-3C06-E8F61F97D14D}"/>
              </a:ext>
            </a:extLst>
          </p:cNvPr>
          <p:cNvSpPr txBox="1"/>
          <p:nvPr/>
        </p:nvSpPr>
        <p:spPr>
          <a:xfrm>
            <a:off x="647700" y="670165"/>
            <a:ext cx="10896600" cy="2862322"/>
          </a:xfrm>
          <a:prstGeom prst="rect">
            <a:avLst/>
          </a:prstGeom>
          <a:noFill/>
        </p:spPr>
        <p:txBody>
          <a:bodyPr wrap="square" rtlCol="0">
            <a:spAutoFit/>
          </a:bodyPr>
          <a:lstStyle/>
          <a:p>
            <a:r>
              <a:rPr lang="en-US" b="1">
                <a:solidFill>
                  <a:schemeClr val="bg1"/>
                </a:solidFill>
                <a:effectLst/>
                <a:latin typeface="Courier New" panose="02070309020205020404" pitchFamily="49" charset="0"/>
                <a:cs typeface="Courier New" panose="02070309020205020404" pitchFamily="49" charset="0"/>
              </a:rPr>
              <a:t>% load and plot template</a:t>
            </a:r>
          </a:p>
          <a:p>
            <a:endParaRPr lang="en-US" b="1">
              <a:solidFill>
                <a:schemeClr val="bg1"/>
              </a:solidFill>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imgA,infoA</a:t>
            </a:r>
            <a:r>
              <a:rPr lang="en-US" b="1">
                <a:solidFill>
                  <a:schemeClr val="bg1"/>
                </a:solidFill>
                <a:effectLst/>
                <a:latin typeface="Courier New" panose="02070309020205020404" pitchFamily="49" charset="0"/>
                <a:cs typeface="Courier New" panose="02070309020205020404" pitchFamily="49" charset="0"/>
              </a:rPr>
              <a:t>] = LoadVolumetricData('Segmented_MNI152nl_on_MNI111_nifti.nii');</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p>
          <a:p>
            <a:endParaRPr lang="en-US" b="1">
              <a:solidFill>
                <a:schemeClr val="bg1"/>
              </a:solidFill>
              <a:effectLst/>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infoB = infoA; 					% initialize infoB</a:t>
            </a:r>
          </a:p>
          <a:p>
            <a:r>
              <a:rPr lang="en-US" b="1">
                <a:solidFill>
                  <a:srgbClr val="FFFF00"/>
                </a:solidFill>
                <a:effectLst/>
                <a:latin typeface="Courier New" panose="02070309020205020404" pitchFamily="49" charset="0"/>
                <a:cs typeface="Courier New" panose="02070309020205020404" pitchFamily="49" charset="0"/>
              </a:rPr>
              <a:t>infoB.nVy = infoA.nVy / 2;</a:t>
            </a:r>
            <a:r>
              <a:rPr lang="en-US" b="1">
                <a:solidFill>
                  <a:schemeClr val="bg1"/>
                </a:solidFill>
                <a:effectLst/>
                <a:latin typeface="Courier New" panose="02070309020205020404" pitchFamily="49" charset="0"/>
                <a:cs typeface="Courier New" panose="02070309020205020404" pitchFamily="49" charset="0"/>
              </a:rPr>
              <a:t>				% change the relevant field</a:t>
            </a:r>
          </a:p>
          <a:p>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affine3d_img(</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infoA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FF00"/>
                </a:solidFill>
                <a:effectLst/>
                <a:latin typeface="Courier New" panose="02070309020205020404" pitchFamily="49" charset="0"/>
                <a:cs typeface="Courier New" panose="02070309020205020404" pitchFamily="49" charset="0"/>
              </a:rPr>
              <a:t>infoB</a:t>
            </a:r>
            <a:r>
              <a:rPr lang="en-US" b="1">
                <a:solidFill>
                  <a:schemeClr val="bg1"/>
                </a:solidFill>
                <a:effectLst/>
                <a:latin typeface="Courier New" panose="02070309020205020404" pitchFamily="49" charset="0"/>
                <a:cs typeface="Courier New" panose="02070309020205020404" pitchFamily="49" charset="0"/>
              </a:rPr>
              <a:t>); 		% generate the new image data</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plot the transformed template</a:t>
            </a:r>
          </a:p>
          <a:p>
            <a:endParaRPr lang="en-US" b="1">
              <a:solidFill>
                <a:schemeClr val="bg1"/>
              </a:solidFill>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51429A5D-C5F3-4D7C-E201-E946377D30F9}"/>
              </a:ext>
            </a:extLst>
          </p:cNvPr>
          <p:cNvSpPr txBox="1"/>
          <p:nvPr/>
        </p:nvSpPr>
        <p:spPr>
          <a:xfrm>
            <a:off x="5329983" y="439333"/>
            <a:ext cx="6032500" cy="461665"/>
          </a:xfrm>
          <a:prstGeom prst="rect">
            <a:avLst/>
          </a:prstGeom>
          <a:noFill/>
        </p:spPr>
        <p:txBody>
          <a:bodyPr wrap="square" rtlCol="0">
            <a:spAutoFit/>
          </a:bodyPr>
          <a:lstStyle/>
          <a:p>
            <a:pPr algn="r"/>
            <a:r>
              <a:rPr lang="en-US" sz="2400" u="sng">
                <a:solidFill>
                  <a:schemeClr val="bg1"/>
                </a:solidFill>
                <a:latin typeface="Trebuchet MS" panose="020B0703020202090204" pitchFamily="34" charset="0"/>
              </a:rPr>
              <a:t>Example 5: Change the image depth</a:t>
            </a:r>
            <a:endParaRPr lang="en-US" sz="2400">
              <a:solidFill>
                <a:schemeClr val="bg1"/>
              </a:solidFill>
              <a:latin typeface="Trebuchet MS" panose="020B0703020202090204" pitchFamily="34" charset="0"/>
            </a:endParaRPr>
          </a:p>
        </p:txBody>
      </p:sp>
      <p:pic>
        <p:nvPicPr>
          <p:cNvPr id="8" name="Picture 7" descr="A screenshot of a computer screen&#10;&#10;Description automatically generated">
            <a:extLst>
              <a:ext uri="{FF2B5EF4-FFF2-40B4-BE49-F238E27FC236}">
                <a16:creationId xmlns:a16="http://schemas.microsoft.com/office/drawing/2014/main" id="{1F247490-D957-E575-8756-CC8072A2E95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2100" y="3462893"/>
            <a:ext cx="5906349" cy="2560320"/>
          </a:xfrm>
          <a:prstGeom prst="rect">
            <a:avLst/>
          </a:prstGeom>
        </p:spPr>
      </p:pic>
      <p:sp>
        <p:nvSpPr>
          <p:cNvPr id="11" name="TextBox 10">
            <a:extLst>
              <a:ext uri="{FF2B5EF4-FFF2-40B4-BE49-F238E27FC236}">
                <a16:creationId xmlns:a16="http://schemas.microsoft.com/office/drawing/2014/main" id="{A4E94AF8-9316-5438-8071-EAEAA2374F68}"/>
              </a:ext>
            </a:extLst>
          </p:cNvPr>
          <p:cNvSpPr txBox="1"/>
          <p:nvPr/>
        </p:nvSpPr>
        <p:spPr>
          <a:xfrm>
            <a:off x="2784829" y="5728993"/>
            <a:ext cx="920890" cy="461665"/>
          </a:xfrm>
          <a:prstGeom prst="rect">
            <a:avLst/>
          </a:prstGeom>
          <a:noFill/>
        </p:spPr>
        <p:txBody>
          <a:bodyPr wrap="square" rtlCol="0">
            <a:spAutoFit/>
          </a:bodyPr>
          <a:lstStyle/>
          <a:p>
            <a:r>
              <a:rPr lang="en-US" sz="2400" b="1">
                <a:solidFill>
                  <a:srgbClr val="FF0000"/>
                </a:solidFill>
                <a:latin typeface="Trebuchet MS" panose="020B0703020202090204" pitchFamily="34" charset="0"/>
              </a:rPr>
              <a:t>imgA</a:t>
            </a:r>
          </a:p>
        </p:txBody>
      </p:sp>
      <p:sp>
        <p:nvSpPr>
          <p:cNvPr id="12" name="TextBox 11">
            <a:extLst>
              <a:ext uri="{FF2B5EF4-FFF2-40B4-BE49-F238E27FC236}">
                <a16:creationId xmlns:a16="http://schemas.microsoft.com/office/drawing/2014/main" id="{07557810-93CF-0D49-3F30-A492D50CD1EC}"/>
              </a:ext>
            </a:extLst>
          </p:cNvPr>
          <p:cNvSpPr txBox="1"/>
          <p:nvPr/>
        </p:nvSpPr>
        <p:spPr>
          <a:xfrm>
            <a:off x="8589575" y="5728993"/>
            <a:ext cx="920890" cy="461665"/>
          </a:xfrm>
          <a:prstGeom prst="rect">
            <a:avLst/>
          </a:prstGeom>
          <a:noFill/>
        </p:spPr>
        <p:txBody>
          <a:bodyPr wrap="square" rtlCol="0">
            <a:spAutoFit/>
          </a:bodyPr>
          <a:lstStyle/>
          <a:p>
            <a:r>
              <a:rPr lang="en-US" sz="2400" b="1">
                <a:solidFill>
                  <a:srgbClr val="00B050"/>
                </a:solidFill>
                <a:latin typeface="Trebuchet MS" panose="020B0703020202090204" pitchFamily="34" charset="0"/>
              </a:rPr>
              <a:t>imgB</a:t>
            </a:r>
          </a:p>
        </p:txBody>
      </p:sp>
    </p:spTree>
    <p:extLst>
      <p:ext uri="{BB962C8B-B14F-4D97-AF65-F5344CB8AC3E}">
        <p14:creationId xmlns:p14="http://schemas.microsoft.com/office/powerpoint/2010/main" val="42442753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D3287-881F-3920-65CF-BE653A5E1E73}"/>
            </a:ext>
          </a:extLst>
        </p:cNvPr>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273AEF0B-8406-BFE0-CF7B-A0D5E40CE2E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19266" y="3464647"/>
            <a:ext cx="5665394" cy="2560320"/>
          </a:xfrm>
          <a:prstGeom prst="rect">
            <a:avLst/>
          </a:prstGeom>
        </p:spPr>
      </p:pic>
      <p:sp>
        <p:nvSpPr>
          <p:cNvPr id="2" name="Slide Number Placeholder 1">
            <a:extLst>
              <a:ext uri="{FF2B5EF4-FFF2-40B4-BE49-F238E27FC236}">
                <a16:creationId xmlns:a16="http://schemas.microsoft.com/office/drawing/2014/main" id="{10EDF280-2413-A860-2363-774994D2B2F3}"/>
              </a:ext>
            </a:extLst>
          </p:cNvPr>
          <p:cNvSpPr>
            <a:spLocks noGrp="1"/>
          </p:cNvSpPr>
          <p:nvPr>
            <p:ph type="sldNum" sz="quarter" idx="12"/>
          </p:nvPr>
        </p:nvSpPr>
        <p:spPr/>
        <p:txBody>
          <a:bodyPr/>
          <a:lstStyle/>
          <a:p>
            <a:fld id="{6F215E70-FDA5-6C45-8C7C-E922E56675B4}" type="slidenum">
              <a:rPr lang="en-US"/>
              <a:t>48</a:t>
            </a:fld>
            <a:endParaRPr lang="en-US"/>
          </a:p>
        </p:txBody>
      </p:sp>
      <p:sp>
        <p:nvSpPr>
          <p:cNvPr id="3" name="TextBox 2">
            <a:extLst>
              <a:ext uri="{FF2B5EF4-FFF2-40B4-BE49-F238E27FC236}">
                <a16:creationId xmlns:a16="http://schemas.microsoft.com/office/drawing/2014/main" id="{7128B739-E505-4C44-3FD0-274F1C9A81E7}"/>
              </a:ext>
            </a:extLst>
          </p:cNvPr>
          <p:cNvSpPr txBox="1"/>
          <p:nvPr/>
        </p:nvSpPr>
        <p:spPr>
          <a:xfrm>
            <a:off x="647700" y="670165"/>
            <a:ext cx="10896600" cy="2862322"/>
          </a:xfrm>
          <a:prstGeom prst="rect">
            <a:avLst/>
          </a:prstGeom>
          <a:noFill/>
        </p:spPr>
        <p:txBody>
          <a:bodyPr wrap="square" rtlCol="0">
            <a:spAutoFit/>
          </a:bodyPr>
          <a:lstStyle/>
          <a:p>
            <a:r>
              <a:rPr lang="en-US" b="1">
                <a:solidFill>
                  <a:schemeClr val="bg1"/>
                </a:solidFill>
                <a:effectLst/>
                <a:latin typeface="Courier New" panose="02070309020205020404" pitchFamily="49" charset="0"/>
                <a:cs typeface="Courier New" panose="02070309020205020404" pitchFamily="49" charset="0"/>
              </a:rPr>
              <a:t>% load and plot template</a:t>
            </a:r>
          </a:p>
          <a:p>
            <a:endParaRPr lang="en-US" b="1">
              <a:solidFill>
                <a:schemeClr val="bg1"/>
              </a:solidFill>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imgA,infoA</a:t>
            </a:r>
            <a:r>
              <a:rPr lang="en-US" b="1">
                <a:solidFill>
                  <a:schemeClr val="bg1"/>
                </a:solidFill>
                <a:effectLst/>
                <a:latin typeface="Courier New" panose="02070309020205020404" pitchFamily="49" charset="0"/>
                <a:cs typeface="Courier New" panose="02070309020205020404" pitchFamily="49" charset="0"/>
              </a:rPr>
              <a:t>] = LoadVolumetricData('Segmented_MNI152nl_on_MNI111_nifti.nii');</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p>
          <a:p>
            <a:endParaRPr lang="en-US" b="1">
              <a:solidFill>
                <a:schemeClr val="bg1"/>
              </a:solidFill>
              <a:effectLst/>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infoB = infoA; 					% initialize infoB</a:t>
            </a:r>
          </a:p>
          <a:p>
            <a:r>
              <a:rPr lang="en-US" b="1">
                <a:solidFill>
                  <a:srgbClr val="FFFF00"/>
                </a:solidFill>
                <a:effectLst/>
                <a:latin typeface="Courier New" panose="02070309020205020404" pitchFamily="49" charset="0"/>
                <a:cs typeface="Courier New" panose="02070309020205020404" pitchFamily="49" charset="0"/>
              </a:rPr>
              <a:t>infoB.nVz = infoA.nVz / 2;</a:t>
            </a:r>
            <a:r>
              <a:rPr lang="en-US" b="1">
                <a:solidFill>
                  <a:schemeClr val="bg1"/>
                </a:solidFill>
                <a:effectLst/>
                <a:latin typeface="Courier New" panose="02070309020205020404" pitchFamily="49" charset="0"/>
                <a:cs typeface="Courier New" panose="02070309020205020404" pitchFamily="49" charset="0"/>
              </a:rPr>
              <a:t>				% change the relevant field</a:t>
            </a:r>
          </a:p>
          <a:p>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affine3d_img(</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infoA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FF00"/>
                </a:solidFill>
                <a:effectLst/>
                <a:latin typeface="Courier New" panose="02070309020205020404" pitchFamily="49" charset="0"/>
                <a:cs typeface="Courier New" panose="02070309020205020404" pitchFamily="49" charset="0"/>
              </a:rPr>
              <a:t>infoB</a:t>
            </a:r>
            <a:r>
              <a:rPr lang="en-US" b="1">
                <a:solidFill>
                  <a:schemeClr val="bg1"/>
                </a:solidFill>
                <a:effectLst/>
                <a:latin typeface="Courier New" panose="02070309020205020404" pitchFamily="49" charset="0"/>
                <a:cs typeface="Courier New" panose="02070309020205020404" pitchFamily="49" charset="0"/>
              </a:rPr>
              <a:t>); 		% generate the new image data</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plot the transformed template</a:t>
            </a:r>
          </a:p>
          <a:p>
            <a:endParaRPr lang="en-US" b="1">
              <a:solidFill>
                <a:schemeClr val="bg1"/>
              </a:solidFill>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72338B00-F7EE-AD91-F189-4D8B4ECE9048}"/>
              </a:ext>
            </a:extLst>
          </p:cNvPr>
          <p:cNvSpPr txBox="1"/>
          <p:nvPr/>
        </p:nvSpPr>
        <p:spPr>
          <a:xfrm>
            <a:off x="5735046" y="439333"/>
            <a:ext cx="5651500" cy="461665"/>
          </a:xfrm>
          <a:prstGeom prst="rect">
            <a:avLst/>
          </a:prstGeom>
          <a:noFill/>
        </p:spPr>
        <p:txBody>
          <a:bodyPr wrap="square" rtlCol="0">
            <a:spAutoFit/>
          </a:bodyPr>
          <a:lstStyle/>
          <a:p>
            <a:pPr algn="r"/>
            <a:r>
              <a:rPr lang="en-US" sz="2400" u="sng">
                <a:solidFill>
                  <a:schemeClr val="bg1"/>
                </a:solidFill>
                <a:latin typeface="Trebuchet MS" panose="020B0703020202090204" pitchFamily="34" charset="0"/>
              </a:rPr>
              <a:t>Example 6: Change the image height</a:t>
            </a:r>
            <a:endParaRPr lang="en-US" sz="2400">
              <a:solidFill>
                <a:schemeClr val="bg1"/>
              </a:solidFill>
              <a:latin typeface="Trebuchet MS" panose="020B0703020202090204" pitchFamily="34" charset="0"/>
            </a:endParaRPr>
          </a:p>
        </p:txBody>
      </p:sp>
      <p:pic>
        <p:nvPicPr>
          <p:cNvPr id="8" name="Picture 7" descr="A screenshot of a computer screen&#10;&#10;Description automatically generated">
            <a:extLst>
              <a:ext uri="{FF2B5EF4-FFF2-40B4-BE49-F238E27FC236}">
                <a16:creationId xmlns:a16="http://schemas.microsoft.com/office/drawing/2014/main" id="{82A3BC0B-698F-8670-4044-418BBABA04C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2100" y="3462893"/>
            <a:ext cx="5906349" cy="2560320"/>
          </a:xfrm>
          <a:prstGeom prst="rect">
            <a:avLst/>
          </a:prstGeom>
        </p:spPr>
      </p:pic>
      <p:sp>
        <p:nvSpPr>
          <p:cNvPr id="11" name="TextBox 10">
            <a:extLst>
              <a:ext uri="{FF2B5EF4-FFF2-40B4-BE49-F238E27FC236}">
                <a16:creationId xmlns:a16="http://schemas.microsoft.com/office/drawing/2014/main" id="{6176A08F-4246-6D54-8ACC-3B71FE1BE857}"/>
              </a:ext>
            </a:extLst>
          </p:cNvPr>
          <p:cNvSpPr txBox="1"/>
          <p:nvPr/>
        </p:nvSpPr>
        <p:spPr>
          <a:xfrm>
            <a:off x="2784829" y="5728993"/>
            <a:ext cx="920890" cy="461665"/>
          </a:xfrm>
          <a:prstGeom prst="rect">
            <a:avLst/>
          </a:prstGeom>
          <a:noFill/>
        </p:spPr>
        <p:txBody>
          <a:bodyPr wrap="square" rtlCol="0">
            <a:spAutoFit/>
          </a:bodyPr>
          <a:lstStyle/>
          <a:p>
            <a:r>
              <a:rPr lang="en-US" sz="2400" b="1">
                <a:solidFill>
                  <a:srgbClr val="FF0000"/>
                </a:solidFill>
                <a:latin typeface="Trebuchet MS" panose="020B0703020202090204" pitchFamily="34" charset="0"/>
              </a:rPr>
              <a:t>imgA</a:t>
            </a:r>
          </a:p>
        </p:txBody>
      </p:sp>
      <p:sp>
        <p:nvSpPr>
          <p:cNvPr id="12" name="TextBox 11">
            <a:extLst>
              <a:ext uri="{FF2B5EF4-FFF2-40B4-BE49-F238E27FC236}">
                <a16:creationId xmlns:a16="http://schemas.microsoft.com/office/drawing/2014/main" id="{3A6769EC-FCD3-E2BE-5AF3-955D7DCB3259}"/>
              </a:ext>
            </a:extLst>
          </p:cNvPr>
          <p:cNvSpPr txBox="1"/>
          <p:nvPr/>
        </p:nvSpPr>
        <p:spPr>
          <a:xfrm>
            <a:off x="8589575" y="5728993"/>
            <a:ext cx="920890" cy="461665"/>
          </a:xfrm>
          <a:prstGeom prst="rect">
            <a:avLst/>
          </a:prstGeom>
          <a:noFill/>
        </p:spPr>
        <p:txBody>
          <a:bodyPr wrap="square" rtlCol="0">
            <a:spAutoFit/>
          </a:bodyPr>
          <a:lstStyle/>
          <a:p>
            <a:r>
              <a:rPr lang="en-US" sz="2400" b="1">
                <a:solidFill>
                  <a:srgbClr val="00B050"/>
                </a:solidFill>
                <a:latin typeface="Trebuchet MS" panose="020B0703020202090204" pitchFamily="34" charset="0"/>
              </a:rPr>
              <a:t>imgB</a:t>
            </a:r>
          </a:p>
        </p:txBody>
      </p:sp>
    </p:spTree>
    <p:extLst>
      <p:ext uri="{BB962C8B-B14F-4D97-AF65-F5344CB8AC3E}">
        <p14:creationId xmlns:p14="http://schemas.microsoft.com/office/powerpoint/2010/main" val="19010505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27440-9D53-64ED-5267-DA1D56664108}"/>
            </a:ext>
          </a:extLst>
        </p:cNvPr>
        <p:cNvGrpSpPr/>
        <p:nvPr/>
      </p:nvGrpSpPr>
      <p:grpSpPr>
        <a:xfrm>
          <a:off x="0" y="0"/>
          <a:ext cx="0" cy="0"/>
          <a:chOff x="0" y="0"/>
          <a:chExt cx="0" cy="0"/>
        </a:xfrm>
      </p:grpSpPr>
      <p:pic>
        <p:nvPicPr>
          <p:cNvPr id="7" name="Picture 6" descr="A screenshot of a computer screen&#10;&#10;Description automatically generated">
            <a:extLst>
              <a:ext uri="{FF2B5EF4-FFF2-40B4-BE49-F238E27FC236}">
                <a16:creationId xmlns:a16="http://schemas.microsoft.com/office/drawing/2014/main" id="{348B81B0-8361-84B2-D863-725B08A6020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19266" y="3718647"/>
            <a:ext cx="5665394" cy="2560320"/>
          </a:xfrm>
          <a:prstGeom prst="rect">
            <a:avLst/>
          </a:prstGeom>
        </p:spPr>
      </p:pic>
      <p:sp>
        <p:nvSpPr>
          <p:cNvPr id="2" name="Slide Number Placeholder 1">
            <a:extLst>
              <a:ext uri="{FF2B5EF4-FFF2-40B4-BE49-F238E27FC236}">
                <a16:creationId xmlns:a16="http://schemas.microsoft.com/office/drawing/2014/main" id="{B48E72DB-DC75-2B25-95B2-2DF6BE1AF863}"/>
              </a:ext>
            </a:extLst>
          </p:cNvPr>
          <p:cNvSpPr>
            <a:spLocks noGrp="1"/>
          </p:cNvSpPr>
          <p:nvPr>
            <p:ph type="sldNum" sz="quarter" idx="12"/>
          </p:nvPr>
        </p:nvSpPr>
        <p:spPr/>
        <p:txBody>
          <a:bodyPr/>
          <a:lstStyle/>
          <a:p>
            <a:fld id="{6F215E70-FDA5-6C45-8C7C-E922E56675B4}" type="slidenum">
              <a:rPr lang="en-US"/>
              <a:t>49</a:t>
            </a:fld>
            <a:endParaRPr lang="en-US"/>
          </a:p>
        </p:txBody>
      </p:sp>
      <p:sp>
        <p:nvSpPr>
          <p:cNvPr id="3" name="TextBox 2">
            <a:extLst>
              <a:ext uri="{FF2B5EF4-FFF2-40B4-BE49-F238E27FC236}">
                <a16:creationId xmlns:a16="http://schemas.microsoft.com/office/drawing/2014/main" id="{E7562EBE-A46E-92BF-C747-44805A86E7DC}"/>
              </a:ext>
            </a:extLst>
          </p:cNvPr>
          <p:cNvSpPr txBox="1"/>
          <p:nvPr/>
        </p:nvSpPr>
        <p:spPr>
          <a:xfrm>
            <a:off x="647700" y="670165"/>
            <a:ext cx="10896600" cy="3139321"/>
          </a:xfrm>
          <a:prstGeom prst="rect">
            <a:avLst/>
          </a:prstGeom>
          <a:noFill/>
        </p:spPr>
        <p:txBody>
          <a:bodyPr wrap="square" rtlCol="0">
            <a:spAutoFit/>
          </a:bodyPr>
          <a:lstStyle/>
          <a:p>
            <a:r>
              <a:rPr lang="en-US" b="1">
                <a:solidFill>
                  <a:schemeClr val="bg1"/>
                </a:solidFill>
                <a:effectLst/>
                <a:latin typeface="Courier New" panose="02070309020205020404" pitchFamily="49" charset="0"/>
                <a:cs typeface="Courier New" panose="02070309020205020404" pitchFamily="49" charset="0"/>
              </a:rPr>
              <a:t>% load and plot template</a:t>
            </a:r>
          </a:p>
          <a:p>
            <a:endParaRPr lang="en-US" b="1">
              <a:solidFill>
                <a:schemeClr val="bg1"/>
              </a:solidFill>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imgA,infoA</a:t>
            </a:r>
            <a:r>
              <a:rPr lang="en-US" b="1">
                <a:solidFill>
                  <a:schemeClr val="bg1"/>
                </a:solidFill>
                <a:effectLst/>
                <a:latin typeface="Courier New" panose="02070309020205020404" pitchFamily="49" charset="0"/>
                <a:cs typeface="Courier New" panose="02070309020205020404" pitchFamily="49" charset="0"/>
              </a:rPr>
              <a:t>] = LoadVolumetricData('Segmented_MNI152nl_on_MNI111_nifti.nii');</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p>
          <a:p>
            <a:endParaRPr lang="en-US" b="1">
              <a:solidFill>
                <a:schemeClr val="bg1"/>
              </a:solidFill>
              <a:effectLst/>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infoB = infoA; 					% initialize infoB</a:t>
            </a:r>
          </a:p>
          <a:p>
            <a:r>
              <a:rPr lang="en-US" b="1">
                <a:solidFill>
                  <a:srgbClr val="FFFF00"/>
                </a:solidFill>
                <a:effectLst/>
                <a:latin typeface="Courier New" panose="02070309020205020404" pitchFamily="49" charset="0"/>
                <a:cs typeface="Courier New" panose="02070309020205020404" pitchFamily="49" charset="0"/>
              </a:rPr>
              <a:t>infoB.nVx=infoA.nVx/10;infoB.nVy=infoA.nVy/10;infoB.nVz=infoA.nVz/10;</a:t>
            </a:r>
          </a:p>
          <a:p>
            <a:r>
              <a:rPr lang="en-US" b="1">
                <a:solidFill>
                  <a:srgbClr val="FFFF00"/>
                </a:solidFill>
                <a:effectLst/>
                <a:latin typeface="Courier New" panose="02070309020205020404" pitchFamily="49" charset="0"/>
                <a:cs typeface="Courier New" panose="02070309020205020404" pitchFamily="49" charset="0"/>
              </a:rPr>
              <a:t>infoB.mmppix=10*infoA.mmppix;</a:t>
            </a:r>
            <a:r>
              <a:rPr lang="en-US" b="1">
                <a:solidFill>
                  <a:schemeClr val="bg1"/>
                </a:solidFill>
                <a:effectLst/>
                <a:latin typeface="Courier New" panose="02070309020205020404" pitchFamily="49" charset="0"/>
                <a:cs typeface="Courier New" panose="02070309020205020404" pitchFamily="49" charset="0"/>
              </a:rPr>
              <a:t> 			% change the relevant field</a:t>
            </a:r>
            <a:endParaRPr lang="en-US" b="1">
              <a:solidFill>
                <a:srgbClr val="FFFF00"/>
              </a:solidFill>
              <a:effectLst/>
              <a:latin typeface="Courier New" panose="02070309020205020404" pitchFamily="49" charset="0"/>
              <a:cs typeface="Courier New" panose="02070309020205020404" pitchFamily="49" charset="0"/>
            </a:endParaRPr>
          </a:p>
          <a:p>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affine3d_img(</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infoA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FF00"/>
                </a:solidFill>
                <a:effectLst/>
                <a:latin typeface="Courier New" panose="02070309020205020404" pitchFamily="49" charset="0"/>
                <a:cs typeface="Courier New" panose="02070309020205020404" pitchFamily="49" charset="0"/>
              </a:rPr>
              <a:t>infoB</a:t>
            </a:r>
            <a:r>
              <a:rPr lang="en-US" b="1">
                <a:solidFill>
                  <a:schemeClr val="bg1"/>
                </a:solidFill>
                <a:effectLst/>
                <a:latin typeface="Courier New" panose="02070309020205020404" pitchFamily="49" charset="0"/>
                <a:cs typeface="Courier New" panose="02070309020205020404" pitchFamily="49" charset="0"/>
              </a:rPr>
              <a:t>); 		% generate the new image data</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plot the transformed template</a:t>
            </a:r>
          </a:p>
          <a:p>
            <a:endParaRPr lang="en-US" b="1">
              <a:solidFill>
                <a:schemeClr val="bg1"/>
              </a:solidFill>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0347A34B-7BE3-8CD4-24D1-A6F5E068A3C4}"/>
              </a:ext>
            </a:extLst>
          </p:cNvPr>
          <p:cNvSpPr txBox="1"/>
          <p:nvPr/>
        </p:nvSpPr>
        <p:spPr>
          <a:xfrm>
            <a:off x="5297237" y="439333"/>
            <a:ext cx="6056563" cy="461665"/>
          </a:xfrm>
          <a:prstGeom prst="rect">
            <a:avLst/>
          </a:prstGeom>
          <a:noFill/>
        </p:spPr>
        <p:txBody>
          <a:bodyPr wrap="square" rtlCol="0">
            <a:spAutoFit/>
          </a:bodyPr>
          <a:lstStyle/>
          <a:p>
            <a:pPr algn="r"/>
            <a:r>
              <a:rPr lang="en-US" sz="2400" u="sng">
                <a:solidFill>
                  <a:schemeClr val="bg1"/>
                </a:solidFill>
                <a:latin typeface="Trebuchet MS" panose="020B0703020202090204" pitchFamily="34" charset="0"/>
              </a:rPr>
              <a:t>Example 7: Change voxel resolution</a:t>
            </a:r>
            <a:endParaRPr lang="en-US" sz="2400">
              <a:solidFill>
                <a:schemeClr val="bg1"/>
              </a:solidFill>
              <a:latin typeface="Trebuchet MS" panose="020B0703020202090204" pitchFamily="34" charset="0"/>
            </a:endParaRPr>
          </a:p>
        </p:txBody>
      </p:sp>
      <p:pic>
        <p:nvPicPr>
          <p:cNvPr id="8" name="Picture 7" descr="A screenshot of a computer screen&#10;&#10;Description automatically generated">
            <a:extLst>
              <a:ext uri="{FF2B5EF4-FFF2-40B4-BE49-F238E27FC236}">
                <a16:creationId xmlns:a16="http://schemas.microsoft.com/office/drawing/2014/main" id="{E126E4DF-C2BA-BDC5-37CC-6F6689AC31F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2100" y="3716893"/>
            <a:ext cx="5906349" cy="2560320"/>
          </a:xfrm>
          <a:prstGeom prst="rect">
            <a:avLst/>
          </a:prstGeom>
        </p:spPr>
      </p:pic>
      <p:sp>
        <p:nvSpPr>
          <p:cNvPr id="11" name="TextBox 10">
            <a:extLst>
              <a:ext uri="{FF2B5EF4-FFF2-40B4-BE49-F238E27FC236}">
                <a16:creationId xmlns:a16="http://schemas.microsoft.com/office/drawing/2014/main" id="{2F8E4E05-1718-46BF-95D3-CF2725F44685}"/>
              </a:ext>
            </a:extLst>
          </p:cNvPr>
          <p:cNvSpPr txBox="1"/>
          <p:nvPr/>
        </p:nvSpPr>
        <p:spPr>
          <a:xfrm>
            <a:off x="2784829" y="5982993"/>
            <a:ext cx="920890" cy="461665"/>
          </a:xfrm>
          <a:prstGeom prst="rect">
            <a:avLst/>
          </a:prstGeom>
          <a:noFill/>
        </p:spPr>
        <p:txBody>
          <a:bodyPr wrap="square" rtlCol="0">
            <a:spAutoFit/>
          </a:bodyPr>
          <a:lstStyle/>
          <a:p>
            <a:r>
              <a:rPr lang="en-US" sz="2400" b="1">
                <a:solidFill>
                  <a:srgbClr val="FF0000"/>
                </a:solidFill>
                <a:latin typeface="Trebuchet MS" panose="020B0703020202090204" pitchFamily="34" charset="0"/>
              </a:rPr>
              <a:t>imgA</a:t>
            </a:r>
          </a:p>
        </p:txBody>
      </p:sp>
      <p:sp>
        <p:nvSpPr>
          <p:cNvPr id="12" name="TextBox 11">
            <a:extLst>
              <a:ext uri="{FF2B5EF4-FFF2-40B4-BE49-F238E27FC236}">
                <a16:creationId xmlns:a16="http://schemas.microsoft.com/office/drawing/2014/main" id="{4C5252BB-428A-3BA4-70A3-6F3A80A9AEF9}"/>
              </a:ext>
            </a:extLst>
          </p:cNvPr>
          <p:cNvSpPr txBox="1"/>
          <p:nvPr/>
        </p:nvSpPr>
        <p:spPr>
          <a:xfrm>
            <a:off x="8589575" y="5982993"/>
            <a:ext cx="920890" cy="461665"/>
          </a:xfrm>
          <a:prstGeom prst="rect">
            <a:avLst/>
          </a:prstGeom>
          <a:noFill/>
        </p:spPr>
        <p:txBody>
          <a:bodyPr wrap="square" rtlCol="0">
            <a:spAutoFit/>
          </a:bodyPr>
          <a:lstStyle/>
          <a:p>
            <a:r>
              <a:rPr lang="en-US" sz="2400" b="1">
                <a:solidFill>
                  <a:srgbClr val="00B050"/>
                </a:solidFill>
                <a:latin typeface="Trebuchet MS" panose="020B0703020202090204" pitchFamily="34" charset="0"/>
              </a:rPr>
              <a:t>imgB</a:t>
            </a:r>
          </a:p>
        </p:txBody>
      </p:sp>
    </p:spTree>
    <p:extLst>
      <p:ext uri="{BB962C8B-B14F-4D97-AF65-F5344CB8AC3E}">
        <p14:creationId xmlns:p14="http://schemas.microsoft.com/office/powerpoint/2010/main" val="14132551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850E1-D9E6-A37E-FF15-6036B314A8DC}"/>
            </a:ext>
          </a:extLst>
        </p:cNvPr>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AB092AB1-235F-CE05-2694-79FD201BB835}"/>
              </a:ext>
            </a:extLst>
          </p:cNvPr>
          <p:cNvSpPr>
            <a:spLocks noGrp="1"/>
          </p:cNvSpPr>
          <p:nvPr>
            <p:ph type="sldNum" sz="quarter" idx="12"/>
          </p:nvPr>
        </p:nvSpPr>
        <p:spPr>
          <a:xfrm>
            <a:off x="8647670" y="6169318"/>
            <a:ext cx="2743200" cy="365125"/>
          </a:xfrm>
        </p:spPr>
        <p:txBody>
          <a:bodyPr/>
          <a:lstStyle/>
          <a:p>
            <a:fld id="{6F215E70-FDA5-6C45-8C7C-E922E56675B4}" type="slidenum">
              <a:rPr lang="en-US"/>
              <a:t>50</a:t>
            </a:fld>
            <a:endParaRPr lang="en-US"/>
          </a:p>
        </p:txBody>
      </p:sp>
      <p:sp>
        <p:nvSpPr>
          <p:cNvPr id="4" name="TextBox 3">
            <a:extLst>
              <a:ext uri="{FF2B5EF4-FFF2-40B4-BE49-F238E27FC236}">
                <a16:creationId xmlns:a16="http://schemas.microsoft.com/office/drawing/2014/main" id="{405ECBD8-0251-5AFD-7877-9859406C0B9B}"/>
              </a:ext>
            </a:extLst>
          </p:cNvPr>
          <p:cNvSpPr txBox="1"/>
          <p:nvPr/>
        </p:nvSpPr>
        <p:spPr>
          <a:xfrm>
            <a:off x="1690834" y="3717759"/>
            <a:ext cx="8569699" cy="1938992"/>
          </a:xfrm>
          <a:prstGeom prst="rect">
            <a:avLst/>
          </a:prstGeom>
          <a:noFill/>
        </p:spPr>
        <p:txBody>
          <a:bodyPr wrap="square" rtlCol="0">
            <a:spAutoFit/>
          </a:bodyPr>
          <a:lstStyle/>
          <a:p>
            <a:pPr algn="ctr"/>
            <a:r>
              <a:rPr lang="en-US" sz="2400">
                <a:solidFill>
                  <a:schemeClr val="bg1"/>
                </a:solidFill>
                <a:latin typeface="Trebuchet MS" panose="020B0703020202090204" pitchFamily="34" charset="0"/>
              </a:rPr>
              <a:t>Optional parameters are omitted in function calls whenever possible to simplify the code.</a:t>
            </a:r>
          </a:p>
          <a:p>
            <a:pPr algn="ctr"/>
            <a:endParaRPr lang="en-US" sz="2400">
              <a:solidFill>
                <a:schemeClr val="bg1"/>
              </a:solidFill>
              <a:latin typeface="Trebuchet MS" panose="020B0703020202090204" pitchFamily="34" charset="0"/>
            </a:endParaRPr>
          </a:p>
          <a:p>
            <a:pPr algn="ctr"/>
            <a:r>
              <a:rPr lang="en-US" sz="2400">
                <a:solidFill>
                  <a:schemeClr val="bg1"/>
                </a:solidFill>
                <a:latin typeface="Trebuchet MS" panose="020B0703020202090204" pitchFamily="34" charset="0"/>
              </a:rPr>
              <a:t>An overlay is not used in these examples. The goal is to illustrate the effect of the transformation on the image.</a:t>
            </a:r>
          </a:p>
        </p:txBody>
      </p:sp>
      <p:sp>
        <p:nvSpPr>
          <p:cNvPr id="7" name="TextBox 6">
            <a:extLst>
              <a:ext uri="{FF2B5EF4-FFF2-40B4-BE49-F238E27FC236}">
                <a16:creationId xmlns:a16="http://schemas.microsoft.com/office/drawing/2014/main" id="{840EBAAC-5465-9F8A-C1BB-052F2FB8C441}"/>
              </a:ext>
            </a:extLst>
          </p:cNvPr>
          <p:cNvSpPr txBox="1"/>
          <p:nvPr/>
        </p:nvSpPr>
        <p:spPr>
          <a:xfrm>
            <a:off x="757961" y="556838"/>
            <a:ext cx="10912671" cy="523220"/>
          </a:xfrm>
          <a:prstGeom prst="rect">
            <a:avLst/>
          </a:prstGeom>
          <a:noFill/>
        </p:spPr>
        <p:txBody>
          <a:bodyPr wrap="square" rtlCol="0">
            <a:spAutoFit/>
          </a:bodyPr>
          <a:lstStyle/>
          <a:p>
            <a:r>
              <a:rPr lang="en-US" sz="2800" u="sng">
                <a:solidFill>
                  <a:schemeClr val="bg1"/>
                </a:solidFill>
                <a:effectLst/>
                <a:latin typeface="Trebuchet MS" panose="020B0703020202090204" pitchFamily="34" charset="0"/>
              </a:rPr>
              <a:t>A3: Example transforms defined using the t4 matrix</a:t>
            </a:r>
            <a:endParaRPr lang="en-US" sz="2800" u="sng">
              <a:solidFill>
                <a:schemeClr val="bg1"/>
              </a:solidFill>
              <a:latin typeface="Trebuchet MS" panose="020B0703020202090204" pitchFamily="34" charset="0"/>
            </a:endParaRPr>
          </a:p>
        </p:txBody>
      </p:sp>
      <p:sp>
        <p:nvSpPr>
          <p:cNvPr id="8" name="TextBox 7">
            <a:extLst>
              <a:ext uri="{FF2B5EF4-FFF2-40B4-BE49-F238E27FC236}">
                <a16:creationId xmlns:a16="http://schemas.microsoft.com/office/drawing/2014/main" id="{0A438848-26C0-059B-5B0B-414E90AA190F}"/>
              </a:ext>
            </a:extLst>
          </p:cNvPr>
          <p:cNvSpPr txBox="1"/>
          <p:nvPr/>
        </p:nvSpPr>
        <p:spPr>
          <a:xfrm>
            <a:off x="1299382" y="1635532"/>
            <a:ext cx="9829828" cy="1569660"/>
          </a:xfrm>
          <a:prstGeom prst="rect">
            <a:avLst/>
          </a:prstGeom>
          <a:noFill/>
        </p:spPr>
        <p:txBody>
          <a:bodyPr wrap="square" rtlCol="0">
            <a:spAutoFit/>
          </a:bodyPr>
          <a:lstStyle/>
          <a:p>
            <a:r>
              <a:rPr lang="en-US" sz="2400">
                <a:solidFill>
                  <a:schemeClr val="bg1"/>
                </a:solidFill>
                <a:latin typeface="Trebuchet MS" panose="020B0703020202090204" pitchFamily="34" charset="0"/>
              </a:rPr>
              <a:t>This appendix contains a gallery of elementary transforms defined by setting entries in the t4 matrix. This is not something you will likely do in practice; rather, these examples are provided to illustrate how the matrix entries relate to the transform applied to the image. </a:t>
            </a:r>
          </a:p>
        </p:txBody>
      </p:sp>
    </p:spTree>
    <p:extLst>
      <p:ext uri="{BB962C8B-B14F-4D97-AF65-F5344CB8AC3E}">
        <p14:creationId xmlns:p14="http://schemas.microsoft.com/office/powerpoint/2010/main" val="39520286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89DC8-C11F-EE3A-1F28-5AF60193EFC9}"/>
            </a:ext>
          </a:extLst>
        </p:cNvPr>
        <p:cNvGrpSpPr/>
        <p:nvPr/>
      </p:nvGrpSpPr>
      <p:grpSpPr>
        <a:xfrm>
          <a:off x="0" y="0"/>
          <a:ext cx="0" cy="0"/>
          <a:chOff x="0" y="0"/>
          <a:chExt cx="0" cy="0"/>
        </a:xfrm>
      </p:grpSpPr>
      <p:pic>
        <p:nvPicPr>
          <p:cNvPr id="7" name="Picture 6" descr="A screenshot of a computer&#10;&#10;Description automatically generated">
            <a:extLst>
              <a:ext uri="{FF2B5EF4-FFF2-40B4-BE49-F238E27FC236}">
                <a16:creationId xmlns:a16="http://schemas.microsoft.com/office/drawing/2014/main" id="{0B8C047F-6C87-74C7-CD8B-359798E430E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19266" y="3464647"/>
            <a:ext cx="5665394" cy="2560320"/>
          </a:xfrm>
          <a:prstGeom prst="rect">
            <a:avLst/>
          </a:prstGeom>
        </p:spPr>
      </p:pic>
      <p:sp>
        <p:nvSpPr>
          <p:cNvPr id="2" name="Slide Number Placeholder 1">
            <a:extLst>
              <a:ext uri="{FF2B5EF4-FFF2-40B4-BE49-F238E27FC236}">
                <a16:creationId xmlns:a16="http://schemas.microsoft.com/office/drawing/2014/main" id="{B3B1C53A-4237-5AC3-76C9-98999D0D0B06}"/>
              </a:ext>
            </a:extLst>
          </p:cNvPr>
          <p:cNvSpPr>
            <a:spLocks noGrp="1"/>
          </p:cNvSpPr>
          <p:nvPr>
            <p:ph type="sldNum" sz="quarter" idx="12"/>
          </p:nvPr>
        </p:nvSpPr>
        <p:spPr/>
        <p:txBody>
          <a:bodyPr/>
          <a:lstStyle/>
          <a:p>
            <a:fld id="{6F215E70-FDA5-6C45-8C7C-E922E56675B4}" type="slidenum">
              <a:rPr lang="en-US"/>
              <a:t>51</a:t>
            </a:fld>
            <a:endParaRPr lang="en-US"/>
          </a:p>
        </p:txBody>
      </p:sp>
      <p:sp>
        <p:nvSpPr>
          <p:cNvPr id="3" name="TextBox 2">
            <a:extLst>
              <a:ext uri="{FF2B5EF4-FFF2-40B4-BE49-F238E27FC236}">
                <a16:creationId xmlns:a16="http://schemas.microsoft.com/office/drawing/2014/main" id="{99E75CCD-EF14-BE99-A284-DA27E5119A00}"/>
              </a:ext>
            </a:extLst>
          </p:cNvPr>
          <p:cNvSpPr txBox="1"/>
          <p:nvPr/>
        </p:nvSpPr>
        <p:spPr>
          <a:xfrm>
            <a:off x="647700" y="670165"/>
            <a:ext cx="10896600" cy="2862322"/>
          </a:xfrm>
          <a:prstGeom prst="rect">
            <a:avLst/>
          </a:prstGeom>
          <a:noFill/>
        </p:spPr>
        <p:txBody>
          <a:bodyPr wrap="square" rtlCol="0">
            <a:spAutoFit/>
          </a:bodyPr>
          <a:lstStyle/>
          <a:p>
            <a:r>
              <a:rPr lang="en-US" b="1">
                <a:solidFill>
                  <a:schemeClr val="bg1"/>
                </a:solidFill>
                <a:effectLst/>
                <a:latin typeface="Courier New" panose="02070309020205020404" pitchFamily="49" charset="0"/>
                <a:cs typeface="Courier New" panose="02070309020205020404" pitchFamily="49" charset="0"/>
              </a:rPr>
              <a:t>% load and plot template</a:t>
            </a:r>
          </a:p>
          <a:p>
            <a:endParaRPr lang="en-US" b="1">
              <a:solidFill>
                <a:schemeClr val="bg1"/>
              </a:solidFill>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imgA,infoA</a:t>
            </a:r>
            <a:r>
              <a:rPr lang="en-US" b="1">
                <a:solidFill>
                  <a:schemeClr val="bg1"/>
                </a:solidFill>
                <a:effectLst/>
                <a:latin typeface="Courier New" panose="02070309020205020404" pitchFamily="49" charset="0"/>
                <a:cs typeface="Courier New" panose="02070309020205020404" pitchFamily="49" charset="0"/>
              </a:rPr>
              <a:t>] = LoadVolumetricData('Segmented_MNI152nl_on_MNI111_nifti.nii');</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p>
          <a:p>
            <a:endParaRPr lang="en-US" b="1">
              <a:solidFill>
                <a:schemeClr val="bg1"/>
              </a:solidFill>
              <a:effectLst/>
              <a:latin typeface="Courier New" panose="02070309020205020404" pitchFamily="49" charset="0"/>
              <a:cs typeface="Courier New" panose="02070309020205020404" pitchFamily="49" charset="0"/>
            </a:endParaRPr>
          </a:p>
          <a:p>
            <a:r>
              <a:rPr lang="en-US" b="1">
                <a:solidFill>
                  <a:srgbClr val="FFFF00"/>
                </a:solidFill>
                <a:effectLst/>
                <a:latin typeface="Courier New" panose="02070309020205020404" pitchFamily="49" charset="0"/>
                <a:cs typeface="Courier New" panose="02070309020205020404" pitchFamily="49" charset="0"/>
              </a:rPr>
              <a:t>infoB</a:t>
            </a:r>
            <a:r>
              <a:rPr lang="en-US" b="1">
                <a:solidFill>
                  <a:schemeClr val="bg1"/>
                </a:solidFill>
                <a:effectLst/>
                <a:latin typeface="Courier New" panose="02070309020205020404" pitchFamily="49" charset="0"/>
                <a:cs typeface="Courier New" panose="02070309020205020404" pitchFamily="49" charset="0"/>
              </a:rPr>
              <a:t> = infoA; 					% initialize infoB</a:t>
            </a:r>
          </a:p>
          <a:p>
            <a:r>
              <a:rPr lang="en-US" b="1">
                <a:solidFill>
                  <a:srgbClr val="00B0F0"/>
                </a:solidFill>
                <a:effectLst/>
                <a:latin typeface="Courier New" panose="02070309020205020404" pitchFamily="49" charset="0"/>
                <a:cs typeface="Courier New" panose="02070309020205020404" pitchFamily="49" charset="0"/>
              </a:rPr>
              <a:t>t4 = [2 0 0 0; 0 2 0 0; 0 0 2 0; 0 0 0 1];</a:t>
            </a:r>
            <a:r>
              <a:rPr lang="en-US" b="1">
                <a:solidFill>
                  <a:srgbClr val="FFFF00"/>
                </a:solidFill>
                <a:effectLst/>
                <a:latin typeface="Courier New" panose="02070309020205020404" pitchFamily="49" charset="0"/>
                <a:cs typeface="Courier New" panose="02070309020205020404" pitchFamily="49" charset="0"/>
              </a:rPr>
              <a:t>	</a:t>
            </a:r>
            <a:r>
              <a:rPr lang="en-US" b="1">
                <a:solidFill>
                  <a:schemeClr val="bg1"/>
                </a:solidFill>
                <a:effectLst/>
                <a:latin typeface="Courier New" panose="02070309020205020404" pitchFamily="49" charset="0"/>
                <a:cs typeface="Courier New" panose="02070309020205020404" pitchFamily="49" charset="0"/>
              </a:rPr>
              <a:t>% scale x 0.5</a:t>
            </a:r>
            <a:r>
              <a:rPr lang="en-US" b="1" baseline="30000">
                <a:solidFill>
                  <a:schemeClr val="bg1"/>
                </a:solidFill>
                <a:effectLst/>
                <a:latin typeface="Courier New" panose="02070309020205020404" pitchFamily="49" charset="0"/>
                <a:cs typeface="Courier New" panose="02070309020205020404" pitchFamily="49" charset="0"/>
              </a:rPr>
              <a:t>1</a:t>
            </a:r>
            <a:endParaRPr lang="en-US" b="1">
              <a:solidFill>
                <a:schemeClr val="bg1"/>
              </a:solidFill>
              <a:effectLst/>
              <a:latin typeface="Courier New" panose="02070309020205020404" pitchFamily="49" charset="0"/>
              <a:cs typeface="Courier New" panose="02070309020205020404" pitchFamily="49" charset="0"/>
            </a:endParaRPr>
          </a:p>
          <a:p>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affine3d_img(</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infoA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FF00"/>
                </a:solidFill>
                <a:effectLst/>
                <a:latin typeface="Courier New" panose="02070309020205020404" pitchFamily="49" charset="0"/>
                <a:cs typeface="Courier New" panose="02070309020205020404" pitchFamily="49" charset="0"/>
              </a:rPr>
              <a:t>infoB,</a:t>
            </a:r>
            <a:r>
              <a:rPr lang="en-US" b="1">
                <a:solidFill>
                  <a:srgbClr val="00B0F0"/>
                </a:solidFill>
                <a:effectLst/>
                <a:latin typeface="Courier New" panose="02070309020205020404" pitchFamily="49" charset="0"/>
                <a:cs typeface="Courier New" panose="02070309020205020404" pitchFamily="49" charset="0"/>
              </a:rPr>
              <a:t>t4</a:t>
            </a:r>
            <a:r>
              <a:rPr lang="en-US" b="1">
                <a:solidFill>
                  <a:schemeClr val="bg1"/>
                </a:solidFill>
                <a:effectLst/>
                <a:latin typeface="Courier New" panose="02070309020205020404" pitchFamily="49" charset="0"/>
                <a:cs typeface="Courier New" panose="02070309020205020404" pitchFamily="49" charset="0"/>
              </a:rPr>
              <a:t>); 	% generate the new image data</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plot the transformed template</a:t>
            </a:r>
          </a:p>
          <a:p>
            <a:endParaRPr lang="en-US" b="1">
              <a:solidFill>
                <a:schemeClr val="bg1"/>
              </a:solidFill>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E0081342-355B-8AB6-9855-B50CF6ECB047}"/>
              </a:ext>
            </a:extLst>
          </p:cNvPr>
          <p:cNvSpPr txBox="1"/>
          <p:nvPr/>
        </p:nvSpPr>
        <p:spPr>
          <a:xfrm>
            <a:off x="6972300" y="439333"/>
            <a:ext cx="4775200" cy="461665"/>
          </a:xfrm>
          <a:prstGeom prst="rect">
            <a:avLst/>
          </a:prstGeom>
          <a:noFill/>
        </p:spPr>
        <p:txBody>
          <a:bodyPr wrap="square" rtlCol="0">
            <a:spAutoFit/>
          </a:bodyPr>
          <a:lstStyle/>
          <a:p>
            <a:r>
              <a:rPr lang="en-US" sz="2400" u="sng">
                <a:solidFill>
                  <a:schemeClr val="bg1"/>
                </a:solidFill>
                <a:latin typeface="Trebuchet MS" panose="020B0703020202090204" pitchFamily="34" charset="0"/>
              </a:rPr>
              <a:t>Example 8: Scale by 1/2</a:t>
            </a:r>
            <a:endParaRPr lang="en-US" sz="2400">
              <a:solidFill>
                <a:schemeClr val="bg1"/>
              </a:solidFill>
              <a:latin typeface="Trebuchet MS" panose="020B0703020202090204" pitchFamily="34" charset="0"/>
            </a:endParaRPr>
          </a:p>
        </p:txBody>
      </p:sp>
      <p:pic>
        <p:nvPicPr>
          <p:cNvPr id="8" name="Picture 7" descr="A screenshot of a computer screen&#10;&#10;Description automatically generated">
            <a:extLst>
              <a:ext uri="{FF2B5EF4-FFF2-40B4-BE49-F238E27FC236}">
                <a16:creationId xmlns:a16="http://schemas.microsoft.com/office/drawing/2014/main" id="{42140284-07D8-937B-5293-3307DD49604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2100" y="3462893"/>
            <a:ext cx="5906349" cy="2560320"/>
          </a:xfrm>
          <a:prstGeom prst="rect">
            <a:avLst/>
          </a:prstGeom>
        </p:spPr>
      </p:pic>
      <p:sp>
        <p:nvSpPr>
          <p:cNvPr id="11" name="TextBox 10">
            <a:extLst>
              <a:ext uri="{FF2B5EF4-FFF2-40B4-BE49-F238E27FC236}">
                <a16:creationId xmlns:a16="http://schemas.microsoft.com/office/drawing/2014/main" id="{0A03935A-F514-B63C-C326-2F4B81ACEBB1}"/>
              </a:ext>
            </a:extLst>
          </p:cNvPr>
          <p:cNvSpPr txBox="1"/>
          <p:nvPr/>
        </p:nvSpPr>
        <p:spPr>
          <a:xfrm>
            <a:off x="2784829" y="5728993"/>
            <a:ext cx="920890" cy="461665"/>
          </a:xfrm>
          <a:prstGeom prst="rect">
            <a:avLst/>
          </a:prstGeom>
          <a:noFill/>
        </p:spPr>
        <p:txBody>
          <a:bodyPr wrap="square" rtlCol="0">
            <a:spAutoFit/>
          </a:bodyPr>
          <a:lstStyle/>
          <a:p>
            <a:r>
              <a:rPr lang="en-US" sz="2400" b="1">
                <a:solidFill>
                  <a:srgbClr val="FF0000"/>
                </a:solidFill>
                <a:latin typeface="Trebuchet MS" panose="020B0703020202090204" pitchFamily="34" charset="0"/>
              </a:rPr>
              <a:t>imgA</a:t>
            </a:r>
          </a:p>
        </p:txBody>
      </p:sp>
      <p:sp>
        <p:nvSpPr>
          <p:cNvPr id="12" name="TextBox 11">
            <a:extLst>
              <a:ext uri="{FF2B5EF4-FFF2-40B4-BE49-F238E27FC236}">
                <a16:creationId xmlns:a16="http://schemas.microsoft.com/office/drawing/2014/main" id="{37563BE5-3C75-852A-54B9-77CEDB1A0BA7}"/>
              </a:ext>
            </a:extLst>
          </p:cNvPr>
          <p:cNvSpPr txBox="1"/>
          <p:nvPr/>
        </p:nvSpPr>
        <p:spPr>
          <a:xfrm>
            <a:off x="8589575" y="5728993"/>
            <a:ext cx="920890" cy="461665"/>
          </a:xfrm>
          <a:prstGeom prst="rect">
            <a:avLst/>
          </a:prstGeom>
          <a:noFill/>
        </p:spPr>
        <p:txBody>
          <a:bodyPr wrap="square" rtlCol="0">
            <a:spAutoFit/>
          </a:bodyPr>
          <a:lstStyle/>
          <a:p>
            <a:r>
              <a:rPr lang="en-US" sz="2400" b="1">
                <a:solidFill>
                  <a:srgbClr val="00B050"/>
                </a:solidFill>
                <a:latin typeface="Trebuchet MS" panose="020B0703020202090204" pitchFamily="34" charset="0"/>
              </a:rPr>
              <a:t>imgB</a:t>
            </a:r>
          </a:p>
        </p:txBody>
      </p:sp>
    </p:spTree>
    <p:extLst>
      <p:ext uri="{BB962C8B-B14F-4D97-AF65-F5344CB8AC3E}">
        <p14:creationId xmlns:p14="http://schemas.microsoft.com/office/powerpoint/2010/main" val="16959950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340A8-464E-EBE8-585E-A27A3E022759}"/>
            </a:ext>
          </a:extLst>
        </p:cNvPr>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932CABAC-194D-91F9-3C71-F19A31FEE67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19266" y="3464647"/>
            <a:ext cx="5665394" cy="2560320"/>
          </a:xfrm>
          <a:prstGeom prst="rect">
            <a:avLst/>
          </a:prstGeom>
        </p:spPr>
      </p:pic>
      <p:sp>
        <p:nvSpPr>
          <p:cNvPr id="2" name="Slide Number Placeholder 1">
            <a:extLst>
              <a:ext uri="{FF2B5EF4-FFF2-40B4-BE49-F238E27FC236}">
                <a16:creationId xmlns:a16="http://schemas.microsoft.com/office/drawing/2014/main" id="{0A3F29F5-F79E-ECE5-582F-BA9B7A943488}"/>
              </a:ext>
            </a:extLst>
          </p:cNvPr>
          <p:cNvSpPr>
            <a:spLocks noGrp="1"/>
          </p:cNvSpPr>
          <p:nvPr>
            <p:ph type="sldNum" sz="quarter" idx="12"/>
          </p:nvPr>
        </p:nvSpPr>
        <p:spPr/>
        <p:txBody>
          <a:bodyPr/>
          <a:lstStyle/>
          <a:p>
            <a:fld id="{6F215E70-FDA5-6C45-8C7C-E922E56675B4}" type="slidenum">
              <a:rPr lang="en-US"/>
              <a:t>52</a:t>
            </a:fld>
            <a:endParaRPr lang="en-US"/>
          </a:p>
        </p:txBody>
      </p:sp>
      <p:sp>
        <p:nvSpPr>
          <p:cNvPr id="3" name="TextBox 2">
            <a:extLst>
              <a:ext uri="{FF2B5EF4-FFF2-40B4-BE49-F238E27FC236}">
                <a16:creationId xmlns:a16="http://schemas.microsoft.com/office/drawing/2014/main" id="{146FEFB4-103C-A501-31F5-CE33DACFA714}"/>
              </a:ext>
            </a:extLst>
          </p:cNvPr>
          <p:cNvSpPr txBox="1"/>
          <p:nvPr/>
        </p:nvSpPr>
        <p:spPr>
          <a:xfrm>
            <a:off x="647700" y="670165"/>
            <a:ext cx="10896600" cy="2862322"/>
          </a:xfrm>
          <a:prstGeom prst="rect">
            <a:avLst/>
          </a:prstGeom>
          <a:noFill/>
        </p:spPr>
        <p:txBody>
          <a:bodyPr wrap="square" rtlCol="0">
            <a:spAutoFit/>
          </a:bodyPr>
          <a:lstStyle/>
          <a:p>
            <a:r>
              <a:rPr lang="en-US" b="1">
                <a:solidFill>
                  <a:schemeClr val="bg1"/>
                </a:solidFill>
                <a:effectLst/>
                <a:latin typeface="Courier New" panose="02070309020205020404" pitchFamily="49" charset="0"/>
                <a:cs typeface="Courier New" panose="02070309020205020404" pitchFamily="49" charset="0"/>
              </a:rPr>
              <a:t>% load and plot template</a:t>
            </a:r>
          </a:p>
          <a:p>
            <a:endParaRPr lang="en-US" b="1">
              <a:solidFill>
                <a:schemeClr val="bg1"/>
              </a:solidFill>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imgA,infoA</a:t>
            </a:r>
            <a:r>
              <a:rPr lang="en-US" b="1">
                <a:solidFill>
                  <a:schemeClr val="bg1"/>
                </a:solidFill>
                <a:effectLst/>
                <a:latin typeface="Courier New" panose="02070309020205020404" pitchFamily="49" charset="0"/>
                <a:cs typeface="Courier New" panose="02070309020205020404" pitchFamily="49" charset="0"/>
              </a:rPr>
              <a:t>] = LoadVolumetricData('Segmented_MNI152nl_on_MNI111_nifti.nii');</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p>
          <a:p>
            <a:endParaRPr lang="en-US" b="1">
              <a:solidFill>
                <a:schemeClr val="bg1"/>
              </a:solidFill>
              <a:effectLst/>
              <a:latin typeface="Courier New" panose="02070309020205020404" pitchFamily="49" charset="0"/>
              <a:cs typeface="Courier New" panose="02070309020205020404" pitchFamily="49" charset="0"/>
            </a:endParaRPr>
          </a:p>
          <a:p>
            <a:r>
              <a:rPr lang="en-US" b="1">
                <a:solidFill>
                  <a:srgbClr val="FFFF00"/>
                </a:solidFill>
                <a:effectLst/>
                <a:latin typeface="Courier New" panose="02070309020205020404" pitchFamily="49" charset="0"/>
                <a:cs typeface="Courier New" panose="02070309020205020404" pitchFamily="49" charset="0"/>
              </a:rPr>
              <a:t>infoB</a:t>
            </a:r>
            <a:r>
              <a:rPr lang="en-US" b="1">
                <a:solidFill>
                  <a:schemeClr val="bg1"/>
                </a:solidFill>
                <a:effectLst/>
                <a:latin typeface="Courier New" panose="02070309020205020404" pitchFamily="49" charset="0"/>
                <a:cs typeface="Courier New" panose="02070309020205020404" pitchFamily="49" charset="0"/>
              </a:rPr>
              <a:t> = infoA; 					% initialize infoB</a:t>
            </a:r>
          </a:p>
          <a:p>
            <a:r>
              <a:rPr lang="en-US" b="1">
                <a:solidFill>
                  <a:srgbClr val="00B0F0"/>
                </a:solidFill>
                <a:effectLst/>
                <a:latin typeface="Courier New" panose="02070309020205020404" pitchFamily="49" charset="0"/>
                <a:cs typeface="Courier New" panose="02070309020205020404" pitchFamily="49" charset="0"/>
              </a:rPr>
              <a:t>t4 = [.5 0 0 0; 0 .5 0 0; 0 0 .5 0; 0 0 0 1];</a:t>
            </a:r>
            <a:r>
              <a:rPr lang="en-US" b="1">
                <a:solidFill>
                  <a:srgbClr val="FFFF00"/>
                </a:solidFill>
                <a:effectLst/>
                <a:latin typeface="Courier New" panose="02070309020205020404" pitchFamily="49" charset="0"/>
                <a:cs typeface="Courier New" panose="02070309020205020404" pitchFamily="49" charset="0"/>
              </a:rPr>
              <a:t>	</a:t>
            </a:r>
            <a:r>
              <a:rPr lang="en-US" b="1">
                <a:solidFill>
                  <a:schemeClr val="bg1"/>
                </a:solidFill>
                <a:effectLst/>
                <a:latin typeface="Courier New" panose="02070309020205020404" pitchFamily="49" charset="0"/>
                <a:cs typeface="Courier New" panose="02070309020205020404" pitchFamily="49" charset="0"/>
              </a:rPr>
              <a:t>% scale x 2</a:t>
            </a:r>
          </a:p>
          <a:p>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affine3d_img(</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infoA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FF00"/>
                </a:solidFill>
                <a:effectLst/>
                <a:latin typeface="Courier New" panose="02070309020205020404" pitchFamily="49" charset="0"/>
                <a:cs typeface="Courier New" panose="02070309020205020404" pitchFamily="49" charset="0"/>
              </a:rPr>
              <a:t>infoB,</a:t>
            </a:r>
            <a:r>
              <a:rPr lang="en-US" b="1">
                <a:solidFill>
                  <a:srgbClr val="00B0F0"/>
                </a:solidFill>
                <a:effectLst/>
                <a:latin typeface="Courier New" panose="02070309020205020404" pitchFamily="49" charset="0"/>
                <a:cs typeface="Courier New" panose="02070309020205020404" pitchFamily="49" charset="0"/>
              </a:rPr>
              <a:t>t4</a:t>
            </a:r>
            <a:r>
              <a:rPr lang="en-US" b="1">
                <a:solidFill>
                  <a:schemeClr val="bg1"/>
                </a:solidFill>
                <a:effectLst/>
                <a:latin typeface="Courier New" panose="02070309020205020404" pitchFamily="49" charset="0"/>
                <a:cs typeface="Courier New" panose="02070309020205020404" pitchFamily="49" charset="0"/>
              </a:rPr>
              <a:t>); 	% generate the new image data</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plot the transformed template</a:t>
            </a:r>
          </a:p>
          <a:p>
            <a:endParaRPr lang="en-US" b="1">
              <a:solidFill>
                <a:schemeClr val="bg1"/>
              </a:solidFill>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F312F634-74E5-490B-1842-91744B487154}"/>
              </a:ext>
            </a:extLst>
          </p:cNvPr>
          <p:cNvSpPr txBox="1"/>
          <p:nvPr/>
        </p:nvSpPr>
        <p:spPr>
          <a:xfrm>
            <a:off x="6972300" y="439333"/>
            <a:ext cx="4775200" cy="461665"/>
          </a:xfrm>
          <a:prstGeom prst="rect">
            <a:avLst/>
          </a:prstGeom>
          <a:noFill/>
        </p:spPr>
        <p:txBody>
          <a:bodyPr wrap="square" rtlCol="0">
            <a:spAutoFit/>
          </a:bodyPr>
          <a:lstStyle/>
          <a:p>
            <a:r>
              <a:rPr lang="en-US" sz="2400" u="sng">
                <a:solidFill>
                  <a:schemeClr val="bg1"/>
                </a:solidFill>
                <a:latin typeface="Trebuchet MS" panose="020B0703020202090204" pitchFamily="34" charset="0"/>
              </a:rPr>
              <a:t>Example 9: Scale by 2</a:t>
            </a:r>
            <a:endParaRPr lang="en-US" sz="2400">
              <a:solidFill>
                <a:schemeClr val="bg1"/>
              </a:solidFill>
              <a:latin typeface="Trebuchet MS" panose="020B0703020202090204" pitchFamily="34" charset="0"/>
            </a:endParaRPr>
          </a:p>
        </p:txBody>
      </p:sp>
      <p:pic>
        <p:nvPicPr>
          <p:cNvPr id="8" name="Picture 7" descr="A screenshot of a computer screen&#10;&#10;Description automatically generated">
            <a:extLst>
              <a:ext uri="{FF2B5EF4-FFF2-40B4-BE49-F238E27FC236}">
                <a16:creationId xmlns:a16="http://schemas.microsoft.com/office/drawing/2014/main" id="{A9A38C7E-1CF0-EB6A-5E61-36ACB813AAE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2100" y="3462893"/>
            <a:ext cx="5906349" cy="2560320"/>
          </a:xfrm>
          <a:prstGeom prst="rect">
            <a:avLst/>
          </a:prstGeom>
        </p:spPr>
      </p:pic>
      <p:sp>
        <p:nvSpPr>
          <p:cNvPr id="11" name="TextBox 10">
            <a:extLst>
              <a:ext uri="{FF2B5EF4-FFF2-40B4-BE49-F238E27FC236}">
                <a16:creationId xmlns:a16="http://schemas.microsoft.com/office/drawing/2014/main" id="{3006E88B-6F49-75FC-C231-AE3C73AEE7CE}"/>
              </a:ext>
            </a:extLst>
          </p:cNvPr>
          <p:cNvSpPr txBox="1"/>
          <p:nvPr/>
        </p:nvSpPr>
        <p:spPr>
          <a:xfrm>
            <a:off x="2784829" y="5728993"/>
            <a:ext cx="920890" cy="461665"/>
          </a:xfrm>
          <a:prstGeom prst="rect">
            <a:avLst/>
          </a:prstGeom>
          <a:noFill/>
        </p:spPr>
        <p:txBody>
          <a:bodyPr wrap="square" rtlCol="0">
            <a:spAutoFit/>
          </a:bodyPr>
          <a:lstStyle/>
          <a:p>
            <a:r>
              <a:rPr lang="en-US" sz="2400" b="1">
                <a:solidFill>
                  <a:srgbClr val="FF0000"/>
                </a:solidFill>
                <a:latin typeface="Trebuchet MS" panose="020B0703020202090204" pitchFamily="34" charset="0"/>
              </a:rPr>
              <a:t>imgA</a:t>
            </a:r>
          </a:p>
        </p:txBody>
      </p:sp>
      <p:sp>
        <p:nvSpPr>
          <p:cNvPr id="12" name="TextBox 11">
            <a:extLst>
              <a:ext uri="{FF2B5EF4-FFF2-40B4-BE49-F238E27FC236}">
                <a16:creationId xmlns:a16="http://schemas.microsoft.com/office/drawing/2014/main" id="{54AFB452-9119-6EE5-9980-EE47EEE61AAE}"/>
              </a:ext>
            </a:extLst>
          </p:cNvPr>
          <p:cNvSpPr txBox="1"/>
          <p:nvPr/>
        </p:nvSpPr>
        <p:spPr>
          <a:xfrm>
            <a:off x="8589575" y="5728993"/>
            <a:ext cx="920890" cy="461665"/>
          </a:xfrm>
          <a:prstGeom prst="rect">
            <a:avLst/>
          </a:prstGeom>
          <a:noFill/>
        </p:spPr>
        <p:txBody>
          <a:bodyPr wrap="square" rtlCol="0">
            <a:spAutoFit/>
          </a:bodyPr>
          <a:lstStyle/>
          <a:p>
            <a:r>
              <a:rPr lang="en-US" sz="2400" b="1">
                <a:solidFill>
                  <a:srgbClr val="00B050"/>
                </a:solidFill>
                <a:latin typeface="Trebuchet MS" panose="020B0703020202090204" pitchFamily="34" charset="0"/>
              </a:rPr>
              <a:t>imgB</a:t>
            </a:r>
          </a:p>
        </p:txBody>
      </p:sp>
    </p:spTree>
    <p:extLst>
      <p:ext uri="{BB962C8B-B14F-4D97-AF65-F5344CB8AC3E}">
        <p14:creationId xmlns:p14="http://schemas.microsoft.com/office/powerpoint/2010/main" val="22015623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ECB4FD-CD24-A690-BD0C-3EBD4B2B5659}"/>
              </a:ext>
            </a:extLst>
          </p:cNvPr>
          <p:cNvSpPr>
            <a:spLocks noGrp="1"/>
          </p:cNvSpPr>
          <p:nvPr>
            <p:ph type="sldNum" sz="quarter" idx="12"/>
          </p:nvPr>
        </p:nvSpPr>
        <p:spPr/>
        <p:txBody>
          <a:bodyPr/>
          <a:lstStyle/>
          <a:p>
            <a:fld id="{6F215E70-FDA5-6C45-8C7C-E922E56675B4}" type="slidenum">
              <a:rPr lang="en-US"/>
              <a:t>53</a:t>
            </a:fld>
            <a:endParaRPr lang="en-US"/>
          </a:p>
        </p:txBody>
      </p:sp>
      <p:sp>
        <p:nvSpPr>
          <p:cNvPr id="4" name="TextBox 3">
            <a:extLst>
              <a:ext uri="{FF2B5EF4-FFF2-40B4-BE49-F238E27FC236}">
                <a16:creationId xmlns:a16="http://schemas.microsoft.com/office/drawing/2014/main" id="{AD707CEB-B514-1EED-49D4-1247AA79D73C}"/>
              </a:ext>
            </a:extLst>
          </p:cNvPr>
          <p:cNvSpPr txBox="1"/>
          <p:nvPr/>
        </p:nvSpPr>
        <p:spPr>
          <a:xfrm>
            <a:off x="1341464" y="1924424"/>
            <a:ext cx="9292520" cy="461665"/>
          </a:xfrm>
          <a:prstGeom prst="rect">
            <a:avLst/>
          </a:prstGeom>
          <a:noFill/>
        </p:spPr>
        <p:txBody>
          <a:bodyPr wrap="square">
            <a:spAutoFit/>
          </a:bodyPr>
          <a:lstStyle/>
          <a:p>
            <a:r>
              <a:rPr lang="en-US" sz="2400" b="1">
                <a:solidFill>
                  <a:schemeClr val="bg1"/>
                </a:solidFill>
                <a:latin typeface="Courier New" panose="02070309020205020404" pitchFamily="49" charset="0"/>
                <a:cs typeface="Courier New" panose="02070309020205020404" pitchFamily="49" charset="0"/>
              </a:rPr>
              <a:t>diagonal entries &gt; 1 make the output SMALLER</a:t>
            </a:r>
          </a:p>
        </p:txBody>
      </p:sp>
      <p:sp>
        <p:nvSpPr>
          <p:cNvPr id="6" name="TextBox 5">
            <a:extLst>
              <a:ext uri="{FF2B5EF4-FFF2-40B4-BE49-F238E27FC236}">
                <a16:creationId xmlns:a16="http://schemas.microsoft.com/office/drawing/2014/main" id="{A69B1728-45FA-1C27-518D-B94C9D01ED43}"/>
              </a:ext>
            </a:extLst>
          </p:cNvPr>
          <p:cNvSpPr txBox="1"/>
          <p:nvPr/>
        </p:nvSpPr>
        <p:spPr>
          <a:xfrm>
            <a:off x="2051253" y="3792906"/>
            <a:ext cx="9533820" cy="461665"/>
          </a:xfrm>
          <a:prstGeom prst="rect">
            <a:avLst/>
          </a:prstGeom>
          <a:noFill/>
        </p:spPr>
        <p:txBody>
          <a:bodyPr wrap="square">
            <a:spAutoFit/>
          </a:bodyPr>
          <a:lstStyle/>
          <a:p>
            <a:r>
              <a:rPr lang="en-US" sz="2400" b="1">
                <a:solidFill>
                  <a:srgbClr val="00B0F0"/>
                </a:solidFill>
                <a:latin typeface="Courier New" panose="02070309020205020404" pitchFamily="49" charset="0"/>
                <a:cs typeface="Courier New" panose="02070309020205020404" pitchFamily="49" charset="0"/>
              </a:rPr>
              <a:t>t4 = [.5 0 0 0; 0 .5 0 0; 0 0 .5 0; 0 0 0 1]; </a:t>
            </a:r>
          </a:p>
        </p:txBody>
      </p:sp>
      <p:sp>
        <p:nvSpPr>
          <p:cNvPr id="7" name="TextBox 6">
            <a:extLst>
              <a:ext uri="{FF2B5EF4-FFF2-40B4-BE49-F238E27FC236}">
                <a16:creationId xmlns:a16="http://schemas.microsoft.com/office/drawing/2014/main" id="{723AC0A2-4BCD-0F0F-FE6A-25C626393FD8}"/>
              </a:ext>
            </a:extLst>
          </p:cNvPr>
          <p:cNvSpPr txBox="1"/>
          <p:nvPr/>
        </p:nvSpPr>
        <p:spPr>
          <a:xfrm>
            <a:off x="752695" y="906179"/>
            <a:ext cx="11206694" cy="461665"/>
          </a:xfrm>
          <a:prstGeom prst="rect">
            <a:avLst/>
          </a:prstGeom>
          <a:noFill/>
        </p:spPr>
        <p:txBody>
          <a:bodyPr wrap="square" rtlCol="0">
            <a:spAutoFit/>
          </a:bodyPr>
          <a:lstStyle/>
          <a:p>
            <a:r>
              <a:rPr lang="en-US" sz="2400" u="sng">
                <a:solidFill>
                  <a:schemeClr val="bg1"/>
                </a:solidFill>
                <a:latin typeface="Trebuchet MS" panose="020B0703020202090204" pitchFamily="34" charset="0"/>
                <a:cs typeface="Courier New" panose="02070309020205020404" pitchFamily="49" charset="0"/>
              </a:rPr>
              <a:t>Note the convention used by affine3d_img is FROM the output TO the input* :</a:t>
            </a:r>
            <a:endParaRPr lang="en-US" sz="2400">
              <a:solidFill>
                <a:schemeClr val="bg1"/>
              </a:solidFill>
              <a:latin typeface="Trebuchet MS" panose="020B0703020202090204" pitchFamily="34" charset="0"/>
              <a:cs typeface="Courier New" panose="02070309020205020404" pitchFamily="49" charset="0"/>
            </a:endParaRPr>
          </a:p>
        </p:txBody>
      </p:sp>
      <p:sp>
        <p:nvSpPr>
          <p:cNvPr id="8" name="TextBox 7">
            <a:extLst>
              <a:ext uri="{FF2B5EF4-FFF2-40B4-BE49-F238E27FC236}">
                <a16:creationId xmlns:a16="http://schemas.microsoft.com/office/drawing/2014/main" id="{CDF682AF-1CBF-CC33-AC31-533C4C881531}"/>
              </a:ext>
            </a:extLst>
          </p:cNvPr>
          <p:cNvSpPr txBox="1"/>
          <p:nvPr/>
        </p:nvSpPr>
        <p:spPr>
          <a:xfrm>
            <a:off x="1667756" y="4952215"/>
            <a:ext cx="8856487" cy="646331"/>
          </a:xfrm>
          <a:prstGeom prst="rect">
            <a:avLst/>
          </a:prstGeom>
          <a:noFill/>
        </p:spPr>
        <p:txBody>
          <a:bodyPr wrap="square" rtlCol="0">
            <a:spAutoFit/>
          </a:bodyPr>
          <a:lstStyle/>
          <a:p>
            <a:r>
              <a:rPr lang="en-US">
                <a:solidFill>
                  <a:schemeClr val="bg1"/>
                </a:solidFill>
                <a:latin typeface="Trebuchet MS" panose="020B0703020202090204" pitchFamily="34" charset="0"/>
                <a:cs typeface="Courier New" panose="02070309020205020404" pitchFamily="49" charset="0"/>
              </a:rPr>
              <a:t>* technically, this is because the transform matrix acts on the </a:t>
            </a:r>
            <a:r>
              <a:rPr lang="en-US" u="sng">
                <a:solidFill>
                  <a:schemeClr val="bg1"/>
                </a:solidFill>
                <a:latin typeface="Trebuchet MS" panose="020B0703020202090204" pitchFamily="34" charset="0"/>
                <a:cs typeface="Courier New" panose="02070309020205020404" pitchFamily="49" charset="0"/>
              </a:rPr>
              <a:t>space</a:t>
            </a:r>
            <a:r>
              <a:rPr lang="en-US">
                <a:solidFill>
                  <a:schemeClr val="bg1"/>
                </a:solidFill>
                <a:latin typeface="Trebuchet MS" panose="020B0703020202090204" pitchFamily="34" charset="0"/>
                <a:cs typeface="Courier New" panose="02070309020205020404" pitchFamily="49" charset="0"/>
              </a:rPr>
              <a:t> not the data,</a:t>
            </a:r>
          </a:p>
          <a:p>
            <a:r>
              <a:rPr lang="en-US">
                <a:solidFill>
                  <a:schemeClr val="bg1"/>
                </a:solidFill>
                <a:latin typeface="Trebuchet MS" panose="020B0703020202090204" pitchFamily="34" charset="0"/>
                <a:cs typeface="Courier New" panose="02070309020205020404" pitchFamily="49" charset="0"/>
              </a:rPr>
              <a:t>   but it’s easier to describe the effect in terms of how the data is changed</a:t>
            </a:r>
          </a:p>
        </p:txBody>
      </p:sp>
      <p:sp>
        <p:nvSpPr>
          <p:cNvPr id="9" name="TextBox 8">
            <a:extLst>
              <a:ext uri="{FF2B5EF4-FFF2-40B4-BE49-F238E27FC236}">
                <a16:creationId xmlns:a16="http://schemas.microsoft.com/office/drawing/2014/main" id="{D8C2712B-1617-C27A-EBA6-F80EF64FCAB7}"/>
              </a:ext>
            </a:extLst>
          </p:cNvPr>
          <p:cNvSpPr txBox="1"/>
          <p:nvPr/>
        </p:nvSpPr>
        <p:spPr>
          <a:xfrm>
            <a:off x="2051253" y="2454380"/>
            <a:ext cx="9292520" cy="461665"/>
          </a:xfrm>
          <a:prstGeom prst="rect">
            <a:avLst/>
          </a:prstGeom>
          <a:noFill/>
        </p:spPr>
        <p:txBody>
          <a:bodyPr wrap="square">
            <a:spAutoFit/>
          </a:bodyPr>
          <a:lstStyle/>
          <a:p>
            <a:r>
              <a:rPr lang="en-US" sz="2400" b="1">
                <a:solidFill>
                  <a:srgbClr val="00B0F0"/>
                </a:solidFill>
                <a:latin typeface="Courier New" panose="02070309020205020404" pitchFamily="49" charset="0"/>
                <a:cs typeface="Courier New" panose="02070309020205020404" pitchFamily="49" charset="0"/>
              </a:rPr>
              <a:t>t4 = [2 0 0 0; 0 2 0 0; 0 0 2 0; 0 0 0 1];  </a:t>
            </a:r>
          </a:p>
        </p:txBody>
      </p:sp>
      <p:sp>
        <p:nvSpPr>
          <p:cNvPr id="10" name="TextBox 9">
            <a:extLst>
              <a:ext uri="{FF2B5EF4-FFF2-40B4-BE49-F238E27FC236}">
                <a16:creationId xmlns:a16="http://schemas.microsoft.com/office/drawing/2014/main" id="{0C2353F0-EC55-4E30-8ED6-D3F7F0D096BF}"/>
              </a:ext>
            </a:extLst>
          </p:cNvPr>
          <p:cNvSpPr txBox="1"/>
          <p:nvPr/>
        </p:nvSpPr>
        <p:spPr>
          <a:xfrm>
            <a:off x="1341464" y="3273182"/>
            <a:ext cx="9013151" cy="461665"/>
          </a:xfrm>
          <a:prstGeom prst="rect">
            <a:avLst/>
          </a:prstGeom>
          <a:noFill/>
        </p:spPr>
        <p:txBody>
          <a:bodyPr wrap="square">
            <a:spAutoFit/>
          </a:bodyPr>
          <a:lstStyle/>
          <a:p>
            <a:r>
              <a:rPr lang="en-US" sz="2400" b="1">
                <a:solidFill>
                  <a:schemeClr val="bg1"/>
                </a:solidFill>
                <a:latin typeface="Courier New" panose="02070309020205020404" pitchFamily="49" charset="0"/>
                <a:cs typeface="Courier New" panose="02070309020205020404" pitchFamily="49" charset="0"/>
              </a:rPr>
              <a:t>diagonal entries &lt; 1 make the output LARGER</a:t>
            </a:r>
          </a:p>
        </p:txBody>
      </p:sp>
    </p:spTree>
    <p:extLst>
      <p:ext uri="{BB962C8B-B14F-4D97-AF65-F5344CB8AC3E}">
        <p14:creationId xmlns:p14="http://schemas.microsoft.com/office/powerpoint/2010/main" val="39833003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846AE-D304-99B5-4B5D-0E1FFE122E3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22D391-7E48-FE8E-579A-216448263BCE}"/>
              </a:ext>
            </a:extLst>
          </p:cNvPr>
          <p:cNvSpPr>
            <a:spLocks noGrp="1"/>
          </p:cNvSpPr>
          <p:nvPr>
            <p:ph type="sldNum" sz="quarter" idx="12"/>
          </p:nvPr>
        </p:nvSpPr>
        <p:spPr/>
        <p:txBody>
          <a:bodyPr/>
          <a:lstStyle/>
          <a:p>
            <a:fld id="{6F215E70-FDA5-6C45-8C7C-E922E56675B4}" type="slidenum">
              <a:rPr lang="en-US"/>
              <a:t>54</a:t>
            </a:fld>
            <a:endParaRPr lang="en-US"/>
          </a:p>
        </p:txBody>
      </p:sp>
      <p:sp>
        <p:nvSpPr>
          <p:cNvPr id="6" name="TextBox 5">
            <a:extLst>
              <a:ext uri="{FF2B5EF4-FFF2-40B4-BE49-F238E27FC236}">
                <a16:creationId xmlns:a16="http://schemas.microsoft.com/office/drawing/2014/main" id="{7E6EC0D9-0500-1119-21A2-B1D59A032A72}"/>
              </a:ext>
            </a:extLst>
          </p:cNvPr>
          <p:cNvSpPr txBox="1"/>
          <p:nvPr/>
        </p:nvSpPr>
        <p:spPr>
          <a:xfrm>
            <a:off x="2525548" y="1691015"/>
            <a:ext cx="2782514" cy="1569660"/>
          </a:xfrm>
          <a:prstGeom prst="rect">
            <a:avLst/>
          </a:prstGeom>
          <a:noFill/>
        </p:spPr>
        <p:txBody>
          <a:bodyPr wrap="square" rtlCol="0">
            <a:spAutoFit/>
          </a:bodyPr>
          <a:lstStyle/>
          <a:p>
            <a:r>
              <a:rPr lang="en-US" sz="2400" b="1">
                <a:solidFill>
                  <a:schemeClr val="bg1"/>
                </a:solidFill>
                <a:latin typeface="Courier New" panose="02070309020205020404" pitchFamily="49" charset="0"/>
                <a:cs typeface="Courier New" panose="02070309020205020404" pitchFamily="49" charset="0"/>
              </a:rPr>
              <a:t> 1   0   0   0</a:t>
            </a:r>
          </a:p>
          <a:p>
            <a:r>
              <a:rPr lang="en-US" sz="2400" b="1">
                <a:solidFill>
                  <a:schemeClr val="bg1"/>
                </a:solidFill>
                <a:latin typeface="Courier New" panose="02070309020205020404" pitchFamily="49" charset="0"/>
                <a:cs typeface="Courier New" panose="02070309020205020404" pitchFamily="49" charset="0"/>
              </a:rPr>
              <a:t> 0   C   S   0</a:t>
            </a:r>
          </a:p>
          <a:p>
            <a:r>
              <a:rPr lang="en-US" sz="2400" b="1">
                <a:solidFill>
                  <a:schemeClr val="bg1"/>
                </a:solidFill>
                <a:latin typeface="Courier New" panose="02070309020205020404" pitchFamily="49" charset="0"/>
                <a:cs typeface="Courier New" panose="02070309020205020404" pitchFamily="49" charset="0"/>
              </a:rPr>
              <a:t> 0  -S   C   0</a:t>
            </a:r>
          </a:p>
          <a:p>
            <a:r>
              <a:rPr lang="en-US" sz="2400" b="1">
                <a:solidFill>
                  <a:schemeClr val="bg1"/>
                </a:solidFill>
                <a:latin typeface="Courier New" panose="02070309020205020404" pitchFamily="49" charset="0"/>
                <a:cs typeface="Courier New" panose="02070309020205020404" pitchFamily="49" charset="0"/>
              </a:rPr>
              <a:t> 0   0   0   1</a:t>
            </a:r>
          </a:p>
        </p:txBody>
      </p:sp>
      <p:sp>
        <p:nvSpPr>
          <p:cNvPr id="7" name="TextBox 6">
            <a:extLst>
              <a:ext uri="{FF2B5EF4-FFF2-40B4-BE49-F238E27FC236}">
                <a16:creationId xmlns:a16="http://schemas.microsoft.com/office/drawing/2014/main" id="{F2E244D6-1AF4-CCFD-632A-468EE8966CB8}"/>
              </a:ext>
            </a:extLst>
          </p:cNvPr>
          <p:cNvSpPr txBox="1"/>
          <p:nvPr/>
        </p:nvSpPr>
        <p:spPr>
          <a:xfrm>
            <a:off x="2525548" y="3868714"/>
            <a:ext cx="2948151" cy="1569660"/>
          </a:xfrm>
          <a:prstGeom prst="rect">
            <a:avLst/>
          </a:prstGeom>
          <a:noFill/>
        </p:spPr>
        <p:txBody>
          <a:bodyPr wrap="square" rtlCol="0">
            <a:spAutoFit/>
          </a:bodyPr>
          <a:lstStyle/>
          <a:p>
            <a:r>
              <a:rPr lang="en-US" sz="2400" b="1">
                <a:solidFill>
                  <a:schemeClr val="bg1"/>
                </a:solidFill>
                <a:latin typeface="Courier New" panose="02070309020205020404" pitchFamily="49" charset="0"/>
                <a:cs typeface="Courier New" panose="02070309020205020404" pitchFamily="49" charset="0"/>
              </a:rPr>
              <a:t> C   0  -S   0</a:t>
            </a:r>
          </a:p>
          <a:p>
            <a:r>
              <a:rPr lang="en-US" sz="2400" b="1">
                <a:solidFill>
                  <a:schemeClr val="bg1"/>
                </a:solidFill>
                <a:latin typeface="Courier New" panose="02070309020205020404" pitchFamily="49" charset="0"/>
                <a:cs typeface="Courier New" panose="02070309020205020404" pitchFamily="49" charset="0"/>
              </a:rPr>
              <a:t> 0   1   0   0</a:t>
            </a:r>
          </a:p>
          <a:p>
            <a:r>
              <a:rPr lang="en-US" sz="2400" b="1">
                <a:solidFill>
                  <a:schemeClr val="bg1"/>
                </a:solidFill>
                <a:latin typeface="Courier New" panose="02070309020205020404" pitchFamily="49" charset="0"/>
                <a:cs typeface="Courier New" panose="02070309020205020404" pitchFamily="49" charset="0"/>
              </a:rPr>
              <a:t> S   0   C   0</a:t>
            </a:r>
          </a:p>
          <a:p>
            <a:r>
              <a:rPr lang="en-US" sz="2400" b="1">
                <a:solidFill>
                  <a:schemeClr val="bg1"/>
                </a:solidFill>
                <a:latin typeface="Courier New" panose="02070309020205020404" pitchFamily="49" charset="0"/>
                <a:cs typeface="Courier New" panose="02070309020205020404" pitchFamily="49" charset="0"/>
              </a:rPr>
              <a:t> 0   0   0   1</a:t>
            </a:r>
          </a:p>
        </p:txBody>
      </p:sp>
      <p:sp>
        <p:nvSpPr>
          <p:cNvPr id="8" name="TextBox 7">
            <a:extLst>
              <a:ext uri="{FF2B5EF4-FFF2-40B4-BE49-F238E27FC236}">
                <a16:creationId xmlns:a16="http://schemas.microsoft.com/office/drawing/2014/main" id="{800B5555-4DD4-44E1-3ADA-1A7D74E42AD3}"/>
              </a:ext>
            </a:extLst>
          </p:cNvPr>
          <p:cNvSpPr txBox="1"/>
          <p:nvPr/>
        </p:nvSpPr>
        <p:spPr>
          <a:xfrm>
            <a:off x="8207946" y="3868714"/>
            <a:ext cx="2738916" cy="1569660"/>
          </a:xfrm>
          <a:prstGeom prst="rect">
            <a:avLst/>
          </a:prstGeom>
          <a:noFill/>
        </p:spPr>
        <p:txBody>
          <a:bodyPr wrap="square" rtlCol="0">
            <a:spAutoFit/>
          </a:bodyPr>
          <a:lstStyle/>
          <a:p>
            <a:r>
              <a:rPr lang="en-US" sz="2400" b="1">
                <a:solidFill>
                  <a:schemeClr val="bg1"/>
                </a:solidFill>
                <a:latin typeface="Courier New" panose="02070309020205020404" pitchFamily="49" charset="0"/>
                <a:cs typeface="Courier New" panose="02070309020205020404" pitchFamily="49" charset="0"/>
              </a:rPr>
              <a:t> C  -S   0   0</a:t>
            </a:r>
          </a:p>
          <a:p>
            <a:r>
              <a:rPr lang="en-US" sz="2400" b="1">
                <a:solidFill>
                  <a:schemeClr val="bg1"/>
                </a:solidFill>
                <a:latin typeface="Courier New" panose="02070309020205020404" pitchFamily="49" charset="0"/>
                <a:cs typeface="Courier New" panose="02070309020205020404" pitchFamily="49" charset="0"/>
              </a:rPr>
              <a:t> S   C   0   0</a:t>
            </a:r>
          </a:p>
          <a:p>
            <a:r>
              <a:rPr lang="en-US" sz="2400" b="1">
                <a:solidFill>
                  <a:schemeClr val="bg1"/>
                </a:solidFill>
                <a:latin typeface="Courier New" panose="02070309020205020404" pitchFamily="49" charset="0"/>
                <a:cs typeface="Courier New" panose="02070309020205020404" pitchFamily="49" charset="0"/>
              </a:rPr>
              <a:t> 0   0   1   0</a:t>
            </a:r>
          </a:p>
          <a:p>
            <a:r>
              <a:rPr lang="en-US" sz="2400" b="1">
                <a:solidFill>
                  <a:schemeClr val="bg1"/>
                </a:solidFill>
                <a:latin typeface="Courier New" panose="02070309020205020404" pitchFamily="49" charset="0"/>
                <a:cs typeface="Courier New" panose="02070309020205020404" pitchFamily="49" charset="0"/>
              </a:rPr>
              <a:t> 0   0   0   1</a:t>
            </a:r>
          </a:p>
        </p:txBody>
      </p:sp>
      <p:sp>
        <p:nvSpPr>
          <p:cNvPr id="9" name="TextBox 8">
            <a:extLst>
              <a:ext uri="{FF2B5EF4-FFF2-40B4-BE49-F238E27FC236}">
                <a16:creationId xmlns:a16="http://schemas.microsoft.com/office/drawing/2014/main" id="{F54A6408-1C13-A176-6193-0DA3AF024F82}"/>
              </a:ext>
            </a:extLst>
          </p:cNvPr>
          <p:cNvSpPr txBox="1"/>
          <p:nvPr/>
        </p:nvSpPr>
        <p:spPr>
          <a:xfrm>
            <a:off x="916653" y="2183458"/>
            <a:ext cx="1606732" cy="461665"/>
          </a:xfrm>
          <a:prstGeom prst="rect">
            <a:avLst/>
          </a:prstGeom>
          <a:noFill/>
        </p:spPr>
        <p:txBody>
          <a:bodyPr wrap="square" rtlCol="0">
            <a:spAutoFit/>
          </a:bodyPr>
          <a:lstStyle/>
          <a:p>
            <a:r>
              <a:rPr lang="en-US" sz="2400" b="1">
                <a:solidFill>
                  <a:schemeClr val="bg1"/>
                </a:solidFill>
                <a:latin typeface="Trebuchet MS" panose="020B0703020202090204" pitchFamily="34" charset="0"/>
              </a:rPr>
              <a:t>about x:</a:t>
            </a:r>
          </a:p>
        </p:txBody>
      </p:sp>
      <p:sp>
        <p:nvSpPr>
          <p:cNvPr id="10" name="TextBox 9">
            <a:extLst>
              <a:ext uri="{FF2B5EF4-FFF2-40B4-BE49-F238E27FC236}">
                <a16:creationId xmlns:a16="http://schemas.microsoft.com/office/drawing/2014/main" id="{E936B253-2E4D-EEB3-ABA4-8F7CCC325D91}"/>
              </a:ext>
            </a:extLst>
          </p:cNvPr>
          <p:cNvSpPr txBox="1"/>
          <p:nvPr/>
        </p:nvSpPr>
        <p:spPr>
          <a:xfrm>
            <a:off x="860873" y="4338097"/>
            <a:ext cx="1724297" cy="461665"/>
          </a:xfrm>
          <a:prstGeom prst="rect">
            <a:avLst/>
          </a:prstGeom>
          <a:noFill/>
        </p:spPr>
        <p:txBody>
          <a:bodyPr wrap="square" rtlCol="0">
            <a:spAutoFit/>
          </a:bodyPr>
          <a:lstStyle/>
          <a:p>
            <a:r>
              <a:rPr lang="en-US" sz="2400" b="1">
                <a:solidFill>
                  <a:schemeClr val="bg1"/>
                </a:solidFill>
                <a:latin typeface="Trebuchet MS" panose="020B0703020202090204" pitchFamily="34" charset="0"/>
              </a:rPr>
              <a:t>about y:</a:t>
            </a:r>
          </a:p>
        </p:txBody>
      </p:sp>
      <p:sp>
        <p:nvSpPr>
          <p:cNvPr id="11" name="TextBox 10">
            <a:extLst>
              <a:ext uri="{FF2B5EF4-FFF2-40B4-BE49-F238E27FC236}">
                <a16:creationId xmlns:a16="http://schemas.microsoft.com/office/drawing/2014/main" id="{4B0168C0-2BB3-6160-1357-F3FECD6CF9EE}"/>
              </a:ext>
            </a:extLst>
          </p:cNvPr>
          <p:cNvSpPr txBox="1"/>
          <p:nvPr/>
        </p:nvSpPr>
        <p:spPr>
          <a:xfrm>
            <a:off x="6557099" y="4338097"/>
            <a:ext cx="1656864" cy="461665"/>
          </a:xfrm>
          <a:prstGeom prst="rect">
            <a:avLst/>
          </a:prstGeom>
          <a:noFill/>
        </p:spPr>
        <p:txBody>
          <a:bodyPr wrap="square" rtlCol="0">
            <a:spAutoFit/>
          </a:bodyPr>
          <a:lstStyle/>
          <a:p>
            <a:r>
              <a:rPr lang="en-US" sz="2400" b="1">
                <a:solidFill>
                  <a:schemeClr val="bg1"/>
                </a:solidFill>
                <a:latin typeface="Trebuchet MS" panose="020B0703020202090204" pitchFamily="34" charset="0"/>
              </a:rPr>
              <a:t>about z:</a:t>
            </a:r>
          </a:p>
        </p:txBody>
      </p:sp>
      <p:sp>
        <p:nvSpPr>
          <p:cNvPr id="12" name="TextBox 11">
            <a:extLst>
              <a:ext uri="{FF2B5EF4-FFF2-40B4-BE49-F238E27FC236}">
                <a16:creationId xmlns:a16="http://schemas.microsoft.com/office/drawing/2014/main" id="{26B7BB12-FB15-93E1-774D-229698F55AEE}"/>
              </a:ext>
            </a:extLst>
          </p:cNvPr>
          <p:cNvSpPr txBox="1"/>
          <p:nvPr/>
        </p:nvSpPr>
        <p:spPr>
          <a:xfrm>
            <a:off x="3746405" y="5961498"/>
            <a:ext cx="5689695" cy="461665"/>
          </a:xfrm>
          <a:prstGeom prst="rect">
            <a:avLst/>
          </a:prstGeom>
          <a:noFill/>
        </p:spPr>
        <p:txBody>
          <a:bodyPr wrap="square" rtlCol="0">
            <a:spAutoFit/>
          </a:bodyPr>
          <a:lstStyle/>
          <a:p>
            <a:r>
              <a:rPr lang="en-US" sz="2400" b="1">
                <a:solidFill>
                  <a:schemeClr val="bg1"/>
                </a:solidFill>
                <a:latin typeface="Courier New" panose="02070309020205020404" pitchFamily="49" charset="0"/>
                <a:cs typeface="Courier New" panose="02070309020205020404" pitchFamily="49" charset="0"/>
              </a:rPr>
              <a:t>C = cos(angle)	S = sin(angle)</a:t>
            </a:r>
          </a:p>
        </p:txBody>
      </p:sp>
      <p:pic>
        <p:nvPicPr>
          <p:cNvPr id="4" name="Picture 3">
            <a:extLst>
              <a:ext uri="{FF2B5EF4-FFF2-40B4-BE49-F238E27FC236}">
                <a16:creationId xmlns:a16="http://schemas.microsoft.com/office/drawing/2014/main" id="{16DA5BFE-ECC7-AF7D-08CB-8C0070C652B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335423" flipH="1">
            <a:off x="7272905" y="1207176"/>
            <a:ext cx="1885475" cy="1864279"/>
          </a:xfrm>
          <a:prstGeom prst="rect">
            <a:avLst/>
          </a:prstGeom>
        </p:spPr>
      </p:pic>
      <p:cxnSp>
        <p:nvCxnSpPr>
          <p:cNvPr id="5" name="Straight Connector 4">
            <a:extLst>
              <a:ext uri="{FF2B5EF4-FFF2-40B4-BE49-F238E27FC236}">
                <a16:creationId xmlns:a16="http://schemas.microsoft.com/office/drawing/2014/main" id="{6CDA297E-7C6F-77BF-3E06-BBEB2D1636E7}"/>
              </a:ext>
            </a:extLst>
          </p:cNvPr>
          <p:cNvCxnSpPr>
            <a:cxnSpLocks/>
          </p:cNvCxnSpPr>
          <p:nvPr/>
        </p:nvCxnSpPr>
        <p:spPr>
          <a:xfrm flipV="1">
            <a:off x="7392874" y="2144150"/>
            <a:ext cx="590343" cy="634826"/>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8479498C-2437-5AA4-7DDC-6913AAAFA59F}"/>
              </a:ext>
            </a:extLst>
          </p:cNvPr>
          <p:cNvCxnSpPr>
            <a:cxnSpLocks/>
          </p:cNvCxnSpPr>
          <p:nvPr/>
        </p:nvCxnSpPr>
        <p:spPr>
          <a:xfrm flipV="1">
            <a:off x="8067875" y="846604"/>
            <a:ext cx="0" cy="715753"/>
          </a:xfrm>
          <a:prstGeom prst="line">
            <a:avLst/>
          </a:prstGeom>
          <a:ln w="25400">
            <a:solidFill>
              <a:srgbClr val="00B050"/>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04F765D-A49E-1BEB-A955-35930093C409}"/>
              </a:ext>
            </a:extLst>
          </p:cNvPr>
          <p:cNvSpPr txBox="1"/>
          <p:nvPr/>
        </p:nvSpPr>
        <p:spPr>
          <a:xfrm>
            <a:off x="7739816" y="2300233"/>
            <a:ext cx="503296" cy="461665"/>
          </a:xfrm>
          <a:prstGeom prst="rect">
            <a:avLst/>
          </a:prstGeom>
          <a:noFill/>
        </p:spPr>
        <p:txBody>
          <a:bodyPr wrap="square" rtlCol="0">
            <a:spAutoFit/>
          </a:bodyPr>
          <a:lstStyle/>
          <a:p>
            <a:r>
              <a:rPr lang="en-US" sz="2400">
                <a:solidFill>
                  <a:srgbClr val="FF0000"/>
                </a:solidFill>
              </a:rPr>
              <a:t>x</a:t>
            </a:r>
          </a:p>
        </p:txBody>
      </p:sp>
      <p:sp>
        <p:nvSpPr>
          <p:cNvPr id="18" name="TextBox 17">
            <a:extLst>
              <a:ext uri="{FF2B5EF4-FFF2-40B4-BE49-F238E27FC236}">
                <a16:creationId xmlns:a16="http://schemas.microsoft.com/office/drawing/2014/main" id="{A657F6CC-9C5F-C408-3225-151F8B7A6564}"/>
              </a:ext>
            </a:extLst>
          </p:cNvPr>
          <p:cNvSpPr txBox="1"/>
          <p:nvPr/>
        </p:nvSpPr>
        <p:spPr>
          <a:xfrm>
            <a:off x="8152426" y="669293"/>
            <a:ext cx="503296" cy="461665"/>
          </a:xfrm>
          <a:prstGeom prst="rect">
            <a:avLst/>
          </a:prstGeom>
          <a:noFill/>
        </p:spPr>
        <p:txBody>
          <a:bodyPr wrap="square" rtlCol="0">
            <a:spAutoFit/>
          </a:bodyPr>
          <a:lstStyle/>
          <a:p>
            <a:r>
              <a:rPr lang="en-US" sz="2400">
                <a:solidFill>
                  <a:srgbClr val="00B050"/>
                </a:solidFill>
              </a:rPr>
              <a:t>z</a:t>
            </a:r>
          </a:p>
        </p:txBody>
      </p:sp>
      <p:cxnSp>
        <p:nvCxnSpPr>
          <p:cNvPr id="19" name="Straight Connector 18">
            <a:extLst>
              <a:ext uri="{FF2B5EF4-FFF2-40B4-BE49-F238E27FC236}">
                <a16:creationId xmlns:a16="http://schemas.microsoft.com/office/drawing/2014/main" id="{5F8C4946-E863-BDB9-ECDA-4A80E2476214}"/>
              </a:ext>
            </a:extLst>
          </p:cNvPr>
          <p:cNvCxnSpPr>
            <a:cxnSpLocks/>
          </p:cNvCxnSpPr>
          <p:nvPr/>
        </p:nvCxnSpPr>
        <p:spPr>
          <a:xfrm flipH="1">
            <a:off x="8736268" y="1896866"/>
            <a:ext cx="927174" cy="0"/>
          </a:xfrm>
          <a:prstGeom prst="line">
            <a:avLst/>
          </a:prstGeom>
          <a:ln w="25400">
            <a:solidFill>
              <a:srgbClr val="FFFF00"/>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986D323D-296B-44D2-D36D-3E2383AF8EC1}"/>
              </a:ext>
            </a:extLst>
          </p:cNvPr>
          <p:cNvSpPr txBox="1"/>
          <p:nvPr/>
        </p:nvSpPr>
        <p:spPr>
          <a:xfrm>
            <a:off x="9244702" y="1385923"/>
            <a:ext cx="503296" cy="461665"/>
          </a:xfrm>
          <a:prstGeom prst="rect">
            <a:avLst/>
          </a:prstGeom>
          <a:noFill/>
        </p:spPr>
        <p:txBody>
          <a:bodyPr wrap="square" rtlCol="0">
            <a:spAutoFit/>
          </a:bodyPr>
          <a:lstStyle/>
          <a:p>
            <a:r>
              <a:rPr lang="en-US" sz="2400">
                <a:solidFill>
                  <a:srgbClr val="FFFF00"/>
                </a:solidFill>
              </a:rPr>
              <a:t>y</a:t>
            </a:r>
          </a:p>
        </p:txBody>
      </p:sp>
      <p:sp>
        <p:nvSpPr>
          <p:cNvPr id="21" name="Rectangle 20">
            <a:extLst>
              <a:ext uri="{FF2B5EF4-FFF2-40B4-BE49-F238E27FC236}">
                <a16:creationId xmlns:a16="http://schemas.microsoft.com/office/drawing/2014/main" id="{3AAB6736-6DC8-1AA5-CEAB-D439325EDC8E}"/>
              </a:ext>
            </a:extLst>
          </p:cNvPr>
          <p:cNvSpPr/>
          <p:nvPr/>
        </p:nvSpPr>
        <p:spPr>
          <a:xfrm>
            <a:off x="6997702" y="669293"/>
            <a:ext cx="2855050" cy="2585107"/>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21B60DDC-3507-954F-2882-C874D6857DFA}"/>
              </a:ext>
            </a:extLst>
          </p:cNvPr>
          <p:cNvSpPr txBox="1"/>
          <p:nvPr/>
        </p:nvSpPr>
        <p:spPr>
          <a:xfrm>
            <a:off x="796335" y="615771"/>
            <a:ext cx="3243239" cy="461665"/>
          </a:xfrm>
          <a:prstGeom prst="rect">
            <a:avLst/>
          </a:prstGeom>
          <a:noFill/>
        </p:spPr>
        <p:txBody>
          <a:bodyPr wrap="square" rtlCol="0">
            <a:spAutoFit/>
          </a:bodyPr>
          <a:lstStyle/>
          <a:p>
            <a:r>
              <a:rPr lang="en-US" sz="2400" u="sng">
                <a:solidFill>
                  <a:schemeClr val="bg1"/>
                </a:solidFill>
                <a:latin typeface="Trebuchet MS" panose="020B0703020202090204" pitchFamily="34" charset="0"/>
              </a:rPr>
              <a:t>Rotation Overview</a:t>
            </a:r>
            <a:endParaRPr lang="en-US" sz="2400">
              <a:solidFill>
                <a:schemeClr val="bg1"/>
              </a:solidFill>
              <a:latin typeface="Trebuchet MS" panose="020B0703020202090204" pitchFamily="34" charset="0"/>
            </a:endParaRPr>
          </a:p>
        </p:txBody>
      </p:sp>
      <p:sp>
        <p:nvSpPr>
          <p:cNvPr id="28" name="Left Bracket 27">
            <a:extLst>
              <a:ext uri="{FF2B5EF4-FFF2-40B4-BE49-F238E27FC236}">
                <a16:creationId xmlns:a16="http://schemas.microsoft.com/office/drawing/2014/main" id="{6932DA63-DA40-26CD-82DF-DCE9E39A5247}"/>
              </a:ext>
            </a:extLst>
          </p:cNvPr>
          <p:cNvSpPr/>
          <p:nvPr/>
        </p:nvSpPr>
        <p:spPr>
          <a:xfrm>
            <a:off x="2566709" y="1695078"/>
            <a:ext cx="140384" cy="1532969"/>
          </a:xfrm>
          <a:prstGeom prst="leftBracket">
            <a:avLst/>
          </a:prstGeom>
          <a:ln w="349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ln>
                <a:solidFill>
                  <a:schemeClr val="bg1"/>
                </a:solidFill>
              </a:ln>
            </a:endParaRPr>
          </a:p>
        </p:txBody>
      </p:sp>
      <p:sp>
        <p:nvSpPr>
          <p:cNvPr id="30" name="Left Bracket 29">
            <a:extLst>
              <a:ext uri="{FF2B5EF4-FFF2-40B4-BE49-F238E27FC236}">
                <a16:creationId xmlns:a16="http://schemas.microsoft.com/office/drawing/2014/main" id="{93330BE1-A5CF-1130-C821-603D80E43271}"/>
              </a:ext>
            </a:extLst>
          </p:cNvPr>
          <p:cNvSpPr/>
          <p:nvPr/>
        </p:nvSpPr>
        <p:spPr>
          <a:xfrm rot="10800000">
            <a:off x="5308062" y="1695077"/>
            <a:ext cx="140384" cy="1532969"/>
          </a:xfrm>
          <a:prstGeom prst="leftBracket">
            <a:avLst/>
          </a:prstGeom>
          <a:ln w="349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ln>
                <a:solidFill>
                  <a:schemeClr val="bg1"/>
                </a:solidFill>
              </a:ln>
            </a:endParaRPr>
          </a:p>
        </p:txBody>
      </p:sp>
      <p:sp>
        <p:nvSpPr>
          <p:cNvPr id="31" name="Left Bracket 30">
            <a:extLst>
              <a:ext uri="{FF2B5EF4-FFF2-40B4-BE49-F238E27FC236}">
                <a16:creationId xmlns:a16="http://schemas.microsoft.com/office/drawing/2014/main" id="{87443D7A-3660-3B87-A9FB-EDC39173020A}"/>
              </a:ext>
            </a:extLst>
          </p:cNvPr>
          <p:cNvSpPr/>
          <p:nvPr/>
        </p:nvSpPr>
        <p:spPr>
          <a:xfrm>
            <a:off x="2554009" y="3866778"/>
            <a:ext cx="140384" cy="1532969"/>
          </a:xfrm>
          <a:prstGeom prst="leftBracket">
            <a:avLst/>
          </a:prstGeom>
          <a:ln w="349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ln>
                <a:solidFill>
                  <a:schemeClr val="bg1"/>
                </a:solidFill>
              </a:ln>
            </a:endParaRPr>
          </a:p>
        </p:txBody>
      </p:sp>
      <p:sp>
        <p:nvSpPr>
          <p:cNvPr id="32" name="Left Bracket 31">
            <a:extLst>
              <a:ext uri="{FF2B5EF4-FFF2-40B4-BE49-F238E27FC236}">
                <a16:creationId xmlns:a16="http://schemas.microsoft.com/office/drawing/2014/main" id="{821D049C-82E7-7DF9-65C3-A3164702E618}"/>
              </a:ext>
            </a:extLst>
          </p:cNvPr>
          <p:cNvSpPr/>
          <p:nvPr/>
        </p:nvSpPr>
        <p:spPr>
          <a:xfrm rot="10800000">
            <a:off x="5295362" y="3866777"/>
            <a:ext cx="140384" cy="1532969"/>
          </a:xfrm>
          <a:prstGeom prst="leftBracket">
            <a:avLst/>
          </a:prstGeom>
          <a:ln w="349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ln>
                <a:solidFill>
                  <a:schemeClr val="bg1"/>
                </a:solidFill>
              </a:ln>
            </a:endParaRPr>
          </a:p>
        </p:txBody>
      </p:sp>
      <p:sp>
        <p:nvSpPr>
          <p:cNvPr id="33" name="Left Bracket 32">
            <a:extLst>
              <a:ext uri="{FF2B5EF4-FFF2-40B4-BE49-F238E27FC236}">
                <a16:creationId xmlns:a16="http://schemas.microsoft.com/office/drawing/2014/main" id="{66A6746F-9DCB-3273-FB78-3A1AE8431BCC}"/>
              </a:ext>
            </a:extLst>
          </p:cNvPr>
          <p:cNvSpPr/>
          <p:nvPr/>
        </p:nvSpPr>
        <p:spPr>
          <a:xfrm>
            <a:off x="8256309" y="3917578"/>
            <a:ext cx="140384" cy="1532969"/>
          </a:xfrm>
          <a:prstGeom prst="leftBracket">
            <a:avLst/>
          </a:prstGeom>
          <a:ln w="349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ln>
                <a:solidFill>
                  <a:schemeClr val="bg1"/>
                </a:solidFill>
              </a:ln>
            </a:endParaRPr>
          </a:p>
        </p:txBody>
      </p:sp>
      <p:sp>
        <p:nvSpPr>
          <p:cNvPr id="34" name="Left Bracket 33">
            <a:extLst>
              <a:ext uri="{FF2B5EF4-FFF2-40B4-BE49-F238E27FC236}">
                <a16:creationId xmlns:a16="http://schemas.microsoft.com/office/drawing/2014/main" id="{B153BC6E-8F93-7A62-55CD-2FB4FE2E07A8}"/>
              </a:ext>
            </a:extLst>
          </p:cNvPr>
          <p:cNvSpPr/>
          <p:nvPr/>
        </p:nvSpPr>
        <p:spPr>
          <a:xfrm rot="10800000">
            <a:off x="10997662" y="3917577"/>
            <a:ext cx="140384" cy="1532969"/>
          </a:xfrm>
          <a:prstGeom prst="leftBracket">
            <a:avLst/>
          </a:prstGeom>
          <a:ln w="349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ln>
                <a:solidFill>
                  <a:schemeClr val="bg1"/>
                </a:solidFill>
              </a:ln>
            </a:endParaRPr>
          </a:p>
        </p:txBody>
      </p:sp>
    </p:spTree>
    <p:extLst>
      <p:ext uri="{BB962C8B-B14F-4D97-AF65-F5344CB8AC3E}">
        <p14:creationId xmlns:p14="http://schemas.microsoft.com/office/powerpoint/2010/main" val="17220133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6C445-20A5-CB75-A8B2-B7593F42AA28}"/>
            </a:ext>
          </a:extLst>
        </p:cNvPr>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551C2B83-66E5-F84C-865A-060964A8221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19266" y="3718647"/>
            <a:ext cx="5665394" cy="2560320"/>
          </a:xfrm>
          <a:prstGeom prst="rect">
            <a:avLst/>
          </a:prstGeom>
        </p:spPr>
      </p:pic>
      <p:sp>
        <p:nvSpPr>
          <p:cNvPr id="2" name="Slide Number Placeholder 1">
            <a:extLst>
              <a:ext uri="{FF2B5EF4-FFF2-40B4-BE49-F238E27FC236}">
                <a16:creationId xmlns:a16="http://schemas.microsoft.com/office/drawing/2014/main" id="{D815E1FA-C822-F46E-4914-D5AA7525E858}"/>
              </a:ext>
            </a:extLst>
          </p:cNvPr>
          <p:cNvSpPr>
            <a:spLocks noGrp="1"/>
          </p:cNvSpPr>
          <p:nvPr>
            <p:ph type="sldNum" sz="quarter" idx="12"/>
          </p:nvPr>
        </p:nvSpPr>
        <p:spPr/>
        <p:txBody>
          <a:bodyPr/>
          <a:lstStyle/>
          <a:p>
            <a:fld id="{6F215E70-FDA5-6C45-8C7C-E922E56675B4}" type="slidenum">
              <a:rPr lang="en-US"/>
              <a:t>55</a:t>
            </a:fld>
            <a:endParaRPr lang="en-US"/>
          </a:p>
        </p:txBody>
      </p:sp>
      <p:sp>
        <p:nvSpPr>
          <p:cNvPr id="3" name="TextBox 2">
            <a:extLst>
              <a:ext uri="{FF2B5EF4-FFF2-40B4-BE49-F238E27FC236}">
                <a16:creationId xmlns:a16="http://schemas.microsoft.com/office/drawing/2014/main" id="{499DEF0C-4293-EDCF-DB81-708BE70264FD}"/>
              </a:ext>
            </a:extLst>
          </p:cNvPr>
          <p:cNvSpPr txBox="1"/>
          <p:nvPr/>
        </p:nvSpPr>
        <p:spPr>
          <a:xfrm>
            <a:off x="647700" y="670165"/>
            <a:ext cx="10896600" cy="3139321"/>
          </a:xfrm>
          <a:prstGeom prst="rect">
            <a:avLst/>
          </a:prstGeom>
          <a:noFill/>
        </p:spPr>
        <p:txBody>
          <a:bodyPr wrap="square" rtlCol="0">
            <a:spAutoFit/>
          </a:bodyPr>
          <a:lstStyle/>
          <a:p>
            <a:r>
              <a:rPr lang="en-US" b="1">
                <a:solidFill>
                  <a:schemeClr val="bg1"/>
                </a:solidFill>
                <a:effectLst/>
                <a:latin typeface="Courier New" panose="02070309020205020404" pitchFamily="49" charset="0"/>
                <a:cs typeface="Courier New" panose="02070309020205020404" pitchFamily="49" charset="0"/>
              </a:rPr>
              <a:t>% load and plot template</a:t>
            </a:r>
          </a:p>
          <a:p>
            <a:endParaRPr lang="en-US" b="1">
              <a:solidFill>
                <a:schemeClr val="bg1"/>
              </a:solidFill>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imgA,infoA</a:t>
            </a:r>
            <a:r>
              <a:rPr lang="en-US" b="1">
                <a:solidFill>
                  <a:schemeClr val="bg1"/>
                </a:solidFill>
                <a:effectLst/>
                <a:latin typeface="Courier New" panose="02070309020205020404" pitchFamily="49" charset="0"/>
                <a:cs typeface="Courier New" panose="02070309020205020404" pitchFamily="49" charset="0"/>
              </a:rPr>
              <a:t>] = LoadVolumetricData('Segmented_MNI152nl_on_MNI111_nifti.nii');</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p>
          <a:p>
            <a:endParaRPr lang="en-US" b="1">
              <a:solidFill>
                <a:schemeClr val="bg1"/>
              </a:solidFill>
              <a:effectLst/>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infoB = infoA; 					% initialize infoB</a:t>
            </a:r>
          </a:p>
          <a:p>
            <a:r>
              <a:rPr lang="en-US" b="1">
                <a:solidFill>
                  <a:srgbClr val="00B0F0"/>
                </a:solidFill>
                <a:effectLst/>
                <a:latin typeface="Courier New" panose="02070309020205020404" pitchFamily="49" charset="0"/>
                <a:cs typeface="Courier New" panose="02070309020205020404" pitchFamily="49" charset="0"/>
              </a:rPr>
              <a:t>theta = pi/4; c = cos(theta); s = sin(theta); 	</a:t>
            </a:r>
            <a:r>
              <a:rPr lang="en-US" b="1">
                <a:solidFill>
                  <a:schemeClr val="bg1"/>
                </a:solidFill>
                <a:effectLst/>
                <a:latin typeface="Courier New" panose="02070309020205020404" pitchFamily="49" charset="0"/>
                <a:cs typeface="Courier New" panose="02070309020205020404" pitchFamily="49" charset="0"/>
              </a:rPr>
              <a:t>% rotate by 45 degrees </a:t>
            </a:r>
          </a:p>
          <a:p>
            <a:r>
              <a:rPr lang="en-US" b="1">
                <a:solidFill>
                  <a:srgbClr val="00B0F0"/>
                </a:solidFill>
                <a:effectLst/>
                <a:latin typeface="Courier New" panose="02070309020205020404" pitchFamily="49" charset="0"/>
                <a:cs typeface="Courier New" panose="02070309020205020404" pitchFamily="49" charset="0"/>
              </a:rPr>
              <a:t>t4 = [ 1 0 0 0 ; 0 c s 0 ; 0 -s c 0; 0 0 0 1];</a:t>
            </a:r>
            <a:r>
              <a:rPr lang="en-US" b="1">
                <a:solidFill>
                  <a:srgbClr val="FFFF00"/>
                </a:solidFill>
                <a:effectLst/>
                <a:latin typeface="Courier New" panose="02070309020205020404" pitchFamily="49" charset="0"/>
                <a:cs typeface="Courier New" panose="02070309020205020404" pitchFamily="49" charset="0"/>
              </a:rPr>
              <a:t>	</a:t>
            </a:r>
          </a:p>
          <a:p>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affine3d_img(</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infoA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FF00"/>
                </a:solidFill>
                <a:effectLst/>
                <a:latin typeface="Courier New" panose="02070309020205020404" pitchFamily="49" charset="0"/>
                <a:cs typeface="Courier New" panose="02070309020205020404" pitchFamily="49" charset="0"/>
              </a:rPr>
              <a:t>infoB,</a:t>
            </a:r>
            <a:r>
              <a:rPr lang="en-US" b="1">
                <a:solidFill>
                  <a:srgbClr val="00B0F0"/>
                </a:solidFill>
                <a:effectLst/>
                <a:latin typeface="Courier New" panose="02070309020205020404" pitchFamily="49" charset="0"/>
                <a:cs typeface="Courier New" panose="02070309020205020404" pitchFamily="49" charset="0"/>
              </a:rPr>
              <a:t>t4</a:t>
            </a:r>
            <a:r>
              <a:rPr lang="en-US" b="1">
                <a:solidFill>
                  <a:schemeClr val="bg1"/>
                </a:solidFill>
                <a:effectLst/>
                <a:latin typeface="Courier New" panose="02070309020205020404" pitchFamily="49" charset="0"/>
                <a:cs typeface="Courier New" panose="02070309020205020404" pitchFamily="49" charset="0"/>
              </a:rPr>
              <a:t>); 	% generate the new image data</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plot the transformed template</a:t>
            </a:r>
          </a:p>
          <a:p>
            <a:endParaRPr lang="en-US" b="1">
              <a:solidFill>
                <a:schemeClr val="bg1"/>
              </a:solidFill>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D9EA5394-3198-E9F9-01E5-17EE5219960C}"/>
              </a:ext>
            </a:extLst>
          </p:cNvPr>
          <p:cNvSpPr txBox="1"/>
          <p:nvPr/>
        </p:nvSpPr>
        <p:spPr>
          <a:xfrm>
            <a:off x="6972300" y="439333"/>
            <a:ext cx="4775200" cy="461665"/>
          </a:xfrm>
          <a:prstGeom prst="rect">
            <a:avLst/>
          </a:prstGeom>
          <a:noFill/>
        </p:spPr>
        <p:txBody>
          <a:bodyPr wrap="square" rtlCol="0">
            <a:spAutoFit/>
          </a:bodyPr>
          <a:lstStyle/>
          <a:p>
            <a:r>
              <a:rPr lang="en-US" sz="2400" u="sng">
                <a:solidFill>
                  <a:schemeClr val="bg1"/>
                </a:solidFill>
                <a:latin typeface="Trebuchet MS" panose="020B0703020202090204" pitchFamily="34" charset="0"/>
              </a:rPr>
              <a:t>Example 10: Rotate about x-axis</a:t>
            </a:r>
            <a:endParaRPr lang="en-US" sz="2400">
              <a:solidFill>
                <a:schemeClr val="bg1"/>
              </a:solidFill>
              <a:latin typeface="Trebuchet MS" panose="020B0703020202090204" pitchFamily="34" charset="0"/>
            </a:endParaRPr>
          </a:p>
        </p:txBody>
      </p:sp>
      <p:pic>
        <p:nvPicPr>
          <p:cNvPr id="8" name="Picture 7" descr="A screenshot of a computer screen&#10;&#10;Description automatically generated">
            <a:extLst>
              <a:ext uri="{FF2B5EF4-FFF2-40B4-BE49-F238E27FC236}">
                <a16:creationId xmlns:a16="http://schemas.microsoft.com/office/drawing/2014/main" id="{B3E5191E-D855-CAD7-2837-EE61EECB059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2100" y="3716893"/>
            <a:ext cx="5906349" cy="2560320"/>
          </a:xfrm>
          <a:prstGeom prst="rect">
            <a:avLst/>
          </a:prstGeom>
        </p:spPr>
      </p:pic>
      <p:sp>
        <p:nvSpPr>
          <p:cNvPr id="11" name="TextBox 10">
            <a:extLst>
              <a:ext uri="{FF2B5EF4-FFF2-40B4-BE49-F238E27FC236}">
                <a16:creationId xmlns:a16="http://schemas.microsoft.com/office/drawing/2014/main" id="{CF1B8A05-268E-B9DC-0B5E-33453D1D2C33}"/>
              </a:ext>
            </a:extLst>
          </p:cNvPr>
          <p:cNvSpPr txBox="1"/>
          <p:nvPr/>
        </p:nvSpPr>
        <p:spPr>
          <a:xfrm>
            <a:off x="2784829" y="5982993"/>
            <a:ext cx="920890" cy="461665"/>
          </a:xfrm>
          <a:prstGeom prst="rect">
            <a:avLst/>
          </a:prstGeom>
          <a:noFill/>
        </p:spPr>
        <p:txBody>
          <a:bodyPr wrap="square" rtlCol="0">
            <a:spAutoFit/>
          </a:bodyPr>
          <a:lstStyle/>
          <a:p>
            <a:r>
              <a:rPr lang="en-US" sz="2400" b="1">
                <a:solidFill>
                  <a:srgbClr val="FF0000"/>
                </a:solidFill>
                <a:latin typeface="Trebuchet MS" panose="020B0703020202090204" pitchFamily="34" charset="0"/>
              </a:rPr>
              <a:t>imgA</a:t>
            </a:r>
          </a:p>
        </p:txBody>
      </p:sp>
      <p:sp>
        <p:nvSpPr>
          <p:cNvPr id="12" name="TextBox 11">
            <a:extLst>
              <a:ext uri="{FF2B5EF4-FFF2-40B4-BE49-F238E27FC236}">
                <a16:creationId xmlns:a16="http://schemas.microsoft.com/office/drawing/2014/main" id="{75133133-96FF-8797-34ED-35A8A12D284B}"/>
              </a:ext>
            </a:extLst>
          </p:cNvPr>
          <p:cNvSpPr txBox="1"/>
          <p:nvPr/>
        </p:nvSpPr>
        <p:spPr>
          <a:xfrm>
            <a:off x="8589575" y="5982993"/>
            <a:ext cx="920890" cy="461665"/>
          </a:xfrm>
          <a:prstGeom prst="rect">
            <a:avLst/>
          </a:prstGeom>
          <a:noFill/>
        </p:spPr>
        <p:txBody>
          <a:bodyPr wrap="square" rtlCol="0">
            <a:spAutoFit/>
          </a:bodyPr>
          <a:lstStyle/>
          <a:p>
            <a:r>
              <a:rPr lang="en-US" sz="2400" b="1">
                <a:solidFill>
                  <a:srgbClr val="00B050"/>
                </a:solidFill>
                <a:latin typeface="Trebuchet MS" panose="020B0703020202090204" pitchFamily="34" charset="0"/>
              </a:rPr>
              <a:t>imgB</a:t>
            </a:r>
          </a:p>
        </p:txBody>
      </p:sp>
    </p:spTree>
    <p:extLst>
      <p:ext uri="{BB962C8B-B14F-4D97-AF65-F5344CB8AC3E}">
        <p14:creationId xmlns:p14="http://schemas.microsoft.com/office/powerpoint/2010/main" val="40160955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01D5E-6411-0732-F299-608CC02E8CC0}"/>
            </a:ext>
          </a:extLst>
        </p:cNvPr>
        <p:cNvGrpSpPr/>
        <p:nvPr/>
      </p:nvGrpSpPr>
      <p:grpSpPr>
        <a:xfrm>
          <a:off x="0" y="0"/>
          <a:ext cx="0" cy="0"/>
          <a:chOff x="0" y="0"/>
          <a:chExt cx="0" cy="0"/>
        </a:xfrm>
      </p:grpSpPr>
      <p:pic>
        <p:nvPicPr>
          <p:cNvPr id="7" name="Picture 6" descr="A screenshot of a computer screen&#10;&#10;Description automatically generated">
            <a:extLst>
              <a:ext uri="{FF2B5EF4-FFF2-40B4-BE49-F238E27FC236}">
                <a16:creationId xmlns:a16="http://schemas.microsoft.com/office/drawing/2014/main" id="{A5858B70-D532-7BD0-3AF8-FA2C63F80C0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19266" y="3718647"/>
            <a:ext cx="5665394" cy="2560320"/>
          </a:xfrm>
          <a:prstGeom prst="rect">
            <a:avLst/>
          </a:prstGeom>
        </p:spPr>
      </p:pic>
      <p:sp>
        <p:nvSpPr>
          <p:cNvPr id="2" name="Slide Number Placeholder 1">
            <a:extLst>
              <a:ext uri="{FF2B5EF4-FFF2-40B4-BE49-F238E27FC236}">
                <a16:creationId xmlns:a16="http://schemas.microsoft.com/office/drawing/2014/main" id="{54BC922F-918E-B261-1C1C-072FE90464EA}"/>
              </a:ext>
            </a:extLst>
          </p:cNvPr>
          <p:cNvSpPr>
            <a:spLocks noGrp="1"/>
          </p:cNvSpPr>
          <p:nvPr>
            <p:ph type="sldNum" sz="quarter" idx="12"/>
          </p:nvPr>
        </p:nvSpPr>
        <p:spPr/>
        <p:txBody>
          <a:bodyPr/>
          <a:lstStyle/>
          <a:p>
            <a:fld id="{6F215E70-FDA5-6C45-8C7C-E922E56675B4}" type="slidenum">
              <a:rPr lang="en-US"/>
              <a:t>56</a:t>
            </a:fld>
            <a:endParaRPr lang="en-US"/>
          </a:p>
        </p:txBody>
      </p:sp>
      <p:sp>
        <p:nvSpPr>
          <p:cNvPr id="3" name="TextBox 2">
            <a:extLst>
              <a:ext uri="{FF2B5EF4-FFF2-40B4-BE49-F238E27FC236}">
                <a16:creationId xmlns:a16="http://schemas.microsoft.com/office/drawing/2014/main" id="{288FACE6-8801-67BF-2E23-B199DFE050F2}"/>
              </a:ext>
            </a:extLst>
          </p:cNvPr>
          <p:cNvSpPr txBox="1"/>
          <p:nvPr/>
        </p:nvSpPr>
        <p:spPr>
          <a:xfrm>
            <a:off x="647700" y="670165"/>
            <a:ext cx="10896600" cy="3139321"/>
          </a:xfrm>
          <a:prstGeom prst="rect">
            <a:avLst/>
          </a:prstGeom>
          <a:noFill/>
        </p:spPr>
        <p:txBody>
          <a:bodyPr wrap="square" rtlCol="0">
            <a:spAutoFit/>
          </a:bodyPr>
          <a:lstStyle/>
          <a:p>
            <a:r>
              <a:rPr lang="en-US" b="1">
                <a:solidFill>
                  <a:schemeClr val="bg1"/>
                </a:solidFill>
                <a:effectLst/>
                <a:latin typeface="Courier New" panose="02070309020205020404" pitchFamily="49" charset="0"/>
                <a:cs typeface="Courier New" panose="02070309020205020404" pitchFamily="49" charset="0"/>
              </a:rPr>
              <a:t>% load and plot template</a:t>
            </a:r>
          </a:p>
          <a:p>
            <a:endParaRPr lang="en-US" b="1">
              <a:solidFill>
                <a:schemeClr val="bg1"/>
              </a:solidFill>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imgA,infoA</a:t>
            </a:r>
            <a:r>
              <a:rPr lang="en-US" b="1">
                <a:solidFill>
                  <a:schemeClr val="bg1"/>
                </a:solidFill>
                <a:effectLst/>
                <a:latin typeface="Courier New" panose="02070309020205020404" pitchFamily="49" charset="0"/>
                <a:cs typeface="Courier New" panose="02070309020205020404" pitchFamily="49" charset="0"/>
              </a:rPr>
              <a:t>] = LoadVolumetricData('Segmented_MNI152nl_on_MNI111_nifti.nii');</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p>
          <a:p>
            <a:endParaRPr lang="en-US" b="1">
              <a:solidFill>
                <a:schemeClr val="bg1"/>
              </a:solidFill>
              <a:effectLst/>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infoB = infoA; 					% initialize infoB</a:t>
            </a:r>
          </a:p>
          <a:p>
            <a:r>
              <a:rPr lang="en-US" b="1">
                <a:solidFill>
                  <a:srgbClr val="00B0F0"/>
                </a:solidFill>
                <a:effectLst/>
                <a:latin typeface="Courier New" panose="02070309020205020404" pitchFamily="49" charset="0"/>
                <a:cs typeface="Courier New" panose="02070309020205020404" pitchFamily="49" charset="0"/>
              </a:rPr>
              <a:t>theta = pi/4; c = cos(theta); s = sin(theta); 	</a:t>
            </a:r>
            <a:r>
              <a:rPr lang="en-US" b="1">
                <a:solidFill>
                  <a:schemeClr val="bg1"/>
                </a:solidFill>
                <a:effectLst/>
                <a:latin typeface="Courier New" panose="02070309020205020404" pitchFamily="49" charset="0"/>
                <a:cs typeface="Courier New" panose="02070309020205020404" pitchFamily="49" charset="0"/>
              </a:rPr>
              <a:t>% rotate by 45 degrees </a:t>
            </a:r>
          </a:p>
          <a:p>
            <a:r>
              <a:rPr lang="en-US" b="1">
                <a:solidFill>
                  <a:srgbClr val="00B0F0"/>
                </a:solidFill>
                <a:effectLst/>
                <a:latin typeface="Courier New" panose="02070309020205020404" pitchFamily="49" charset="0"/>
                <a:cs typeface="Courier New" panose="02070309020205020404" pitchFamily="49" charset="0"/>
              </a:rPr>
              <a:t>t4 = [ c 0 -s 0; 0 1 0 0; s 0 c 0; 0 0 0 1 ];</a:t>
            </a:r>
            <a:r>
              <a:rPr lang="en-US" b="1">
                <a:solidFill>
                  <a:srgbClr val="FFFF00"/>
                </a:solidFill>
                <a:effectLst/>
                <a:latin typeface="Courier New" panose="02070309020205020404" pitchFamily="49" charset="0"/>
                <a:cs typeface="Courier New" panose="02070309020205020404" pitchFamily="49" charset="0"/>
              </a:rPr>
              <a:t>	</a:t>
            </a:r>
          </a:p>
          <a:p>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affine3d_img(</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infoA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FF00"/>
                </a:solidFill>
                <a:effectLst/>
                <a:latin typeface="Courier New" panose="02070309020205020404" pitchFamily="49" charset="0"/>
                <a:cs typeface="Courier New" panose="02070309020205020404" pitchFamily="49" charset="0"/>
              </a:rPr>
              <a:t>infoB,</a:t>
            </a:r>
            <a:r>
              <a:rPr lang="en-US" b="1">
                <a:solidFill>
                  <a:srgbClr val="00B0F0"/>
                </a:solidFill>
                <a:effectLst/>
                <a:latin typeface="Courier New" panose="02070309020205020404" pitchFamily="49" charset="0"/>
                <a:cs typeface="Courier New" panose="02070309020205020404" pitchFamily="49" charset="0"/>
              </a:rPr>
              <a:t>t4</a:t>
            </a:r>
            <a:r>
              <a:rPr lang="en-US" b="1">
                <a:solidFill>
                  <a:schemeClr val="bg1"/>
                </a:solidFill>
                <a:effectLst/>
                <a:latin typeface="Courier New" panose="02070309020205020404" pitchFamily="49" charset="0"/>
                <a:cs typeface="Courier New" panose="02070309020205020404" pitchFamily="49" charset="0"/>
              </a:rPr>
              <a:t>); 	% generate the new image data</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plot the transformed template</a:t>
            </a:r>
          </a:p>
          <a:p>
            <a:endParaRPr lang="en-US" b="1">
              <a:solidFill>
                <a:schemeClr val="bg1"/>
              </a:solidFill>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09A5544A-12A9-174C-A599-482439B782AD}"/>
              </a:ext>
            </a:extLst>
          </p:cNvPr>
          <p:cNvSpPr txBox="1"/>
          <p:nvPr/>
        </p:nvSpPr>
        <p:spPr>
          <a:xfrm>
            <a:off x="6972300" y="439333"/>
            <a:ext cx="4775200" cy="461665"/>
          </a:xfrm>
          <a:prstGeom prst="rect">
            <a:avLst/>
          </a:prstGeom>
          <a:noFill/>
        </p:spPr>
        <p:txBody>
          <a:bodyPr wrap="square" rtlCol="0">
            <a:spAutoFit/>
          </a:bodyPr>
          <a:lstStyle/>
          <a:p>
            <a:r>
              <a:rPr lang="en-US" sz="2400" u="sng">
                <a:solidFill>
                  <a:schemeClr val="bg1"/>
                </a:solidFill>
                <a:latin typeface="Trebuchet MS" panose="020B0703020202090204" pitchFamily="34" charset="0"/>
              </a:rPr>
              <a:t>Example 11: Rotate about y-axis</a:t>
            </a:r>
            <a:endParaRPr lang="en-US" sz="2400">
              <a:solidFill>
                <a:schemeClr val="bg1"/>
              </a:solidFill>
              <a:latin typeface="Trebuchet MS" panose="020B0703020202090204" pitchFamily="34" charset="0"/>
            </a:endParaRPr>
          </a:p>
        </p:txBody>
      </p:sp>
      <p:pic>
        <p:nvPicPr>
          <p:cNvPr id="8" name="Picture 7" descr="A screenshot of a computer screen&#10;&#10;Description automatically generated">
            <a:extLst>
              <a:ext uri="{FF2B5EF4-FFF2-40B4-BE49-F238E27FC236}">
                <a16:creationId xmlns:a16="http://schemas.microsoft.com/office/drawing/2014/main" id="{F5B0B4C1-3301-5B8E-DB16-D9511E65C08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2100" y="3716893"/>
            <a:ext cx="5906349" cy="2560320"/>
          </a:xfrm>
          <a:prstGeom prst="rect">
            <a:avLst/>
          </a:prstGeom>
        </p:spPr>
      </p:pic>
      <p:sp>
        <p:nvSpPr>
          <p:cNvPr id="11" name="TextBox 10">
            <a:extLst>
              <a:ext uri="{FF2B5EF4-FFF2-40B4-BE49-F238E27FC236}">
                <a16:creationId xmlns:a16="http://schemas.microsoft.com/office/drawing/2014/main" id="{3CB3B02B-2525-0B0D-11C1-5247AF0E2F70}"/>
              </a:ext>
            </a:extLst>
          </p:cNvPr>
          <p:cNvSpPr txBox="1"/>
          <p:nvPr/>
        </p:nvSpPr>
        <p:spPr>
          <a:xfrm>
            <a:off x="2784829" y="5982993"/>
            <a:ext cx="920890" cy="461665"/>
          </a:xfrm>
          <a:prstGeom prst="rect">
            <a:avLst/>
          </a:prstGeom>
          <a:noFill/>
        </p:spPr>
        <p:txBody>
          <a:bodyPr wrap="square" rtlCol="0">
            <a:spAutoFit/>
          </a:bodyPr>
          <a:lstStyle/>
          <a:p>
            <a:r>
              <a:rPr lang="en-US" sz="2400" b="1">
                <a:solidFill>
                  <a:srgbClr val="FF0000"/>
                </a:solidFill>
                <a:latin typeface="Trebuchet MS" panose="020B0703020202090204" pitchFamily="34" charset="0"/>
              </a:rPr>
              <a:t>imgA</a:t>
            </a:r>
          </a:p>
        </p:txBody>
      </p:sp>
      <p:sp>
        <p:nvSpPr>
          <p:cNvPr id="12" name="TextBox 11">
            <a:extLst>
              <a:ext uri="{FF2B5EF4-FFF2-40B4-BE49-F238E27FC236}">
                <a16:creationId xmlns:a16="http://schemas.microsoft.com/office/drawing/2014/main" id="{01AC0299-F5E1-D2DA-61CC-3311B44C608D}"/>
              </a:ext>
            </a:extLst>
          </p:cNvPr>
          <p:cNvSpPr txBox="1"/>
          <p:nvPr/>
        </p:nvSpPr>
        <p:spPr>
          <a:xfrm>
            <a:off x="8589575" y="5982993"/>
            <a:ext cx="920890" cy="461665"/>
          </a:xfrm>
          <a:prstGeom prst="rect">
            <a:avLst/>
          </a:prstGeom>
          <a:noFill/>
        </p:spPr>
        <p:txBody>
          <a:bodyPr wrap="square" rtlCol="0">
            <a:spAutoFit/>
          </a:bodyPr>
          <a:lstStyle/>
          <a:p>
            <a:r>
              <a:rPr lang="en-US" sz="2400" b="1">
                <a:solidFill>
                  <a:srgbClr val="00B050"/>
                </a:solidFill>
                <a:latin typeface="Trebuchet MS" panose="020B0703020202090204" pitchFamily="34" charset="0"/>
              </a:rPr>
              <a:t>imgB</a:t>
            </a:r>
          </a:p>
        </p:txBody>
      </p:sp>
    </p:spTree>
    <p:extLst>
      <p:ext uri="{BB962C8B-B14F-4D97-AF65-F5344CB8AC3E}">
        <p14:creationId xmlns:p14="http://schemas.microsoft.com/office/powerpoint/2010/main" val="14142297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3B7E5-AA74-3909-2145-D2C76AC29B87}"/>
            </a:ext>
          </a:extLst>
        </p:cNvPr>
        <p:cNvGrpSpPr/>
        <p:nvPr/>
      </p:nvGrpSpPr>
      <p:grpSpPr>
        <a:xfrm>
          <a:off x="0" y="0"/>
          <a:ext cx="0" cy="0"/>
          <a:chOff x="0" y="0"/>
          <a:chExt cx="0" cy="0"/>
        </a:xfrm>
      </p:grpSpPr>
      <p:pic>
        <p:nvPicPr>
          <p:cNvPr id="5" name="Picture 4" descr="A screenshot of a computer screen&#10;&#10;Description automatically generated">
            <a:extLst>
              <a:ext uri="{FF2B5EF4-FFF2-40B4-BE49-F238E27FC236}">
                <a16:creationId xmlns:a16="http://schemas.microsoft.com/office/drawing/2014/main" id="{3547D47D-7BEA-A9BA-929F-9808F5D5645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19266" y="3718647"/>
            <a:ext cx="5665394" cy="2560320"/>
          </a:xfrm>
          <a:prstGeom prst="rect">
            <a:avLst/>
          </a:prstGeom>
        </p:spPr>
      </p:pic>
      <p:sp>
        <p:nvSpPr>
          <p:cNvPr id="2" name="Slide Number Placeholder 1">
            <a:extLst>
              <a:ext uri="{FF2B5EF4-FFF2-40B4-BE49-F238E27FC236}">
                <a16:creationId xmlns:a16="http://schemas.microsoft.com/office/drawing/2014/main" id="{9AA4F435-715F-F240-DEBE-5D90DA16F65E}"/>
              </a:ext>
            </a:extLst>
          </p:cNvPr>
          <p:cNvSpPr>
            <a:spLocks noGrp="1"/>
          </p:cNvSpPr>
          <p:nvPr>
            <p:ph type="sldNum" sz="quarter" idx="12"/>
          </p:nvPr>
        </p:nvSpPr>
        <p:spPr/>
        <p:txBody>
          <a:bodyPr/>
          <a:lstStyle/>
          <a:p>
            <a:fld id="{6F215E70-FDA5-6C45-8C7C-E922E56675B4}" type="slidenum">
              <a:rPr lang="en-US"/>
              <a:t>57</a:t>
            </a:fld>
            <a:endParaRPr lang="en-US"/>
          </a:p>
        </p:txBody>
      </p:sp>
      <p:sp>
        <p:nvSpPr>
          <p:cNvPr id="3" name="TextBox 2">
            <a:extLst>
              <a:ext uri="{FF2B5EF4-FFF2-40B4-BE49-F238E27FC236}">
                <a16:creationId xmlns:a16="http://schemas.microsoft.com/office/drawing/2014/main" id="{9FF58C9A-7F44-44B9-8CCD-9A24FF34238E}"/>
              </a:ext>
            </a:extLst>
          </p:cNvPr>
          <p:cNvSpPr txBox="1"/>
          <p:nvPr/>
        </p:nvSpPr>
        <p:spPr>
          <a:xfrm>
            <a:off x="647700" y="670165"/>
            <a:ext cx="10896600" cy="3139321"/>
          </a:xfrm>
          <a:prstGeom prst="rect">
            <a:avLst/>
          </a:prstGeom>
          <a:noFill/>
        </p:spPr>
        <p:txBody>
          <a:bodyPr wrap="square" rtlCol="0">
            <a:spAutoFit/>
          </a:bodyPr>
          <a:lstStyle/>
          <a:p>
            <a:r>
              <a:rPr lang="en-US" b="1">
                <a:solidFill>
                  <a:schemeClr val="bg1"/>
                </a:solidFill>
                <a:effectLst/>
                <a:latin typeface="Courier New" panose="02070309020205020404" pitchFamily="49" charset="0"/>
                <a:cs typeface="Courier New" panose="02070309020205020404" pitchFamily="49" charset="0"/>
              </a:rPr>
              <a:t>% load and plot template</a:t>
            </a:r>
          </a:p>
          <a:p>
            <a:endParaRPr lang="en-US" b="1">
              <a:solidFill>
                <a:schemeClr val="bg1"/>
              </a:solidFill>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imgA,infoA</a:t>
            </a:r>
            <a:r>
              <a:rPr lang="en-US" b="1">
                <a:solidFill>
                  <a:schemeClr val="bg1"/>
                </a:solidFill>
                <a:effectLst/>
                <a:latin typeface="Courier New" panose="02070309020205020404" pitchFamily="49" charset="0"/>
                <a:cs typeface="Courier New" panose="02070309020205020404" pitchFamily="49" charset="0"/>
              </a:rPr>
              <a:t>] = LoadVolumetricData('Segmented_MNI152nl_on_MNI111_nifti.nii');</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p>
          <a:p>
            <a:endParaRPr lang="en-US" b="1">
              <a:solidFill>
                <a:schemeClr val="bg1"/>
              </a:solidFill>
              <a:effectLst/>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infoB = infoA; 					% initialize infoB</a:t>
            </a:r>
          </a:p>
          <a:p>
            <a:r>
              <a:rPr lang="en-US" b="1">
                <a:solidFill>
                  <a:srgbClr val="00B0F0"/>
                </a:solidFill>
                <a:effectLst/>
                <a:latin typeface="Courier New" panose="02070309020205020404" pitchFamily="49" charset="0"/>
                <a:cs typeface="Courier New" panose="02070309020205020404" pitchFamily="49" charset="0"/>
              </a:rPr>
              <a:t>theta = pi/4; c = cos(theta); s = sin(theta); 	</a:t>
            </a:r>
            <a:r>
              <a:rPr lang="en-US" b="1">
                <a:solidFill>
                  <a:schemeClr val="bg1"/>
                </a:solidFill>
                <a:effectLst/>
                <a:latin typeface="Courier New" panose="02070309020205020404" pitchFamily="49" charset="0"/>
                <a:cs typeface="Courier New" panose="02070309020205020404" pitchFamily="49" charset="0"/>
              </a:rPr>
              <a:t>% rotate by 45 degrees </a:t>
            </a:r>
          </a:p>
          <a:p>
            <a:r>
              <a:rPr lang="en-US" b="1">
                <a:solidFill>
                  <a:srgbClr val="00B0F0"/>
                </a:solidFill>
                <a:effectLst/>
                <a:latin typeface="Courier New" panose="02070309020205020404" pitchFamily="49" charset="0"/>
                <a:cs typeface="Courier New" panose="02070309020205020404" pitchFamily="49" charset="0"/>
              </a:rPr>
              <a:t>t4 = [ c -s 0 0; s c 0 0; 0 0 1 0; 0 0 0 1 ];</a:t>
            </a:r>
            <a:r>
              <a:rPr lang="en-US" b="1">
                <a:solidFill>
                  <a:srgbClr val="FFFF00"/>
                </a:solidFill>
                <a:effectLst/>
                <a:latin typeface="Courier New" panose="02070309020205020404" pitchFamily="49" charset="0"/>
                <a:cs typeface="Courier New" panose="02070309020205020404" pitchFamily="49" charset="0"/>
              </a:rPr>
              <a:t>	</a:t>
            </a:r>
          </a:p>
          <a:p>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affine3d_img(</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infoA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FF00"/>
                </a:solidFill>
                <a:effectLst/>
                <a:latin typeface="Courier New" panose="02070309020205020404" pitchFamily="49" charset="0"/>
                <a:cs typeface="Courier New" panose="02070309020205020404" pitchFamily="49" charset="0"/>
              </a:rPr>
              <a:t>infoB,</a:t>
            </a:r>
            <a:r>
              <a:rPr lang="en-US" b="1">
                <a:solidFill>
                  <a:srgbClr val="00B0F0"/>
                </a:solidFill>
                <a:effectLst/>
                <a:latin typeface="Courier New" panose="02070309020205020404" pitchFamily="49" charset="0"/>
                <a:cs typeface="Courier New" panose="02070309020205020404" pitchFamily="49" charset="0"/>
              </a:rPr>
              <a:t>t4</a:t>
            </a:r>
            <a:r>
              <a:rPr lang="en-US" b="1">
                <a:solidFill>
                  <a:schemeClr val="bg1"/>
                </a:solidFill>
                <a:effectLst/>
                <a:latin typeface="Courier New" panose="02070309020205020404" pitchFamily="49" charset="0"/>
                <a:cs typeface="Courier New" panose="02070309020205020404" pitchFamily="49" charset="0"/>
              </a:rPr>
              <a:t>); 	% generate the new image data</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plot the transformed template</a:t>
            </a:r>
          </a:p>
          <a:p>
            <a:endParaRPr lang="en-US" b="1">
              <a:solidFill>
                <a:schemeClr val="bg1"/>
              </a:solidFill>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4131E575-76F0-5DC0-EBF5-677A01638FCB}"/>
              </a:ext>
            </a:extLst>
          </p:cNvPr>
          <p:cNvSpPr txBox="1"/>
          <p:nvPr/>
        </p:nvSpPr>
        <p:spPr>
          <a:xfrm>
            <a:off x="6972300" y="439333"/>
            <a:ext cx="4775200" cy="461665"/>
          </a:xfrm>
          <a:prstGeom prst="rect">
            <a:avLst/>
          </a:prstGeom>
          <a:noFill/>
        </p:spPr>
        <p:txBody>
          <a:bodyPr wrap="square" rtlCol="0">
            <a:spAutoFit/>
          </a:bodyPr>
          <a:lstStyle/>
          <a:p>
            <a:r>
              <a:rPr lang="en-US" sz="2400" u="sng">
                <a:solidFill>
                  <a:schemeClr val="bg1"/>
                </a:solidFill>
                <a:latin typeface="Trebuchet MS" panose="020B0703020202090204" pitchFamily="34" charset="0"/>
              </a:rPr>
              <a:t>Example 12: Rotate about z-axis</a:t>
            </a:r>
            <a:endParaRPr lang="en-US" sz="2400">
              <a:solidFill>
                <a:schemeClr val="bg1"/>
              </a:solidFill>
              <a:latin typeface="Trebuchet MS" panose="020B0703020202090204" pitchFamily="34" charset="0"/>
            </a:endParaRPr>
          </a:p>
        </p:txBody>
      </p:sp>
      <p:pic>
        <p:nvPicPr>
          <p:cNvPr id="8" name="Picture 7" descr="A screenshot of a computer screen&#10;&#10;Description automatically generated">
            <a:extLst>
              <a:ext uri="{FF2B5EF4-FFF2-40B4-BE49-F238E27FC236}">
                <a16:creationId xmlns:a16="http://schemas.microsoft.com/office/drawing/2014/main" id="{1467989C-FE50-CB7D-88C1-9AAE9C4A416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2100" y="3716893"/>
            <a:ext cx="5906349" cy="2560320"/>
          </a:xfrm>
          <a:prstGeom prst="rect">
            <a:avLst/>
          </a:prstGeom>
        </p:spPr>
      </p:pic>
      <p:sp>
        <p:nvSpPr>
          <p:cNvPr id="11" name="TextBox 10">
            <a:extLst>
              <a:ext uri="{FF2B5EF4-FFF2-40B4-BE49-F238E27FC236}">
                <a16:creationId xmlns:a16="http://schemas.microsoft.com/office/drawing/2014/main" id="{0A305F48-770B-47DE-CC32-DADED81A7D12}"/>
              </a:ext>
            </a:extLst>
          </p:cNvPr>
          <p:cNvSpPr txBox="1"/>
          <p:nvPr/>
        </p:nvSpPr>
        <p:spPr>
          <a:xfrm>
            <a:off x="2784829" y="5982993"/>
            <a:ext cx="920890" cy="461665"/>
          </a:xfrm>
          <a:prstGeom prst="rect">
            <a:avLst/>
          </a:prstGeom>
          <a:noFill/>
        </p:spPr>
        <p:txBody>
          <a:bodyPr wrap="square" rtlCol="0">
            <a:spAutoFit/>
          </a:bodyPr>
          <a:lstStyle/>
          <a:p>
            <a:r>
              <a:rPr lang="en-US" sz="2400" b="1">
                <a:solidFill>
                  <a:srgbClr val="FF0000"/>
                </a:solidFill>
                <a:latin typeface="Trebuchet MS" panose="020B0703020202090204" pitchFamily="34" charset="0"/>
              </a:rPr>
              <a:t>imgA</a:t>
            </a:r>
          </a:p>
        </p:txBody>
      </p:sp>
      <p:sp>
        <p:nvSpPr>
          <p:cNvPr id="12" name="TextBox 11">
            <a:extLst>
              <a:ext uri="{FF2B5EF4-FFF2-40B4-BE49-F238E27FC236}">
                <a16:creationId xmlns:a16="http://schemas.microsoft.com/office/drawing/2014/main" id="{5C3C3063-3137-ED9D-D6B5-60902DF7E67F}"/>
              </a:ext>
            </a:extLst>
          </p:cNvPr>
          <p:cNvSpPr txBox="1"/>
          <p:nvPr/>
        </p:nvSpPr>
        <p:spPr>
          <a:xfrm>
            <a:off x="8589575" y="5982993"/>
            <a:ext cx="920890" cy="461665"/>
          </a:xfrm>
          <a:prstGeom prst="rect">
            <a:avLst/>
          </a:prstGeom>
          <a:noFill/>
        </p:spPr>
        <p:txBody>
          <a:bodyPr wrap="square" rtlCol="0">
            <a:spAutoFit/>
          </a:bodyPr>
          <a:lstStyle/>
          <a:p>
            <a:r>
              <a:rPr lang="en-US" sz="2400" b="1">
                <a:solidFill>
                  <a:srgbClr val="00B050"/>
                </a:solidFill>
                <a:latin typeface="Trebuchet MS" panose="020B0703020202090204" pitchFamily="34" charset="0"/>
              </a:rPr>
              <a:t>imgB</a:t>
            </a:r>
          </a:p>
        </p:txBody>
      </p:sp>
    </p:spTree>
    <p:extLst>
      <p:ext uri="{BB962C8B-B14F-4D97-AF65-F5344CB8AC3E}">
        <p14:creationId xmlns:p14="http://schemas.microsoft.com/office/powerpoint/2010/main" val="18283666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5D26E0-96D3-ECE5-6301-28264A93CEE0}"/>
              </a:ext>
            </a:extLst>
          </p:cNvPr>
          <p:cNvSpPr>
            <a:spLocks noGrp="1"/>
          </p:cNvSpPr>
          <p:nvPr>
            <p:ph type="sldNum" sz="quarter" idx="12"/>
          </p:nvPr>
        </p:nvSpPr>
        <p:spPr/>
        <p:txBody>
          <a:bodyPr/>
          <a:lstStyle/>
          <a:p>
            <a:fld id="{6F215E70-FDA5-6C45-8C7C-E922E56675B4}" type="slidenum">
              <a:rPr lang="en-US"/>
              <a:t>58</a:t>
            </a:fld>
            <a:endParaRPr lang="en-US"/>
          </a:p>
        </p:txBody>
      </p:sp>
      <p:sp>
        <p:nvSpPr>
          <p:cNvPr id="3" name="TextBox 2">
            <a:extLst>
              <a:ext uri="{FF2B5EF4-FFF2-40B4-BE49-F238E27FC236}">
                <a16:creationId xmlns:a16="http://schemas.microsoft.com/office/drawing/2014/main" id="{E016BDF5-888E-64A5-14CF-B36BC29DC5C1}"/>
              </a:ext>
            </a:extLst>
          </p:cNvPr>
          <p:cNvSpPr txBox="1"/>
          <p:nvPr/>
        </p:nvSpPr>
        <p:spPr>
          <a:xfrm>
            <a:off x="1011865" y="478644"/>
            <a:ext cx="2785435" cy="1077218"/>
          </a:xfrm>
          <a:prstGeom prst="rect">
            <a:avLst/>
          </a:prstGeom>
          <a:noFill/>
        </p:spPr>
        <p:txBody>
          <a:bodyPr wrap="square" rtlCol="0">
            <a:spAutoFit/>
          </a:bodyPr>
          <a:lstStyle/>
          <a:p>
            <a:r>
              <a:rPr lang="en-US" sz="3200" u="sng">
                <a:solidFill>
                  <a:schemeClr val="bg1"/>
                </a:solidFill>
                <a:latin typeface="Trebuchet MS" panose="020B0703020202090204" pitchFamily="34" charset="0"/>
              </a:rPr>
              <a:t>Shear Overview</a:t>
            </a:r>
            <a:endParaRPr lang="en-US" sz="3200">
              <a:solidFill>
                <a:schemeClr val="bg1"/>
              </a:solidFill>
              <a:latin typeface="Trebuchet MS" panose="020B0703020202090204" pitchFamily="34" charset="0"/>
            </a:endParaRPr>
          </a:p>
        </p:txBody>
      </p:sp>
      <p:sp>
        <p:nvSpPr>
          <p:cNvPr id="4" name="TextBox 3">
            <a:extLst>
              <a:ext uri="{FF2B5EF4-FFF2-40B4-BE49-F238E27FC236}">
                <a16:creationId xmlns:a16="http://schemas.microsoft.com/office/drawing/2014/main" id="{D3FD4AB3-F53B-581F-79F1-23034CFFF239}"/>
              </a:ext>
            </a:extLst>
          </p:cNvPr>
          <p:cNvSpPr txBox="1"/>
          <p:nvPr/>
        </p:nvSpPr>
        <p:spPr>
          <a:xfrm>
            <a:off x="4343402" y="551586"/>
            <a:ext cx="3122286" cy="1908215"/>
          </a:xfrm>
          <a:prstGeom prst="rect">
            <a:avLst/>
          </a:prstGeom>
          <a:noFill/>
        </p:spPr>
        <p:txBody>
          <a:bodyPr wrap="square" rtlCol="0">
            <a:spAutoFit/>
          </a:bodyPr>
          <a:lstStyle/>
          <a:p>
            <a:pPr>
              <a:spcAft>
                <a:spcPts val="600"/>
              </a:spcAft>
            </a:pPr>
            <a:r>
              <a:rPr lang="en-US" sz="3600" b="1">
                <a:solidFill>
                  <a:schemeClr val="bg1"/>
                </a:solidFill>
                <a:latin typeface="Courier New" panose="02070309020205020404" pitchFamily="49" charset="0"/>
                <a:cs typeface="Courier New" panose="02070309020205020404" pitchFamily="49" charset="0"/>
              </a:rPr>
              <a:t>s</a:t>
            </a:r>
            <a:r>
              <a:rPr lang="en-US" sz="3600" b="1" baseline="-25000">
                <a:solidFill>
                  <a:schemeClr val="bg1"/>
                </a:solidFill>
                <a:latin typeface="Courier New" panose="02070309020205020404" pitchFamily="49" charset="0"/>
                <a:cs typeface="Courier New" panose="02070309020205020404" pitchFamily="49" charset="0"/>
              </a:rPr>
              <a:t>x</a:t>
            </a:r>
            <a:r>
              <a:rPr lang="en-US" sz="3600" b="1">
                <a:solidFill>
                  <a:schemeClr val="bg1"/>
                </a:solidFill>
                <a:latin typeface="Courier New" panose="02070309020205020404" pitchFamily="49" charset="0"/>
                <a:cs typeface="Courier New" panose="02070309020205020404" pitchFamily="49" charset="0"/>
              </a:rPr>
              <a:t> </a:t>
            </a:r>
            <a:r>
              <a:rPr lang="en-US" sz="3600" b="1">
                <a:solidFill>
                  <a:srgbClr val="FFFF00"/>
                </a:solidFill>
                <a:latin typeface="Courier New" panose="02070309020205020404" pitchFamily="49" charset="0"/>
                <a:cs typeface="Courier New" panose="02070309020205020404" pitchFamily="49" charset="0"/>
              </a:rPr>
              <a:t>r</a:t>
            </a:r>
            <a:r>
              <a:rPr lang="en-US" sz="3600" b="1" baseline="-25000">
                <a:solidFill>
                  <a:srgbClr val="FFFF00"/>
                </a:solidFill>
                <a:latin typeface="Courier New" panose="02070309020205020404" pitchFamily="49" charset="0"/>
                <a:cs typeface="Courier New" panose="02070309020205020404" pitchFamily="49" charset="0"/>
              </a:rPr>
              <a:t>xy</a:t>
            </a:r>
            <a:r>
              <a:rPr lang="en-US" sz="3600" b="1" baseline="-25000">
                <a:solidFill>
                  <a:schemeClr val="bg1"/>
                </a:solidFill>
                <a:latin typeface="Courier New" panose="02070309020205020404" pitchFamily="49" charset="0"/>
                <a:cs typeface="Courier New" panose="02070309020205020404" pitchFamily="49" charset="0"/>
              </a:rPr>
              <a:t> </a:t>
            </a:r>
            <a:r>
              <a:rPr lang="en-US" sz="3600" b="1">
                <a:solidFill>
                  <a:srgbClr val="FFFF00"/>
                </a:solidFill>
                <a:latin typeface="Courier New" panose="02070309020205020404" pitchFamily="49" charset="0"/>
                <a:cs typeface="Courier New" panose="02070309020205020404" pitchFamily="49" charset="0"/>
              </a:rPr>
              <a:t>r</a:t>
            </a:r>
            <a:r>
              <a:rPr lang="en-US" sz="3600" b="1" baseline="-25000">
                <a:solidFill>
                  <a:srgbClr val="FFFF00"/>
                </a:solidFill>
                <a:latin typeface="Courier New" panose="02070309020205020404" pitchFamily="49" charset="0"/>
                <a:cs typeface="Courier New" panose="02070309020205020404" pitchFamily="49" charset="0"/>
              </a:rPr>
              <a:t>xz</a:t>
            </a:r>
            <a:r>
              <a:rPr lang="en-US" sz="3600" b="1" baseline="-25000">
                <a:solidFill>
                  <a:schemeClr val="bg1"/>
                </a:solidFill>
                <a:latin typeface="Courier New" panose="02070309020205020404" pitchFamily="49" charset="0"/>
                <a:cs typeface="Courier New" panose="02070309020205020404" pitchFamily="49" charset="0"/>
              </a:rPr>
              <a:t> </a:t>
            </a:r>
            <a:r>
              <a:rPr lang="en-US" sz="3600" b="1">
                <a:solidFill>
                  <a:schemeClr val="bg1"/>
                </a:solidFill>
                <a:latin typeface="Courier New" panose="02070309020205020404" pitchFamily="49" charset="0"/>
                <a:cs typeface="Courier New" panose="02070309020205020404" pitchFamily="49" charset="0"/>
              </a:rPr>
              <a:t>t</a:t>
            </a:r>
            <a:r>
              <a:rPr lang="en-US" sz="3600" b="1" baseline="-25000">
                <a:solidFill>
                  <a:schemeClr val="bg1"/>
                </a:solidFill>
                <a:latin typeface="Courier New" panose="02070309020205020404" pitchFamily="49" charset="0"/>
                <a:cs typeface="Courier New" panose="02070309020205020404" pitchFamily="49" charset="0"/>
              </a:rPr>
              <a:t>x</a:t>
            </a:r>
            <a:endParaRPr lang="en-US" sz="3600" b="1">
              <a:solidFill>
                <a:schemeClr val="bg1"/>
              </a:solidFill>
              <a:latin typeface="Courier New" panose="02070309020205020404" pitchFamily="49" charset="0"/>
              <a:cs typeface="Courier New" panose="02070309020205020404" pitchFamily="49" charset="0"/>
            </a:endParaRPr>
          </a:p>
          <a:p>
            <a:pPr>
              <a:spcAft>
                <a:spcPts val="600"/>
              </a:spcAft>
            </a:pPr>
            <a:r>
              <a:rPr lang="en-US" sz="3600" b="1">
                <a:solidFill>
                  <a:srgbClr val="FFFF00"/>
                </a:solidFill>
                <a:latin typeface="Courier New" panose="02070309020205020404" pitchFamily="49" charset="0"/>
                <a:cs typeface="Courier New" panose="02070309020205020404" pitchFamily="49" charset="0"/>
              </a:rPr>
              <a:t>r</a:t>
            </a:r>
            <a:r>
              <a:rPr lang="en-US" sz="3600" b="1" baseline="-25000">
                <a:solidFill>
                  <a:srgbClr val="FFFF00"/>
                </a:solidFill>
                <a:latin typeface="Courier New" panose="02070309020205020404" pitchFamily="49" charset="0"/>
                <a:cs typeface="Courier New" panose="02070309020205020404" pitchFamily="49" charset="0"/>
              </a:rPr>
              <a:t>yx</a:t>
            </a:r>
            <a:r>
              <a:rPr lang="en-US" sz="3600" b="1" baseline="-25000">
                <a:solidFill>
                  <a:schemeClr val="bg1"/>
                </a:solidFill>
                <a:latin typeface="Courier New" panose="02070309020205020404" pitchFamily="49" charset="0"/>
                <a:cs typeface="Courier New" panose="02070309020205020404" pitchFamily="49" charset="0"/>
              </a:rPr>
              <a:t> </a:t>
            </a:r>
            <a:r>
              <a:rPr lang="en-US" sz="3600" b="1">
                <a:solidFill>
                  <a:schemeClr val="bg1"/>
                </a:solidFill>
                <a:latin typeface="Courier New" panose="02070309020205020404" pitchFamily="49" charset="0"/>
                <a:cs typeface="Courier New" panose="02070309020205020404" pitchFamily="49" charset="0"/>
              </a:rPr>
              <a:t>s</a:t>
            </a:r>
            <a:r>
              <a:rPr lang="en-US" sz="3600" b="1" baseline="-25000">
                <a:solidFill>
                  <a:schemeClr val="bg1"/>
                </a:solidFill>
                <a:latin typeface="Courier New" panose="02070309020205020404" pitchFamily="49" charset="0"/>
                <a:cs typeface="Courier New" panose="02070309020205020404" pitchFamily="49" charset="0"/>
              </a:rPr>
              <a:t>y</a:t>
            </a:r>
            <a:r>
              <a:rPr lang="en-US" sz="3600" b="1">
                <a:solidFill>
                  <a:schemeClr val="bg1"/>
                </a:solidFill>
                <a:latin typeface="Courier New" panose="02070309020205020404" pitchFamily="49" charset="0"/>
                <a:cs typeface="Courier New" panose="02070309020205020404" pitchFamily="49" charset="0"/>
              </a:rPr>
              <a:t> </a:t>
            </a:r>
            <a:r>
              <a:rPr lang="en-US" sz="3600" b="1">
                <a:solidFill>
                  <a:srgbClr val="FFFF00"/>
                </a:solidFill>
                <a:latin typeface="Courier New" panose="02070309020205020404" pitchFamily="49" charset="0"/>
                <a:cs typeface="Courier New" panose="02070309020205020404" pitchFamily="49" charset="0"/>
              </a:rPr>
              <a:t>r</a:t>
            </a:r>
            <a:r>
              <a:rPr lang="en-US" sz="3600" b="1" baseline="-25000">
                <a:solidFill>
                  <a:srgbClr val="FFFF00"/>
                </a:solidFill>
                <a:latin typeface="Courier New" panose="02070309020205020404" pitchFamily="49" charset="0"/>
                <a:cs typeface="Courier New" panose="02070309020205020404" pitchFamily="49" charset="0"/>
              </a:rPr>
              <a:t>yz</a:t>
            </a:r>
            <a:r>
              <a:rPr lang="en-US" sz="3600" b="1" baseline="-25000">
                <a:solidFill>
                  <a:schemeClr val="bg1"/>
                </a:solidFill>
                <a:latin typeface="Courier New" panose="02070309020205020404" pitchFamily="49" charset="0"/>
                <a:cs typeface="Courier New" panose="02070309020205020404" pitchFamily="49" charset="0"/>
              </a:rPr>
              <a:t> </a:t>
            </a:r>
            <a:r>
              <a:rPr lang="en-US" sz="3600" b="1">
                <a:solidFill>
                  <a:schemeClr val="bg1"/>
                </a:solidFill>
                <a:latin typeface="Courier New" panose="02070309020205020404" pitchFamily="49" charset="0"/>
                <a:cs typeface="Courier New" panose="02070309020205020404" pitchFamily="49" charset="0"/>
              </a:rPr>
              <a:t>t</a:t>
            </a:r>
            <a:r>
              <a:rPr lang="en-US" sz="3600" b="1" baseline="-25000">
                <a:solidFill>
                  <a:schemeClr val="bg1"/>
                </a:solidFill>
                <a:latin typeface="Courier New" panose="02070309020205020404" pitchFamily="49" charset="0"/>
                <a:cs typeface="Courier New" panose="02070309020205020404" pitchFamily="49" charset="0"/>
              </a:rPr>
              <a:t>y</a:t>
            </a:r>
            <a:endParaRPr lang="en-US" sz="3600" b="1">
              <a:solidFill>
                <a:schemeClr val="bg1"/>
              </a:solidFill>
              <a:latin typeface="Courier New" panose="02070309020205020404" pitchFamily="49" charset="0"/>
              <a:cs typeface="Courier New" panose="02070309020205020404" pitchFamily="49" charset="0"/>
            </a:endParaRPr>
          </a:p>
          <a:p>
            <a:pPr>
              <a:spcAft>
                <a:spcPts val="600"/>
              </a:spcAft>
            </a:pPr>
            <a:r>
              <a:rPr lang="en-US" sz="3600" b="1">
                <a:solidFill>
                  <a:srgbClr val="FFFF00"/>
                </a:solidFill>
                <a:latin typeface="Courier New" panose="02070309020205020404" pitchFamily="49" charset="0"/>
                <a:cs typeface="Courier New" panose="02070309020205020404" pitchFamily="49" charset="0"/>
              </a:rPr>
              <a:t>r</a:t>
            </a:r>
            <a:r>
              <a:rPr lang="en-US" sz="3600" b="1" baseline="-25000">
                <a:solidFill>
                  <a:srgbClr val="FFFF00"/>
                </a:solidFill>
                <a:latin typeface="Courier New" panose="02070309020205020404" pitchFamily="49" charset="0"/>
                <a:cs typeface="Courier New" panose="02070309020205020404" pitchFamily="49" charset="0"/>
              </a:rPr>
              <a:t>zx</a:t>
            </a:r>
            <a:r>
              <a:rPr lang="en-US" sz="3600" b="1" baseline="-25000">
                <a:solidFill>
                  <a:schemeClr val="bg1"/>
                </a:solidFill>
                <a:latin typeface="Courier New" panose="02070309020205020404" pitchFamily="49" charset="0"/>
                <a:cs typeface="Courier New" panose="02070309020205020404" pitchFamily="49" charset="0"/>
              </a:rPr>
              <a:t> </a:t>
            </a:r>
            <a:r>
              <a:rPr lang="en-US" sz="3600" b="1">
                <a:solidFill>
                  <a:srgbClr val="FFFF00"/>
                </a:solidFill>
                <a:latin typeface="Courier New" panose="02070309020205020404" pitchFamily="49" charset="0"/>
                <a:cs typeface="Courier New" panose="02070309020205020404" pitchFamily="49" charset="0"/>
              </a:rPr>
              <a:t>r</a:t>
            </a:r>
            <a:r>
              <a:rPr lang="en-US" sz="3600" b="1" baseline="-25000">
                <a:solidFill>
                  <a:srgbClr val="FFFF00"/>
                </a:solidFill>
                <a:latin typeface="Courier New" panose="02070309020205020404" pitchFamily="49" charset="0"/>
                <a:cs typeface="Courier New" panose="02070309020205020404" pitchFamily="49" charset="0"/>
              </a:rPr>
              <a:t>zy</a:t>
            </a:r>
            <a:r>
              <a:rPr lang="en-US" sz="3600" b="1" baseline="-25000">
                <a:solidFill>
                  <a:schemeClr val="bg1"/>
                </a:solidFill>
                <a:latin typeface="Courier New" panose="02070309020205020404" pitchFamily="49" charset="0"/>
                <a:cs typeface="Courier New" panose="02070309020205020404" pitchFamily="49" charset="0"/>
              </a:rPr>
              <a:t> </a:t>
            </a:r>
            <a:r>
              <a:rPr lang="en-US" sz="3600" b="1">
                <a:solidFill>
                  <a:schemeClr val="bg1"/>
                </a:solidFill>
                <a:latin typeface="Courier New" panose="02070309020205020404" pitchFamily="49" charset="0"/>
                <a:cs typeface="Courier New" panose="02070309020205020404" pitchFamily="49" charset="0"/>
              </a:rPr>
              <a:t>s</a:t>
            </a:r>
            <a:r>
              <a:rPr lang="en-US" sz="3600" b="1" baseline="-25000">
                <a:solidFill>
                  <a:schemeClr val="bg1"/>
                </a:solidFill>
                <a:latin typeface="Courier New" panose="02070309020205020404" pitchFamily="49" charset="0"/>
                <a:cs typeface="Courier New" panose="02070309020205020404" pitchFamily="49" charset="0"/>
              </a:rPr>
              <a:t>z</a:t>
            </a:r>
            <a:r>
              <a:rPr lang="en-US" sz="3600" b="1">
                <a:solidFill>
                  <a:schemeClr val="bg1"/>
                </a:solidFill>
                <a:latin typeface="Courier New" panose="02070309020205020404" pitchFamily="49" charset="0"/>
                <a:cs typeface="Courier New" panose="02070309020205020404" pitchFamily="49" charset="0"/>
              </a:rPr>
              <a:t> t</a:t>
            </a:r>
            <a:r>
              <a:rPr lang="en-US" sz="3600" b="1" baseline="-25000">
                <a:solidFill>
                  <a:schemeClr val="bg1"/>
                </a:solidFill>
                <a:latin typeface="Courier New" panose="02070309020205020404" pitchFamily="49" charset="0"/>
                <a:cs typeface="Courier New" panose="02070309020205020404" pitchFamily="49" charset="0"/>
              </a:rPr>
              <a:t>z</a:t>
            </a:r>
            <a:endParaRPr lang="en-US" sz="3600" b="1">
              <a:solidFill>
                <a:schemeClr val="bg1"/>
              </a:solidFill>
              <a:latin typeface="Courier New" panose="02070309020205020404" pitchFamily="49" charset="0"/>
              <a:cs typeface="Courier New" panose="02070309020205020404" pitchFamily="49" charset="0"/>
            </a:endParaRPr>
          </a:p>
        </p:txBody>
      </p:sp>
      <p:sp>
        <p:nvSpPr>
          <p:cNvPr id="5" name="Left Bracket 4">
            <a:extLst>
              <a:ext uri="{FF2B5EF4-FFF2-40B4-BE49-F238E27FC236}">
                <a16:creationId xmlns:a16="http://schemas.microsoft.com/office/drawing/2014/main" id="{BA8B676A-96AC-CC44-EB17-E63241F32D30}"/>
              </a:ext>
            </a:extLst>
          </p:cNvPr>
          <p:cNvSpPr/>
          <p:nvPr/>
        </p:nvSpPr>
        <p:spPr>
          <a:xfrm>
            <a:off x="4076700" y="693553"/>
            <a:ext cx="217815" cy="2251278"/>
          </a:xfrm>
          <a:prstGeom prst="leftBracket">
            <a:avLst/>
          </a:prstGeom>
          <a:ln w="349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ln>
                <a:solidFill>
                  <a:schemeClr val="bg1"/>
                </a:solidFill>
              </a:ln>
            </a:endParaRPr>
          </a:p>
        </p:txBody>
      </p:sp>
      <p:sp>
        <p:nvSpPr>
          <p:cNvPr id="6" name="Left Bracket 5">
            <a:extLst>
              <a:ext uri="{FF2B5EF4-FFF2-40B4-BE49-F238E27FC236}">
                <a16:creationId xmlns:a16="http://schemas.microsoft.com/office/drawing/2014/main" id="{3A2346C5-ED29-B058-1707-6FFF2DEE632D}"/>
              </a:ext>
            </a:extLst>
          </p:cNvPr>
          <p:cNvSpPr/>
          <p:nvPr/>
        </p:nvSpPr>
        <p:spPr>
          <a:xfrm rot="10800000">
            <a:off x="7511530" y="693551"/>
            <a:ext cx="222770" cy="2251279"/>
          </a:xfrm>
          <a:prstGeom prst="leftBracket">
            <a:avLst/>
          </a:prstGeom>
          <a:ln w="349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ln>
                <a:solidFill>
                  <a:schemeClr val="bg1"/>
                </a:solidFill>
              </a:ln>
            </a:endParaRPr>
          </a:p>
        </p:txBody>
      </p:sp>
      <p:sp>
        <p:nvSpPr>
          <p:cNvPr id="7" name="TextBox 6">
            <a:extLst>
              <a:ext uri="{FF2B5EF4-FFF2-40B4-BE49-F238E27FC236}">
                <a16:creationId xmlns:a16="http://schemas.microsoft.com/office/drawing/2014/main" id="{3026120E-68AF-5F55-8AE1-3DE3F0C8395B}"/>
              </a:ext>
            </a:extLst>
          </p:cNvPr>
          <p:cNvSpPr txBox="1"/>
          <p:nvPr/>
        </p:nvSpPr>
        <p:spPr>
          <a:xfrm>
            <a:off x="4445001" y="2459801"/>
            <a:ext cx="5183114" cy="646331"/>
          </a:xfrm>
          <a:prstGeom prst="rect">
            <a:avLst/>
          </a:prstGeom>
          <a:noFill/>
        </p:spPr>
        <p:txBody>
          <a:bodyPr wrap="square" rtlCol="0">
            <a:spAutoFit/>
          </a:bodyPr>
          <a:lstStyle/>
          <a:p>
            <a:r>
              <a:rPr lang="en-US" sz="3600" b="1">
                <a:solidFill>
                  <a:schemeClr val="bg1"/>
                </a:solidFill>
                <a:latin typeface="Courier New" panose="02070309020205020404" pitchFamily="49" charset="0"/>
                <a:cs typeface="Courier New" panose="02070309020205020404" pitchFamily="49" charset="0"/>
              </a:rPr>
              <a:t>0</a:t>
            </a:r>
            <a:r>
              <a:rPr lang="en-US" sz="3600" b="1" baseline="-25000">
                <a:solidFill>
                  <a:schemeClr val="bg1"/>
                </a:solidFill>
                <a:latin typeface="Courier New" panose="02070309020205020404" pitchFamily="49" charset="0"/>
                <a:cs typeface="Courier New" panose="02070309020205020404" pitchFamily="49" charset="0"/>
              </a:rPr>
              <a:t> </a:t>
            </a:r>
            <a:r>
              <a:rPr lang="en-US" sz="3600" b="1">
                <a:solidFill>
                  <a:schemeClr val="bg1"/>
                </a:solidFill>
                <a:latin typeface="Courier New" panose="02070309020205020404" pitchFamily="49" charset="0"/>
                <a:cs typeface="Courier New" panose="02070309020205020404" pitchFamily="49" charset="0"/>
              </a:rPr>
              <a:t> 0  0  1</a:t>
            </a:r>
          </a:p>
        </p:txBody>
      </p:sp>
      <p:sp>
        <p:nvSpPr>
          <p:cNvPr id="8" name="TextBox 7">
            <a:extLst>
              <a:ext uri="{FF2B5EF4-FFF2-40B4-BE49-F238E27FC236}">
                <a16:creationId xmlns:a16="http://schemas.microsoft.com/office/drawing/2014/main" id="{A96373F8-4622-357C-0AFF-8BE6D247B8AD}"/>
              </a:ext>
            </a:extLst>
          </p:cNvPr>
          <p:cNvSpPr txBox="1"/>
          <p:nvPr/>
        </p:nvSpPr>
        <p:spPr>
          <a:xfrm>
            <a:off x="2117301" y="3510751"/>
            <a:ext cx="8204769" cy="1200329"/>
          </a:xfrm>
          <a:prstGeom prst="rect">
            <a:avLst/>
          </a:prstGeom>
          <a:noFill/>
        </p:spPr>
        <p:txBody>
          <a:bodyPr wrap="square" rtlCol="0">
            <a:spAutoFit/>
          </a:bodyPr>
          <a:lstStyle/>
          <a:p>
            <a:r>
              <a:rPr lang="en-US" sz="2400">
                <a:solidFill>
                  <a:schemeClr val="bg1"/>
                </a:solidFill>
                <a:latin typeface="Trebuchet MS" panose="020B0703020202090204" pitchFamily="34" charset="0"/>
              </a:rPr>
              <a:t>• r</a:t>
            </a:r>
            <a:r>
              <a:rPr lang="en-US" sz="2400" baseline="-25000">
                <a:solidFill>
                  <a:schemeClr val="bg1"/>
                </a:solidFill>
                <a:latin typeface="Trebuchet MS" panose="020B0703020202090204" pitchFamily="34" charset="0"/>
              </a:rPr>
              <a:t>xy</a:t>
            </a:r>
            <a:r>
              <a:rPr lang="en-US" sz="2400">
                <a:solidFill>
                  <a:schemeClr val="bg1"/>
                </a:solidFill>
                <a:latin typeface="Trebuchet MS" panose="020B0703020202090204" pitchFamily="34" charset="0"/>
              </a:rPr>
              <a:t> and r</a:t>
            </a:r>
            <a:r>
              <a:rPr lang="en-US" sz="2400" baseline="-25000">
                <a:solidFill>
                  <a:schemeClr val="bg1"/>
                </a:solidFill>
                <a:latin typeface="Trebuchet MS" panose="020B0703020202090204" pitchFamily="34" charset="0"/>
              </a:rPr>
              <a:t>yx</a:t>
            </a:r>
            <a:r>
              <a:rPr lang="en-US" sz="2400">
                <a:solidFill>
                  <a:schemeClr val="bg1"/>
                </a:solidFill>
                <a:latin typeface="Trebuchet MS" panose="020B0703020202090204" pitchFamily="34" charset="0"/>
              </a:rPr>
              <a:t> define shear in the xy plane (z is unchanged)</a:t>
            </a:r>
          </a:p>
          <a:p>
            <a:r>
              <a:rPr lang="en-US" sz="2400">
                <a:solidFill>
                  <a:schemeClr val="bg1"/>
                </a:solidFill>
                <a:latin typeface="Trebuchet MS" panose="020B0703020202090204" pitchFamily="34" charset="0"/>
              </a:rPr>
              <a:t>• r</a:t>
            </a:r>
            <a:r>
              <a:rPr lang="en-US" sz="2400" baseline="-25000">
                <a:solidFill>
                  <a:schemeClr val="bg1"/>
                </a:solidFill>
                <a:latin typeface="Trebuchet MS" panose="020B0703020202090204" pitchFamily="34" charset="0"/>
              </a:rPr>
              <a:t>xz </a:t>
            </a:r>
            <a:r>
              <a:rPr lang="en-US" sz="2400">
                <a:solidFill>
                  <a:schemeClr val="bg1"/>
                </a:solidFill>
                <a:latin typeface="Trebuchet MS" panose="020B0703020202090204" pitchFamily="34" charset="0"/>
              </a:rPr>
              <a:t>and r</a:t>
            </a:r>
            <a:r>
              <a:rPr lang="en-US" sz="2400" baseline="-25000">
                <a:solidFill>
                  <a:schemeClr val="bg1"/>
                </a:solidFill>
                <a:latin typeface="Trebuchet MS" panose="020B0703020202090204" pitchFamily="34" charset="0"/>
              </a:rPr>
              <a:t>zy</a:t>
            </a:r>
            <a:r>
              <a:rPr lang="en-US" sz="2400">
                <a:solidFill>
                  <a:schemeClr val="bg1"/>
                </a:solidFill>
                <a:latin typeface="Trebuchet MS" panose="020B0703020202090204" pitchFamily="34" charset="0"/>
              </a:rPr>
              <a:t> define shear in the xz plane (y is unchanged)</a:t>
            </a:r>
          </a:p>
          <a:p>
            <a:r>
              <a:rPr lang="en-US" sz="2400">
                <a:solidFill>
                  <a:schemeClr val="bg1"/>
                </a:solidFill>
                <a:latin typeface="Trebuchet MS" panose="020B0703020202090204" pitchFamily="34" charset="0"/>
              </a:rPr>
              <a:t>• r</a:t>
            </a:r>
            <a:r>
              <a:rPr lang="en-US" sz="2400" baseline="-25000">
                <a:solidFill>
                  <a:schemeClr val="bg1"/>
                </a:solidFill>
                <a:latin typeface="Trebuchet MS" panose="020B0703020202090204" pitchFamily="34" charset="0"/>
              </a:rPr>
              <a:t>yz </a:t>
            </a:r>
            <a:r>
              <a:rPr lang="en-US" sz="2400">
                <a:solidFill>
                  <a:schemeClr val="bg1"/>
                </a:solidFill>
                <a:latin typeface="Trebuchet MS" panose="020B0703020202090204" pitchFamily="34" charset="0"/>
              </a:rPr>
              <a:t>and r</a:t>
            </a:r>
            <a:r>
              <a:rPr lang="en-US" sz="2400" baseline="-25000">
                <a:solidFill>
                  <a:schemeClr val="bg1"/>
                </a:solidFill>
                <a:latin typeface="Trebuchet MS" panose="020B0703020202090204" pitchFamily="34" charset="0"/>
              </a:rPr>
              <a:t>zy</a:t>
            </a:r>
            <a:r>
              <a:rPr lang="en-US" sz="2400">
                <a:solidFill>
                  <a:schemeClr val="bg1"/>
                </a:solidFill>
                <a:latin typeface="Trebuchet MS" panose="020B0703020202090204" pitchFamily="34" charset="0"/>
              </a:rPr>
              <a:t> define shear in the yz plane (x is unchanged)</a:t>
            </a:r>
          </a:p>
        </p:txBody>
      </p:sp>
      <p:sp>
        <p:nvSpPr>
          <p:cNvPr id="9" name="TextBox 8">
            <a:extLst>
              <a:ext uri="{FF2B5EF4-FFF2-40B4-BE49-F238E27FC236}">
                <a16:creationId xmlns:a16="http://schemas.microsoft.com/office/drawing/2014/main" id="{AA4064E0-F0FA-6E56-241F-C46B0F6E2682}"/>
              </a:ext>
            </a:extLst>
          </p:cNvPr>
          <p:cNvSpPr txBox="1"/>
          <p:nvPr/>
        </p:nvSpPr>
        <p:spPr>
          <a:xfrm>
            <a:off x="1984954" y="5253271"/>
            <a:ext cx="8771278" cy="830997"/>
          </a:xfrm>
          <a:prstGeom prst="rect">
            <a:avLst/>
          </a:prstGeom>
          <a:noFill/>
        </p:spPr>
        <p:txBody>
          <a:bodyPr wrap="square" rtlCol="0">
            <a:spAutoFit/>
          </a:bodyPr>
          <a:lstStyle/>
          <a:p>
            <a:pPr algn="ctr"/>
            <a:r>
              <a:rPr lang="en-US" sz="2400">
                <a:solidFill>
                  <a:schemeClr val="bg1"/>
                </a:solidFill>
                <a:latin typeface="Trebuchet MS" panose="020B0703020202090204" pitchFamily="34" charset="0"/>
              </a:rPr>
              <a:t>Note these matrix entries are also used to define rotations,</a:t>
            </a:r>
          </a:p>
          <a:p>
            <a:pPr algn="ctr"/>
            <a:r>
              <a:rPr lang="en-US" sz="2400">
                <a:solidFill>
                  <a:schemeClr val="bg1"/>
                </a:solidFill>
                <a:latin typeface="Trebuchet MS" panose="020B0703020202090204" pitchFamily="34" charset="0"/>
              </a:rPr>
              <a:t> albeit constraining their relative values (to sine and cosine). </a:t>
            </a:r>
          </a:p>
        </p:txBody>
      </p:sp>
    </p:spTree>
    <p:extLst>
      <p:ext uri="{BB962C8B-B14F-4D97-AF65-F5344CB8AC3E}">
        <p14:creationId xmlns:p14="http://schemas.microsoft.com/office/powerpoint/2010/main" val="40959383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33863-2144-CEE5-4990-C276A42640F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2D3086-9394-7449-1D8D-227E714D2E85}"/>
              </a:ext>
            </a:extLst>
          </p:cNvPr>
          <p:cNvSpPr>
            <a:spLocks noGrp="1"/>
          </p:cNvSpPr>
          <p:nvPr>
            <p:ph type="sldNum" sz="quarter" idx="12"/>
          </p:nvPr>
        </p:nvSpPr>
        <p:spPr/>
        <p:txBody>
          <a:bodyPr/>
          <a:lstStyle/>
          <a:p>
            <a:fld id="{6F215E70-FDA5-6C45-8C7C-E922E56675B4}" type="slidenum">
              <a:rPr lang="en-US"/>
              <a:t>59</a:t>
            </a:fld>
            <a:endParaRPr lang="en-US"/>
          </a:p>
        </p:txBody>
      </p:sp>
      <p:sp>
        <p:nvSpPr>
          <p:cNvPr id="3" name="Parallelogram 2">
            <a:extLst>
              <a:ext uri="{FF2B5EF4-FFF2-40B4-BE49-F238E27FC236}">
                <a16:creationId xmlns:a16="http://schemas.microsoft.com/office/drawing/2014/main" id="{099D01A2-7D92-3372-F359-59BA77789B6C}"/>
              </a:ext>
            </a:extLst>
          </p:cNvPr>
          <p:cNvSpPr/>
          <p:nvPr/>
        </p:nvSpPr>
        <p:spPr>
          <a:xfrm>
            <a:off x="7001757" y="894488"/>
            <a:ext cx="2387600" cy="1905000"/>
          </a:xfrm>
          <a:prstGeom prst="parallelogram">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arallelogram 3">
            <a:extLst>
              <a:ext uri="{FF2B5EF4-FFF2-40B4-BE49-F238E27FC236}">
                <a16:creationId xmlns:a16="http://schemas.microsoft.com/office/drawing/2014/main" id="{3A94A1AA-F130-BD6F-0C31-875684BFC280}"/>
              </a:ext>
            </a:extLst>
          </p:cNvPr>
          <p:cNvSpPr/>
          <p:nvPr/>
        </p:nvSpPr>
        <p:spPr>
          <a:xfrm rot="16200000" flipV="1">
            <a:off x="6803158" y="3798094"/>
            <a:ext cx="2387600" cy="1809750"/>
          </a:xfrm>
          <a:prstGeom prst="parallelogram">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D33C14A-910C-182E-CE96-81CB99138A40}"/>
              </a:ext>
            </a:extLst>
          </p:cNvPr>
          <p:cNvSpPr/>
          <p:nvPr/>
        </p:nvSpPr>
        <p:spPr>
          <a:xfrm>
            <a:off x="3746502" y="3964271"/>
            <a:ext cx="1917700" cy="1905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353A5FC4-2A39-DB01-5A61-2EA761C765D8}"/>
              </a:ext>
            </a:extLst>
          </p:cNvPr>
          <p:cNvCxnSpPr>
            <a:cxnSpLocks/>
          </p:cNvCxnSpPr>
          <p:nvPr/>
        </p:nvCxnSpPr>
        <p:spPr>
          <a:xfrm>
            <a:off x="4667252" y="3951571"/>
            <a:ext cx="0" cy="190500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83AE851-BC5A-2FDB-0768-872AF39E1A4B}"/>
              </a:ext>
            </a:extLst>
          </p:cNvPr>
          <p:cNvCxnSpPr>
            <a:cxnSpLocks/>
          </p:cNvCxnSpPr>
          <p:nvPr/>
        </p:nvCxnSpPr>
        <p:spPr>
          <a:xfrm flipH="1">
            <a:off x="3683002" y="4935821"/>
            <a:ext cx="1917700"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083FC592-ED68-2514-FC20-53B08534C235}"/>
              </a:ext>
            </a:extLst>
          </p:cNvPr>
          <p:cNvCxnSpPr>
            <a:cxnSpLocks/>
          </p:cNvCxnSpPr>
          <p:nvPr/>
        </p:nvCxnSpPr>
        <p:spPr>
          <a:xfrm flipH="1">
            <a:off x="7947907" y="869088"/>
            <a:ext cx="473075" cy="190500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E35247B-89A5-56FA-E327-18A289E262A6}"/>
              </a:ext>
            </a:extLst>
          </p:cNvPr>
          <p:cNvCxnSpPr>
            <a:cxnSpLocks/>
          </p:cNvCxnSpPr>
          <p:nvPr/>
        </p:nvCxnSpPr>
        <p:spPr>
          <a:xfrm flipH="1">
            <a:off x="7192257" y="1834288"/>
            <a:ext cx="1917700"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9D4B661E-8972-ED7B-E046-872A82D566E1}"/>
              </a:ext>
            </a:extLst>
          </p:cNvPr>
          <p:cNvCxnSpPr>
            <a:cxnSpLocks/>
          </p:cNvCxnSpPr>
          <p:nvPr/>
        </p:nvCxnSpPr>
        <p:spPr>
          <a:xfrm>
            <a:off x="7958858" y="3750468"/>
            <a:ext cx="0" cy="190500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2255904C-C0C5-137A-589F-4DFF3CFEBB2A}"/>
              </a:ext>
            </a:extLst>
          </p:cNvPr>
          <p:cNvCxnSpPr>
            <a:cxnSpLocks/>
            <a:stCxn id="4" idx="1"/>
            <a:endCxn id="4" idx="3"/>
          </p:cNvCxnSpPr>
          <p:nvPr/>
        </p:nvCxnSpPr>
        <p:spPr>
          <a:xfrm flipH="1">
            <a:off x="7092083" y="4476750"/>
            <a:ext cx="1809750" cy="452438"/>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1F60797D-75F1-6230-490B-531F20733F50}"/>
              </a:ext>
            </a:extLst>
          </p:cNvPr>
          <p:cNvCxnSpPr>
            <a:cxnSpLocks/>
          </p:cNvCxnSpPr>
          <p:nvPr/>
        </p:nvCxnSpPr>
        <p:spPr>
          <a:xfrm flipH="1">
            <a:off x="3683002" y="4583396"/>
            <a:ext cx="1917700"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FC2FC7A2-3165-0601-956C-AF9A979EFDF9}"/>
              </a:ext>
            </a:extLst>
          </p:cNvPr>
          <p:cNvCxnSpPr>
            <a:cxnSpLocks/>
          </p:cNvCxnSpPr>
          <p:nvPr/>
        </p:nvCxnSpPr>
        <p:spPr>
          <a:xfrm flipH="1">
            <a:off x="3683002" y="5288246"/>
            <a:ext cx="1917700"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601AEF34-97D0-4465-0897-C5C779A8634A}"/>
              </a:ext>
            </a:extLst>
          </p:cNvPr>
          <p:cNvCxnSpPr>
            <a:cxnSpLocks/>
          </p:cNvCxnSpPr>
          <p:nvPr/>
        </p:nvCxnSpPr>
        <p:spPr>
          <a:xfrm flipH="1">
            <a:off x="3683002" y="5589871"/>
            <a:ext cx="1917700"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43155058-8904-0148-6B5B-534244D00C34}"/>
              </a:ext>
            </a:extLst>
          </p:cNvPr>
          <p:cNvCxnSpPr>
            <a:cxnSpLocks/>
          </p:cNvCxnSpPr>
          <p:nvPr/>
        </p:nvCxnSpPr>
        <p:spPr>
          <a:xfrm flipH="1">
            <a:off x="3683002" y="4230971"/>
            <a:ext cx="1917700"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965E9F33-3A2B-4158-3B57-89C1C2FF675C}"/>
              </a:ext>
            </a:extLst>
          </p:cNvPr>
          <p:cNvCxnSpPr>
            <a:cxnSpLocks/>
          </p:cNvCxnSpPr>
          <p:nvPr/>
        </p:nvCxnSpPr>
        <p:spPr>
          <a:xfrm flipH="1">
            <a:off x="7117483" y="4108450"/>
            <a:ext cx="1809750" cy="452438"/>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C27F3B9F-DE36-CB23-EE12-3A354803F1DA}"/>
              </a:ext>
            </a:extLst>
          </p:cNvPr>
          <p:cNvCxnSpPr>
            <a:cxnSpLocks/>
          </p:cNvCxnSpPr>
          <p:nvPr/>
        </p:nvCxnSpPr>
        <p:spPr>
          <a:xfrm flipH="1">
            <a:off x="7066683" y="3790950"/>
            <a:ext cx="1809750" cy="452438"/>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467B4D64-6C7D-FDB4-DFDF-A64E4FC51148}"/>
              </a:ext>
            </a:extLst>
          </p:cNvPr>
          <p:cNvCxnSpPr>
            <a:cxnSpLocks/>
          </p:cNvCxnSpPr>
          <p:nvPr/>
        </p:nvCxnSpPr>
        <p:spPr>
          <a:xfrm flipH="1">
            <a:off x="7104783" y="4819650"/>
            <a:ext cx="1809750" cy="452438"/>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8D63A75-ED20-B2D1-A5E0-DAC0878BEC94}"/>
              </a:ext>
            </a:extLst>
          </p:cNvPr>
          <p:cNvCxnSpPr>
            <a:cxnSpLocks/>
          </p:cNvCxnSpPr>
          <p:nvPr/>
        </p:nvCxnSpPr>
        <p:spPr>
          <a:xfrm flipH="1">
            <a:off x="7092083" y="5162550"/>
            <a:ext cx="1809750" cy="452438"/>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26F96CCF-EEA6-1BA7-18F6-1AE1686EDA65}"/>
              </a:ext>
            </a:extLst>
          </p:cNvPr>
          <p:cNvCxnSpPr>
            <a:cxnSpLocks/>
          </p:cNvCxnSpPr>
          <p:nvPr/>
        </p:nvCxnSpPr>
        <p:spPr>
          <a:xfrm>
            <a:off x="4997452" y="3951571"/>
            <a:ext cx="0" cy="190500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A241B3F2-47D4-8D61-ABFC-EF2F58DB753F}"/>
              </a:ext>
            </a:extLst>
          </p:cNvPr>
          <p:cNvCxnSpPr>
            <a:cxnSpLocks/>
          </p:cNvCxnSpPr>
          <p:nvPr/>
        </p:nvCxnSpPr>
        <p:spPr>
          <a:xfrm>
            <a:off x="5327652" y="3951571"/>
            <a:ext cx="0" cy="190500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F68D99D7-7A68-0B46-602A-D8F57D9F59F4}"/>
              </a:ext>
            </a:extLst>
          </p:cNvPr>
          <p:cNvCxnSpPr>
            <a:cxnSpLocks/>
          </p:cNvCxnSpPr>
          <p:nvPr/>
        </p:nvCxnSpPr>
        <p:spPr>
          <a:xfrm>
            <a:off x="4337052" y="3951571"/>
            <a:ext cx="0" cy="190500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044814E8-68ED-FFB3-C3D5-9B0FACBBF9C2}"/>
              </a:ext>
            </a:extLst>
          </p:cNvPr>
          <p:cNvCxnSpPr>
            <a:cxnSpLocks/>
          </p:cNvCxnSpPr>
          <p:nvPr/>
        </p:nvCxnSpPr>
        <p:spPr>
          <a:xfrm>
            <a:off x="4006852" y="3951571"/>
            <a:ext cx="0" cy="190500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B14A1413-1758-7A5F-EA7E-80172F40BEA5}"/>
              </a:ext>
            </a:extLst>
          </p:cNvPr>
          <p:cNvCxnSpPr>
            <a:cxnSpLocks/>
          </p:cNvCxnSpPr>
          <p:nvPr/>
        </p:nvCxnSpPr>
        <p:spPr>
          <a:xfrm>
            <a:off x="8276358" y="3648868"/>
            <a:ext cx="0" cy="190500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C0FA090F-3A10-71E7-20C3-E26B3D24F2BA}"/>
              </a:ext>
            </a:extLst>
          </p:cNvPr>
          <p:cNvCxnSpPr>
            <a:cxnSpLocks/>
          </p:cNvCxnSpPr>
          <p:nvPr/>
        </p:nvCxnSpPr>
        <p:spPr>
          <a:xfrm>
            <a:off x="8593858" y="3598068"/>
            <a:ext cx="0" cy="190500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AEB07EF5-3C20-83D4-8B8E-318EA952CFA7}"/>
              </a:ext>
            </a:extLst>
          </p:cNvPr>
          <p:cNvCxnSpPr>
            <a:cxnSpLocks/>
          </p:cNvCxnSpPr>
          <p:nvPr/>
        </p:nvCxnSpPr>
        <p:spPr>
          <a:xfrm>
            <a:off x="7641358" y="3839368"/>
            <a:ext cx="0" cy="190500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A3D4B68-1419-A6D4-520D-6F1DD43F8CC6}"/>
              </a:ext>
            </a:extLst>
          </p:cNvPr>
          <p:cNvCxnSpPr>
            <a:cxnSpLocks/>
          </p:cNvCxnSpPr>
          <p:nvPr/>
        </p:nvCxnSpPr>
        <p:spPr>
          <a:xfrm>
            <a:off x="7323858" y="3902868"/>
            <a:ext cx="0" cy="190500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5D64A41A-4617-9EA1-839D-69EF82511BFF}"/>
              </a:ext>
            </a:extLst>
          </p:cNvPr>
          <p:cNvCxnSpPr>
            <a:cxnSpLocks/>
          </p:cNvCxnSpPr>
          <p:nvPr/>
        </p:nvCxnSpPr>
        <p:spPr>
          <a:xfrm flipH="1">
            <a:off x="8271757" y="869088"/>
            <a:ext cx="473075" cy="190500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9B9B84BD-60DD-EFFB-E26A-899F7D1BEF4A}"/>
              </a:ext>
            </a:extLst>
          </p:cNvPr>
          <p:cNvCxnSpPr>
            <a:cxnSpLocks/>
          </p:cNvCxnSpPr>
          <p:nvPr/>
        </p:nvCxnSpPr>
        <p:spPr>
          <a:xfrm flipH="1">
            <a:off x="8595607" y="869088"/>
            <a:ext cx="473075" cy="190500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74D6F9AB-25D4-D515-4491-B85AC001E3F3}"/>
              </a:ext>
            </a:extLst>
          </p:cNvPr>
          <p:cNvCxnSpPr>
            <a:cxnSpLocks/>
          </p:cNvCxnSpPr>
          <p:nvPr/>
        </p:nvCxnSpPr>
        <p:spPr>
          <a:xfrm flipH="1">
            <a:off x="7624057" y="869088"/>
            <a:ext cx="473075" cy="190500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B9E1483-E5FC-E45B-DC41-B619AC457CA9}"/>
              </a:ext>
            </a:extLst>
          </p:cNvPr>
          <p:cNvCxnSpPr>
            <a:cxnSpLocks/>
          </p:cNvCxnSpPr>
          <p:nvPr/>
        </p:nvCxnSpPr>
        <p:spPr>
          <a:xfrm flipH="1">
            <a:off x="7300207" y="869088"/>
            <a:ext cx="473075" cy="190500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6FC9090-010C-8B84-2AC3-0449478FC707}"/>
              </a:ext>
            </a:extLst>
          </p:cNvPr>
          <p:cNvCxnSpPr>
            <a:cxnSpLocks/>
          </p:cNvCxnSpPr>
          <p:nvPr/>
        </p:nvCxnSpPr>
        <p:spPr>
          <a:xfrm flipH="1">
            <a:off x="7319257" y="1510438"/>
            <a:ext cx="1917700"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ECB42A31-FBDE-1475-F678-D3B4CC76AF3A}"/>
              </a:ext>
            </a:extLst>
          </p:cNvPr>
          <p:cNvCxnSpPr>
            <a:cxnSpLocks/>
          </p:cNvCxnSpPr>
          <p:nvPr/>
        </p:nvCxnSpPr>
        <p:spPr>
          <a:xfrm flipH="1">
            <a:off x="7395457" y="1186588"/>
            <a:ext cx="1917700"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F23FDBF7-2334-7BA5-A096-4500FC94F2E7}"/>
              </a:ext>
            </a:extLst>
          </p:cNvPr>
          <p:cNvCxnSpPr>
            <a:cxnSpLocks/>
          </p:cNvCxnSpPr>
          <p:nvPr/>
        </p:nvCxnSpPr>
        <p:spPr>
          <a:xfrm flipH="1">
            <a:off x="7166857" y="2158138"/>
            <a:ext cx="1917700"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D534D415-56A4-AB85-AA16-C2B8F294925F}"/>
              </a:ext>
            </a:extLst>
          </p:cNvPr>
          <p:cNvCxnSpPr>
            <a:cxnSpLocks/>
          </p:cNvCxnSpPr>
          <p:nvPr/>
        </p:nvCxnSpPr>
        <p:spPr>
          <a:xfrm flipH="1">
            <a:off x="7116057" y="2481988"/>
            <a:ext cx="1917700"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F2F1E60E-5078-3077-9F63-06B9526D1B47}"/>
              </a:ext>
            </a:extLst>
          </p:cNvPr>
          <p:cNvCxnSpPr>
            <a:cxnSpLocks/>
          </p:cNvCxnSpPr>
          <p:nvPr/>
        </p:nvCxnSpPr>
        <p:spPr>
          <a:xfrm>
            <a:off x="3731988" y="3519771"/>
            <a:ext cx="0" cy="2349500"/>
          </a:xfrm>
          <a:prstGeom prst="straightConnector1">
            <a:avLst/>
          </a:prstGeom>
          <a:ln w="28575">
            <a:solidFill>
              <a:schemeClr val="bg1"/>
            </a:solidFill>
            <a:headEnd type="triangle" w="lg" len="lg"/>
            <a:tailEnd type="none" w="lg" len="lg"/>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F4378292-8C42-B88E-6C60-67FAA0087008}"/>
              </a:ext>
            </a:extLst>
          </p:cNvPr>
          <p:cNvCxnSpPr>
            <a:cxnSpLocks/>
          </p:cNvCxnSpPr>
          <p:nvPr/>
        </p:nvCxnSpPr>
        <p:spPr>
          <a:xfrm flipH="1" flipV="1">
            <a:off x="3711577" y="5866780"/>
            <a:ext cx="2219325" cy="2491"/>
          </a:xfrm>
          <a:prstGeom prst="straightConnector1">
            <a:avLst/>
          </a:prstGeom>
          <a:ln w="28575">
            <a:solidFill>
              <a:schemeClr val="bg1"/>
            </a:solidFill>
            <a:headEnd type="triangle" w="lg" len="lg"/>
            <a:tailEnd type="none" w="lg" len="lg"/>
          </a:ln>
        </p:spPr>
        <p:style>
          <a:lnRef idx="2">
            <a:schemeClr val="accent1"/>
          </a:lnRef>
          <a:fillRef idx="0">
            <a:schemeClr val="accent1"/>
          </a:fillRef>
          <a:effectRef idx="1">
            <a:schemeClr val="accent1"/>
          </a:effectRef>
          <a:fontRef idx="minor">
            <a:schemeClr val="tx1"/>
          </a:fontRef>
        </p:style>
      </p:cxnSp>
      <p:sp>
        <p:nvSpPr>
          <p:cNvPr id="55" name="Oval 54">
            <a:extLst>
              <a:ext uri="{FF2B5EF4-FFF2-40B4-BE49-F238E27FC236}">
                <a16:creationId xmlns:a16="http://schemas.microsoft.com/office/drawing/2014/main" id="{D4CAE738-AA5F-21A3-22C4-FF502E8FD047}"/>
              </a:ext>
            </a:extLst>
          </p:cNvPr>
          <p:cNvSpPr>
            <a:spLocks noChangeAspect="1"/>
          </p:cNvSpPr>
          <p:nvPr/>
        </p:nvSpPr>
        <p:spPr>
          <a:xfrm>
            <a:off x="3643721" y="5784522"/>
            <a:ext cx="182880" cy="182880"/>
          </a:xfrm>
          <a:prstGeom prst="ellipse">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Arrow Connector 61">
            <a:extLst>
              <a:ext uri="{FF2B5EF4-FFF2-40B4-BE49-F238E27FC236}">
                <a16:creationId xmlns:a16="http://schemas.microsoft.com/office/drawing/2014/main" id="{E50EB84B-4CFE-4D2D-D911-ABCAC72A0C89}"/>
              </a:ext>
            </a:extLst>
          </p:cNvPr>
          <p:cNvCxnSpPr>
            <a:cxnSpLocks/>
          </p:cNvCxnSpPr>
          <p:nvPr/>
        </p:nvCxnSpPr>
        <p:spPr>
          <a:xfrm>
            <a:off x="7101608" y="3547269"/>
            <a:ext cx="0" cy="2349500"/>
          </a:xfrm>
          <a:prstGeom prst="straightConnector1">
            <a:avLst/>
          </a:prstGeom>
          <a:ln w="28575">
            <a:solidFill>
              <a:schemeClr val="bg1"/>
            </a:solidFill>
            <a:headEnd type="triangle" w="lg" len="lg"/>
            <a:tailEnd type="none" w="lg" len="lg"/>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3126F3DF-E5C8-5BAA-822E-501506303A1D}"/>
              </a:ext>
            </a:extLst>
          </p:cNvPr>
          <p:cNvCxnSpPr>
            <a:cxnSpLocks/>
          </p:cNvCxnSpPr>
          <p:nvPr/>
        </p:nvCxnSpPr>
        <p:spPr>
          <a:xfrm flipH="1" flipV="1">
            <a:off x="7092083" y="5894278"/>
            <a:ext cx="2219325" cy="2491"/>
          </a:xfrm>
          <a:prstGeom prst="straightConnector1">
            <a:avLst/>
          </a:prstGeom>
          <a:ln w="28575">
            <a:solidFill>
              <a:schemeClr val="bg1"/>
            </a:solidFill>
            <a:headEnd type="triangle" w="lg" len="lg"/>
            <a:tailEnd type="none" w="lg" len="lg"/>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9CC6DA7E-CB07-1409-5048-9DAA02B0A39B}"/>
              </a:ext>
            </a:extLst>
          </p:cNvPr>
          <p:cNvCxnSpPr>
            <a:cxnSpLocks/>
          </p:cNvCxnSpPr>
          <p:nvPr/>
        </p:nvCxnSpPr>
        <p:spPr>
          <a:xfrm>
            <a:off x="7001757" y="424588"/>
            <a:ext cx="0" cy="2349500"/>
          </a:xfrm>
          <a:prstGeom prst="straightConnector1">
            <a:avLst/>
          </a:prstGeom>
          <a:ln w="28575">
            <a:solidFill>
              <a:schemeClr val="bg1"/>
            </a:solidFill>
            <a:headEnd type="triangle" w="lg" len="lg"/>
            <a:tailEnd type="none" w="lg" len="lg"/>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0C238B9F-7D50-622A-8D2B-98B94B760A10}"/>
              </a:ext>
            </a:extLst>
          </p:cNvPr>
          <p:cNvCxnSpPr>
            <a:cxnSpLocks/>
          </p:cNvCxnSpPr>
          <p:nvPr/>
        </p:nvCxnSpPr>
        <p:spPr>
          <a:xfrm flipH="1" flipV="1">
            <a:off x="6992232" y="2771597"/>
            <a:ext cx="2219325" cy="2491"/>
          </a:xfrm>
          <a:prstGeom prst="straightConnector1">
            <a:avLst/>
          </a:prstGeom>
          <a:ln w="28575">
            <a:solidFill>
              <a:schemeClr val="bg1"/>
            </a:solidFill>
            <a:headEnd type="triangle" w="lg" len="lg"/>
            <a:tailEnd type="none" w="lg" len="lg"/>
          </a:ln>
        </p:spPr>
        <p:style>
          <a:lnRef idx="2">
            <a:schemeClr val="accent1"/>
          </a:lnRef>
          <a:fillRef idx="0">
            <a:schemeClr val="accent1"/>
          </a:fillRef>
          <a:effectRef idx="1">
            <a:schemeClr val="accent1"/>
          </a:effectRef>
          <a:fontRef idx="minor">
            <a:schemeClr val="tx1"/>
          </a:fontRef>
        </p:style>
      </p:cxnSp>
      <p:sp>
        <p:nvSpPr>
          <p:cNvPr id="59" name="Oval 58">
            <a:extLst>
              <a:ext uri="{FF2B5EF4-FFF2-40B4-BE49-F238E27FC236}">
                <a16:creationId xmlns:a16="http://schemas.microsoft.com/office/drawing/2014/main" id="{7009E42C-4191-F3BB-3052-7C02ABC97F90}"/>
              </a:ext>
            </a:extLst>
          </p:cNvPr>
          <p:cNvSpPr>
            <a:spLocks noChangeAspect="1"/>
          </p:cNvSpPr>
          <p:nvPr/>
        </p:nvSpPr>
        <p:spPr>
          <a:xfrm>
            <a:off x="7000643" y="5798389"/>
            <a:ext cx="182880" cy="182880"/>
          </a:xfrm>
          <a:prstGeom prst="ellipse">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E43ACD7F-0D8F-7A11-670B-C272F50159DB}"/>
              </a:ext>
            </a:extLst>
          </p:cNvPr>
          <p:cNvSpPr txBox="1"/>
          <p:nvPr/>
        </p:nvSpPr>
        <p:spPr>
          <a:xfrm>
            <a:off x="8744992" y="2861404"/>
            <a:ext cx="679129" cy="461665"/>
          </a:xfrm>
          <a:prstGeom prst="rect">
            <a:avLst/>
          </a:prstGeom>
          <a:noFill/>
        </p:spPr>
        <p:txBody>
          <a:bodyPr wrap="square" rtlCol="0">
            <a:spAutoFit/>
          </a:bodyPr>
          <a:lstStyle/>
          <a:p>
            <a:r>
              <a:rPr lang="en-US" sz="2400" b="1">
                <a:solidFill>
                  <a:schemeClr val="bg1"/>
                </a:solidFill>
                <a:latin typeface="Courier New" panose="02070309020205020404" pitchFamily="49" charset="0"/>
                <a:cs typeface="Courier New" panose="02070309020205020404" pitchFamily="49" charset="0"/>
              </a:rPr>
              <a:t>x’</a:t>
            </a:r>
          </a:p>
        </p:txBody>
      </p:sp>
      <p:sp>
        <p:nvSpPr>
          <p:cNvPr id="67" name="TextBox 66">
            <a:extLst>
              <a:ext uri="{FF2B5EF4-FFF2-40B4-BE49-F238E27FC236}">
                <a16:creationId xmlns:a16="http://schemas.microsoft.com/office/drawing/2014/main" id="{19CB7567-A1E6-7B70-C600-A10A8AC9C6D5}"/>
              </a:ext>
            </a:extLst>
          </p:cNvPr>
          <p:cNvSpPr txBox="1"/>
          <p:nvPr/>
        </p:nvSpPr>
        <p:spPr>
          <a:xfrm>
            <a:off x="8860399" y="6034385"/>
            <a:ext cx="679129" cy="461665"/>
          </a:xfrm>
          <a:prstGeom prst="rect">
            <a:avLst/>
          </a:prstGeom>
          <a:noFill/>
        </p:spPr>
        <p:txBody>
          <a:bodyPr wrap="square" rtlCol="0">
            <a:spAutoFit/>
          </a:bodyPr>
          <a:lstStyle/>
          <a:p>
            <a:r>
              <a:rPr lang="en-US" sz="2400" b="1">
                <a:solidFill>
                  <a:schemeClr val="bg1"/>
                </a:solidFill>
                <a:latin typeface="Courier New" panose="02070309020205020404" pitchFamily="49" charset="0"/>
                <a:cs typeface="Courier New" panose="02070309020205020404" pitchFamily="49" charset="0"/>
              </a:rPr>
              <a:t>x’</a:t>
            </a:r>
          </a:p>
        </p:txBody>
      </p:sp>
      <p:sp>
        <p:nvSpPr>
          <p:cNvPr id="68" name="TextBox 67">
            <a:extLst>
              <a:ext uri="{FF2B5EF4-FFF2-40B4-BE49-F238E27FC236}">
                <a16:creationId xmlns:a16="http://schemas.microsoft.com/office/drawing/2014/main" id="{8173B920-0BD9-B92D-0234-0DB3E3CB67E2}"/>
              </a:ext>
            </a:extLst>
          </p:cNvPr>
          <p:cNvSpPr txBox="1"/>
          <p:nvPr/>
        </p:nvSpPr>
        <p:spPr>
          <a:xfrm>
            <a:off x="5527359" y="6010856"/>
            <a:ext cx="679129" cy="461665"/>
          </a:xfrm>
          <a:prstGeom prst="rect">
            <a:avLst/>
          </a:prstGeom>
          <a:noFill/>
        </p:spPr>
        <p:txBody>
          <a:bodyPr wrap="square" rtlCol="0">
            <a:spAutoFit/>
          </a:bodyPr>
          <a:lstStyle/>
          <a:p>
            <a:r>
              <a:rPr lang="en-US" sz="2400" b="1">
                <a:solidFill>
                  <a:schemeClr val="bg1"/>
                </a:solidFill>
                <a:latin typeface="Courier New" panose="02070309020205020404" pitchFamily="49" charset="0"/>
                <a:cs typeface="Courier New" panose="02070309020205020404" pitchFamily="49" charset="0"/>
              </a:rPr>
              <a:t>x</a:t>
            </a:r>
          </a:p>
        </p:txBody>
      </p:sp>
      <p:sp>
        <p:nvSpPr>
          <p:cNvPr id="69" name="TextBox 68">
            <a:extLst>
              <a:ext uri="{FF2B5EF4-FFF2-40B4-BE49-F238E27FC236}">
                <a16:creationId xmlns:a16="http://schemas.microsoft.com/office/drawing/2014/main" id="{645453B1-BCDA-4FAB-E45A-D06BF05839FC}"/>
              </a:ext>
            </a:extLst>
          </p:cNvPr>
          <p:cNvSpPr txBox="1"/>
          <p:nvPr/>
        </p:nvSpPr>
        <p:spPr>
          <a:xfrm>
            <a:off x="6459153" y="3642089"/>
            <a:ext cx="679129" cy="461665"/>
          </a:xfrm>
          <a:prstGeom prst="rect">
            <a:avLst/>
          </a:prstGeom>
          <a:noFill/>
        </p:spPr>
        <p:txBody>
          <a:bodyPr wrap="square" rtlCol="0">
            <a:spAutoFit/>
          </a:bodyPr>
          <a:lstStyle/>
          <a:p>
            <a:r>
              <a:rPr lang="en-US" sz="2400" b="1">
                <a:solidFill>
                  <a:schemeClr val="bg1"/>
                </a:solidFill>
                <a:latin typeface="Courier New" panose="02070309020205020404" pitchFamily="49" charset="0"/>
                <a:cs typeface="Courier New" panose="02070309020205020404" pitchFamily="49" charset="0"/>
              </a:rPr>
              <a:t>y’</a:t>
            </a:r>
          </a:p>
        </p:txBody>
      </p:sp>
      <p:sp>
        <p:nvSpPr>
          <p:cNvPr id="70" name="TextBox 69">
            <a:extLst>
              <a:ext uri="{FF2B5EF4-FFF2-40B4-BE49-F238E27FC236}">
                <a16:creationId xmlns:a16="http://schemas.microsoft.com/office/drawing/2014/main" id="{5DCA716D-BF00-E496-CAF7-C0516D3BDA83}"/>
              </a:ext>
            </a:extLst>
          </p:cNvPr>
          <p:cNvSpPr txBox="1"/>
          <p:nvPr/>
        </p:nvSpPr>
        <p:spPr>
          <a:xfrm>
            <a:off x="6459153" y="647392"/>
            <a:ext cx="679129" cy="461665"/>
          </a:xfrm>
          <a:prstGeom prst="rect">
            <a:avLst/>
          </a:prstGeom>
          <a:noFill/>
        </p:spPr>
        <p:txBody>
          <a:bodyPr wrap="square" rtlCol="0">
            <a:spAutoFit/>
          </a:bodyPr>
          <a:lstStyle/>
          <a:p>
            <a:r>
              <a:rPr lang="en-US" sz="2400" b="1">
                <a:solidFill>
                  <a:schemeClr val="bg1"/>
                </a:solidFill>
                <a:latin typeface="Courier New" panose="02070309020205020404" pitchFamily="49" charset="0"/>
                <a:cs typeface="Courier New" panose="02070309020205020404" pitchFamily="49" charset="0"/>
              </a:rPr>
              <a:t>y’</a:t>
            </a:r>
          </a:p>
        </p:txBody>
      </p:sp>
      <p:sp>
        <p:nvSpPr>
          <p:cNvPr id="71" name="TextBox 70">
            <a:extLst>
              <a:ext uri="{FF2B5EF4-FFF2-40B4-BE49-F238E27FC236}">
                <a16:creationId xmlns:a16="http://schemas.microsoft.com/office/drawing/2014/main" id="{1ED2FD1E-4DCB-DF75-C800-EBDC7A6CD039}"/>
              </a:ext>
            </a:extLst>
          </p:cNvPr>
          <p:cNvSpPr txBox="1"/>
          <p:nvPr/>
        </p:nvSpPr>
        <p:spPr>
          <a:xfrm>
            <a:off x="3245173" y="3715634"/>
            <a:ext cx="679129" cy="461665"/>
          </a:xfrm>
          <a:prstGeom prst="rect">
            <a:avLst/>
          </a:prstGeom>
          <a:noFill/>
        </p:spPr>
        <p:txBody>
          <a:bodyPr wrap="square" rtlCol="0">
            <a:spAutoFit/>
          </a:bodyPr>
          <a:lstStyle/>
          <a:p>
            <a:r>
              <a:rPr lang="en-US" sz="2400" b="1">
                <a:solidFill>
                  <a:schemeClr val="bg1"/>
                </a:solidFill>
                <a:latin typeface="Courier New" panose="02070309020205020404" pitchFamily="49" charset="0"/>
                <a:cs typeface="Courier New" panose="02070309020205020404" pitchFamily="49" charset="0"/>
              </a:rPr>
              <a:t>y</a:t>
            </a:r>
          </a:p>
        </p:txBody>
      </p:sp>
      <p:sp>
        <p:nvSpPr>
          <p:cNvPr id="82" name="Right Arrow 81">
            <a:extLst>
              <a:ext uri="{FF2B5EF4-FFF2-40B4-BE49-F238E27FC236}">
                <a16:creationId xmlns:a16="http://schemas.microsoft.com/office/drawing/2014/main" id="{E14A79D8-D642-F535-496C-5C7658FA25F0}"/>
              </a:ext>
            </a:extLst>
          </p:cNvPr>
          <p:cNvSpPr/>
          <p:nvPr/>
        </p:nvSpPr>
        <p:spPr>
          <a:xfrm>
            <a:off x="6032976" y="1619710"/>
            <a:ext cx="564106" cy="557813"/>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55472BEB-9F5E-D747-630E-91FCF1303E34}"/>
              </a:ext>
            </a:extLst>
          </p:cNvPr>
          <p:cNvSpPr>
            <a:spLocks noChangeAspect="1"/>
          </p:cNvSpPr>
          <p:nvPr/>
        </p:nvSpPr>
        <p:spPr>
          <a:xfrm>
            <a:off x="6914445" y="2682648"/>
            <a:ext cx="182880" cy="182880"/>
          </a:xfrm>
          <a:prstGeom prst="ellipse">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E31AB5A-4F99-E74B-AC7B-645B0D114279}"/>
              </a:ext>
            </a:extLst>
          </p:cNvPr>
          <p:cNvSpPr txBox="1"/>
          <p:nvPr/>
        </p:nvSpPr>
        <p:spPr>
          <a:xfrm>
            <a:off x="9752423" y="4001203"/>
            <a:ext cx="2115930" cy="1200329"/>
          </a:xfrm>
          <a:prstGeom prst="rect">
            <a:avLst/>
          </a:prstGeom>
          <a:noFill/>
        </p:spPr>
        <p:txBody>
          <a:bodyPr wrap="square" rtlCol="0">
            <a:spAutoFit/>
          </a:bodyPr>
          <a:lstStyle/>
          <a:p>
            <a:r>
              <a:rPr lang="en-US" sz="2400" b="1">
                <a:solidFill>
                  <a:schemeClr val="bg1"/>
                </a:solidFill>
                <a:latin typeface="Courier New" panose="02070309020205020404" pitchFamily="49" charset="0"/>
                <a:cs typeface="Courier New" panose="02070309020205020404" pitchFamily="49" charset="0"/>
              </a:rPr>
              <a:t>x’= x </a:t>
            </a:r>
          </a:p>
          <a:p>
            <a:r>
              <a:rPr lang="en-US" sz="2400" b="1">
                <a:solidFill>
                  <a:schemeClr val="bg1"/>
                </a:solidFill>
                <a:latin typeface="Courier New" panose="02070309020205020404" pitchFamily="49" charset="0"/>
                <a:cs typeface="Courier New" panose="02070309020205020404" pitchFamily="49" charset="0"/>
              </a:rPr>
              <a:t>y’= y + </a:t>
            </a:r>
            <a:r>
              <a:rPr lang="en-US" sz="2400" b="1">
                <a:solidFill>
                  <a:srgbClr val="FFFF00"/>
                </a:solidFill>
                <a:latin typeface="Courier New" panose="02070309020205020404" pitchFamily="49" charset="0"/>
                <a:cs typeface="Courier New" panose="02070309020205020404" pitchFamily="49" charset="0"/>
              </a:rPr>
              <a:t>m</a:t>
            </a:r>
            <a:r>
              <a:rPr lang="en-US" sz="2400" b="1">
                <a:solidFill>
                  <a:schemeClr val="bg1"/>
                </a:solidFill>
                <a:latin typeface="Courier New" panose="02070309020205020404" pitchFamily="49" charset="0"/>
                <a:cs typeface="Courier New" panose="02070309020205020404" pitchFamily="49" charset="0"/>
              </a:rPr>
              <a:t>x</a:t>
            </a:r>
          </a:p>
          <a:p>
            <a:r>
              <a:rPr lang="en-US" sz="2400" b="1">
                <a:solidFill>
                  <a:schemeClr val="bg1"/>
                </a:solidFill>
                <a:latin typeface="Courier New" panose="02070309020205020404" pitchFamily="49" charset="0"/>
                <a:cs typeface="Courier New" panose="02070309020205020404" pitchFamily="49" charset="0"/>
              </a:rPr>
              <a:t>z’= z</a:t>
            </a:r>
          </a:p>
        </p:txBody>
      </p:sp>
      <p:sp>
        <p:nvSpPr>
          <p:cNvPr id="9" name="TextBox 8">
            <a:extLst>
              <a:ext uri="{FF2B5EF4-FFF2-40B4-BE49-F238E27FC236}">
                <a16:creationId xmlns:a16="http://schemas.microsoft.com/office/drawing/2014/main" id="{B72FF80C-F7AA-A071-A615-6A6857BF23AC}"/>
              </a:ext>
            </a:extLst>
          </p:cNvPr>
          <p:cNvSpPr txBox="1"/>
          <p:nvPr/>
        </p:nvSpPr>
        <p:spPr>
          <a:xfrm>
            <a:off x="9713207" y="1397203"/>
            <a:ext cx="2115930" cy="1200329"/>
          </a:xfrm>
          <a:prstGeom prst="rect">
            <a:avLst/>
          </a:prstGeom>
          <a:noFill/>
        </p:spPr>
        <p:txBody>
          <a:bodyPr wrap="square" rtlCol="0">
            <a:spAutoFit/>
          </a:bodyPr>
          <a:lstStyle/>
          <a:p>
            <a:r>
              <a:rPr lang="en-US" sz="2400" b="1">
                <a:solidFill>
                  <a:schemeClr val="bg1"/>
                </a:solidFill>
                <a:latin typeface="Courier New" panose="02070309020205020404" pitchFamily="49" charset="0"/>
                <a:cs typeface="Courier New" panose="02070309020205020404" pitchFamily="49" charset="0"/>
              </a:rPr>
              <a:t>x’= x + </a:t>
            </a:r>
            <a:r>
              <a:rPr lang="en-US" sz="2400" b="1">
                <a:solidFill>
                  <a:srgbClr val="FFFF00"/>
                </a:solidFill>
                <a:latin typeface="Courier New" panose="02070309020205020404" pitchFamily="49" charset="0"/>
                <a:cs typeface="Courier New" panose="02070309020205020404" pitchFamily="49" charset="0"/>
              </a:rPr>
              <a:t>m</a:t>
            </a:r>
            <a:r>
              <a:rPr lang="en-US" sz="2400" b="1">
                <a:solidFill>
                  <a:schemeClr val="bg1"/>
                </a:solidFill>
                <a:latin typeface="Courier New" panose="02070309020205020404" pitchFamily="49" charset="0"/>
                <a:cs typeface="Courier New" panose="02070309020205020404" pitchFamily="49" charset="0"/>
              </a:rPr>
              <a:t>y</a:t>
            </a:r>
          </a:p>
          <a:p>
            <a:r>
              <a:rPr lang="en-US" sz="2400" b="1">
                <a:solidFill>
                  <a:schemeClr val="bg1"/>
                </a:solidFill>
                <a:latin typeface="Courier New" panose="02070309020205020404" pitchFamily="49" charset="0"/>
                <a:cs typeface="Courier New" panose="02070309020205020404" pitchFamily="49" charset="0"/>
              </a:rPr>
              <a:t>y’= y</a:t>
            </a:r>
          </a:p>
          <a:p>
            <a:r>
              <a:rPr lang="en-US" sz="2400" b="1">
                <a:solidFill>
                  <a:schemeClr val="bg1"/>
                </a:solidFill>
                <a:latin typeface="Courier New" panose="02070309020205020404" pitchFamily="49" charset="0"/>
                <a:cs typeface="Courier New" panose="02070309020205020404" pitchFamily="49" charset="0"/>
              </a:rPr>
              <a:t>z’= z</a:t>
            </a:r>
          </a:p>
        </p:txBody>
      </p:sp>
      <p:sp>
        <p:nvSpPr>
          <p:cNvPr id="10" name="Rectangle 9">
            <a:extLst>
              <a:ext uri="{FF2B5EF4-FFF2-40B4-BE49-F238E27FC236}">
                <a16:creationId xmlns:a16="http://schemas.microsoft.com/office/drawing/2014/main" id="{C89A4B76-2563-75CE-F647-D773DDA40728}"/>
              </a:ext>
            </a:extLst>
          </p:cNvPr>
          <p:cNvSpPr/>
          <p:nvPr/>
        </p:nvSpPr>
        <p:spPr>
          <a:xfrm>
            <a:off x="3770088" y="904464"/>
            <a:ext cx="1917700" cy="1905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E455B53E-B87A-0D69-4111-5B90D5B29F83}"/>
              </a:ext>
            </a:extLst>
          </p:cNvPr>
          <p:cNvCxnSpPr>
            <a:cxnSpLocks/>
          </p:cNvCxnSpPr>
          <p:nvPr/>
        </p:nvCxnSpPr>
        <p:spPr>
          <a:xfrm>
            <a:off x="4716238" y="904464"/>
            <a:ext cx="0" cy="190500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A8A71C80-B3B0-86FD-57D8-7F1C644E21B5}"/>
              </a:ext>
            </a:extLst>
          </p:cNvPr>
          <p:cNvCxnSpPr>
            <a:cxnSpLocks/>
          </p:cNvCxnSpPr>
          <p:nvPr/>
        </p:nvCxnSpPr>
        <p:spPr>
          <a:xfrm flipH="1">
            <a:off x="3731988" y="1888714"/>
            <a:ext cx="1917700"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80CA0E88-AB9C-FF43-EE14-0F429BF26F9A}"/>
              </a:ext>
            </a:extLst>
          </p:cNvPr>
          <p:cNvCxnSpPr>
            <a:cxnSpLocks/>
          </p:cNvCxnSpPr>
          <p:nvPr/>
        </p:nvCxnSpPr>
        <p:spPr>
          <a:xfrm flipH="1">
            <a:off x="3731988" y="1536289"/>
            <a:ext cx="1917700"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A188992-5989-6D6D-BC42-B7F7204B7B27}"/>
              </a:ext>
            </a:extLst>
          </p:cNvPr>
          <p:cNvCxnSpPr>
            <a:cxnSpLocks/>
          </p:cNvCxnSpPr>
          <p:nvPr/>
        </p:nvCxnSpPr>
        <p:spPr>
          <a:xfrm flipH="1">
            <a:off x="3731988" y="2241139"/>
            <a:ext cx="1917700"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8D44DC3D-4B7A-D2E2-714D-FDCF574DF56A}"/>
              </a:ext>
            </a:extLst>
          </p:cNvPr>
          <p:cNvCxnSpPr>
            <a:cxnSpLocks/>
          </p:cNvCxnSpPr>
          <p:nvPr/>
        </p:nvCxnSpPr>
        <p:spPr>
          <a:xfrm flipH="1">
            <a:off x="3731988" y="2555464"/>
            <a:ext cx="1917700"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AC4FB314-5226-83DE-6B6F-93117F4059C9}"/>
              </a:ext>
            </a:extLst>
          </p:cNvPr>
          <p:cNvCxnSpPr>
            <a:cxnSpLocks/>
          </p:cNvCxnSpPr>
          <p:nvPr/>
        </p:nvCxnSpPr>
        <p:spPr>
          <a:xfrm flipH="1">
            <a:off x="3731988" y="1183864"/>
            <a:ext cx="1917700"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1C8FDB5-B10F-5EDC-BD31-C9A7D1AF8877}"/>
              </a:ext>
            </a:extLst>
          </p:cNvPr>
          <p:cNvCxnSpPr>
            <a:cxnSpLocks/>
          </p:cNvCxnSpPr>
          <p:nvPr/>
        </p:nvCxnSpPr>
        <p:spPr>
          <a:xfrm>
            <a:off x="5046438" y="904464"/>
            <a:ext cx="0" cy="190500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E14CCBE9-306B-28AB-95B2-0EA7910CD080}"/>
              </a:ext>
            </a:extLst>
          </p:cNvPr>
          <p:cNvCxnSpPr>
            <a:cxnSpLocks/>
          </p:cNvCxnSpPr>
          <p:nvPr/>
        </p:nvCxnSpPr>
        <p:spPr>
          <a:xfrm>
            <a:off x="5376638" y="904464"/>
            <a:ext cx="0" cy="190500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336437D7-1BC9-0AF8-F118-3E079F4541AD}"/>
              </a:ext>
            </a:extLst>
          </p:cNvPr>
          <p:cNvCxnSpPr>
            <a:cxnSpLocks/>
          </p:cNvCxnSpPr>
          <p:nvPr/>
        </p:nvCxnSpPr>
        <p:spPr>
          <a:xfrm>
            <a:off x="4386038" y="904464"/>
            <a:ext cx="0" cy="190500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F0DB5FA2-D37E-7C4D-B574-A0CD4233D25D}"/>
              </a:ext>
            </a:extLst>
          </p:cNvPr>
          <p:cNvCxnSpPr>
            <a:cxnSpLocks/>
          </p:cNvCxnSpPr>
          <p:nvPr/>
        </p:nvCxnSpPr>
        <p:spPr>
          <a:xfrm>
            <a:off x="4055838" y="904464"/>
            <a:ext cx="0" cy="190500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20CADD08-057D-BBB6-3C0B-78205C92A081}"/>
              </a:ext>
            </a:extLst>
          </p:cNvPr>
          <p:cNvCxnSpPr>
            <a:cxnSpLocks/>
          </p:cNvCxnSpPr>
          <p:nvPr/>
        </p:nvCxnSpPr>
        <p:spPr>
          <a:xfrm>
            <a:off x="3744688" y="472664"/>
            <a:ext cx="0" cy="2349500"/>
          </a:xfrm>
          <a:prstGeom prst="straightConnector1">
            <a:avLst/>
          </a:prstGeom>
          <a:ln w="28575">
            <a:solidFill>
              <a:schemeClr val="bg1"/>
            </a:solidFill>
            <a:headEnd type="triangle" w="lg" len="lg"/>
            <a:tailEnd type="none" w="lg" len="lg"/>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8C5986CD-0C1E-515C-D034-35277494DC6B}"/>
              </a:ext>
            </a:extLst>
          </p:cNvPr>
          <p:cNvCxnSpPr>
            <a:cxnSpLocks/>
          </p:cNvCxnSpPr>
          <p:nvPr/>
        </p:nvCxnSpPr>
        <p:spPr>
          <a:xfrm flipH="1" flipV="1">
            <a:off x="3760563" y="2819673"/>
            <a:ext cx="2219325" cy="2491"/>
          </a:xfrm>
          <a:prstGeom prst="straightConnector1">
            <a:avLst/>
          </a:prstGeom>
          <a:ln w="28575">
            <a:solidFill>
              <a:schemeClr val="bg1"/>
            </a:solidFill>
            <a:headEnd type="triangle" w="lg" len="lg"/>
            <a:tailEnd type="none" w="lg" len="lg"/>
          </a:ln>
        </p:spPr>
        <p:style>
          <a:lnRef idx="2">
            <a:schemeClr val="accent1"/>
          </a:lnRef>
          <a:fillRef idx="0">
            <a:schemeClr val="accent1"/>
          </a:fillRef>
          <a:effectRef idx="1">
            <a:schemeClr val="accent1"/>
          </a:effectRef>
          <a:fontRef idx="minor">
            <a:schemeClr val="tx1"/>
          </a:fontRef>
        </p:style>
      </p:cxnSp>
      <p:sp>
        <p:nvSpPr>
          <p:cNvPr id="75" name="Oval 74">
            <a:extLst>
              <a:ext uri="{FF2B5EF4-FFF2-40B4-BE49-F238E27FC236}">
                <a16:creationId xmlns:a16="http://schemas.microsoft.com/office/drawing/2014/main" id="{7DD6CE1A-E94A-070E-9A6C-75DF8438A082}"/>
              </a:ext>
            </a:extLst>
          </p:cNvPr>
          <p:cNvSpPr>
            <a:spLocks noChangeAspect="1"/>
          </p:cNvSpPr>
          <p:nvPr/>
        </p:nvSpPr>
        <p:spPr>
          <a:xfrm>
            <a:off x="3656421" y="2737415"/>
            <a:ext cx="182880" cy="182880"/>
          </a:xfrm>
          <a:prstGeom prst="ellipse">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65889F6B-45B0-073C-D0AA-F776FEB48C02}"/>
              </a:ext>
            </a:extLst>
          </p:cNvPr>
          <p:cNvSpPr txBox="1"/>
          <p:nvPr/>
        </p:nvSpPr>
        <p:spPr>
          <a:xfrm>
            <a:off x="5576345" y="2963749"/>
            <a:ext cx="679129" cy="461665"/>
          </a:xfrm>
          <a:prstGeom prst="rect">
            <a:avLst/>
          </a:prstGeom>
          <a:noFill/>
        </p:spPr>
        <p:txBody>
          <a:bodyPr wrap="square" rtlCol="0">
            <a:spAutoFit/>
          </a:bodyPr>
          <a:lstStyle/>
          <a:p>
            <a:r>
              <a:rPr lang="en-US" sz="2400" b="1">
                <a:solidFill>
                  <a:schemeClr val="bg1"/>
                </a:solidFill>
                <a:latin typeface="Courier New" panose="02070309020205020404" pitchFamily="49" charset="0"/>
                <a:cs typeface="Courier New" panose="02070309020205020404" pitchFamily="49" charset="0"/>
              </a:rPr>
              <a:t>x</a:t>
            </a:r>
          </a:p>
        </p:txBody>
      </p:sp>
      <p:sp>
        <p:nvSpPr>
          <p:cNvPr id="79" name="TextBox 78">
            <a:extLst>
              <a:ext uri="{FF2B5EF4-FFF2-40B4-BE49-F238E27FC236}">
                <a16:creationId xmlns:a16="http://schemas.microsoft.com/office/drawing/2014/main" id="{58CEBCBF-E7C3-3B0E-0753-14D08D4E1BE6}"/>
              </a:ext>
            </a:extLst>
          </p:cNvPr>
          <p:cNvSpPr txBox="1"/>
          <p:nvPr/>
        </p:nvSpPr>
        <p:spPr>
          <a:xfrm>
            <a:off x="3294159" y="668527"/>
            <a:ext cx="679129" cy="461665"/>
          </a:xfrm>
          <a:prstGeom prst="rect">
            <a:avLst/>
          </a:prstGeom>
          <a:noFill/>
        </p:spPr>
        <p:txBody>
          <a:bodyPr wrap="square" rtlCol="0">
            <a:spAutoFit/>
          </a:bodyPr>
          <a:lstStyle/>
          <a:p>
            <a:r>
              <a:rPr lang="en-US" sz="2400" b="1">
                <a:solidFill>
                  <a:schemeClr val="bg1"/>
                </a:solidFill>
                <a:latin typeface="Courier New" panose="02070309020205020404" pitchFamily="49" charset="0"/>
                <a:cs typeface="Courier New" panose="02070309020205020404" pitchFamily="49" charset="0"/>
              </a:rPr>
              <a:t>y</a:t>
            </a:r>
          </a:p>
        </p:txBody>
      </p:sp>
      <p:sp>
        <p:nvSpPr>
          <p:cNvPr id="80" name="TextBox 79">
            <a:extLst>
              <a:ext uri="{FF2B5EF4-FFF2-40B4-BE49-F238E27FC236}">
                <a16:creationId xmlns:a16="http://schemas.microsoft.com/office/drawing/2014/main" id="{3CE66FC9-23E7-9BCE-320A-65AF6AC6B69D}"/>
              </a:ext>
            </a:extLst>
          </p:cNvPr>
          <p:cNvSpPr txBox="1"/>
          <p:nvPr/>
        </p:nvSpPr>
        <p:spPr>
          <a:xfrm>
            <a:off x="1015212" y="1165692"/>
            <a:ext cx="1433030" cy="1200329"/>
          </a:xfrm>
          <a:prstGeom prst="rect">
            <a:avLst/>
          </a:prstGeom>
          <a:noFill/>
        </p:spPr>
        <p:txBody>
          <a:bodyPr wrap="square" rtlCol="0">
            <a:spAutoFit/>
          </a:bodyPr>
          <a:lstStyle/>
          <a:p>
            <a:r>
              <a:rPr lang="en-US" sz="2400" b="1">
                <a:solidFill>
                  <a:schemeClr val="bg1"/>
                </a:solidFill>
                <a:latin typeface="Courier New" panose="02070309020205020404" pitchFamily="49" charset="0"/>
                <a:cs typeface="Courier New" panose="02070309020205020404" pitchFamily="49" charset="0"/>
              </a:rPr>
              <a:t>1 </a:t>
            </a:r>
            <a:r>
              <a:rPr lang="en-US" sz="2400" b="1">
                <a:solidFill>
                  <a:srgbClr val="FFFF00"/>
                </a:solidFill>
                <a:latin typeface="Courier New" panose="02070309020205020404" pitchFamily="49" charset="0"/>
                <a:cs typeface="Courier New" panose="02070309020205020404" pitchFamily="49" charset="0"/>
              </a:rPr>
              <a:t> </a:t>
            </a:r>
            <a:r>
              <a:rPr lang="en-US" sz="2400" b="1" baseline="-25000">
                <a:solidFill>
                  <a:schemeClr val="bg1"/>
                </a:solidFill>
                <a:latin typeface="Courier New" panose="02070309020205020404" pitchFamily="49" charset="0"/>
                <a:cs typeface="Courier New" panose="02070309020205020404" pitchFamily="49" charset="0"/>
              </a:rPr>
              <a:t> </a:t>
            </a:r>
            <a:r>
              <a:rPr lang="en-US" sz="2400" b="1">
                <a:solidFill>
                  <a:schemeClr val="bg1"/>
                </a:solidFill>
                <a:latin typeface="Courier New" panose="02070309020205020404" pitchFamily="49" charset="0"/>
                <a:cs typeface="Courier New" panose="02070309020205020404" pitchFamily="49" charset="0"/>
              </a:rPr>
              <a:t>0</a:t>
            </a:r>
            <a:r>
              <a:rPr lang="en-US" sz="2400" b="1" baseline="-25000">
                <a:solidFill>
                  <a:schemeClr val="bg1"/>
                </a:solidFill>
                <a:latin typeface="Courier New" panose="02070309020205020404" pitchFamily="49" charset="0"/>
                <a:cs typeface="Courier New" panose="02070309020205020404" pitchFamily="49" charset="0"/>
              </a:rPr>
              <a:t> </a:t>
            </a:r>
            <a:r>
              <a:rPr lang="en-US" sz="2400" b="1">
                <a:solidFill>
                  <a:schemeClr val="bg1"/>
                </a:solidFill>
                <a:latin typeface="Courier New" panose="02070309020205020404" pitchFamily="49" charset="0"/>
                <a:cs typeface="Courier New" panose="02070309020205020404" pitchFamily="49" charset="0"/>
              </a:rPr>
              <a:t>0</a:t>
            </a:r>
          </a:p>
          <a:p>
            <a:r>
              <a:rPr lang="en-US" sz="2400" b="1">
                <a:solidFill>
                  <a:schemeClr val="bg1"/>
                </a:solidFill>
                <a:latin typeface="Courier New" panose="02070309020205020404" pitchFamily="49" charset="0"/>
                <a:cs typeface="Courier New" panose="02070309020205020404" pitchFamily="49" charset="0"/>
              </a:rPr>
              <a:t>0</a:t>
            </a:r>
            <a:r>
              <a:rPr lang="en-US" sz="2400" b="1" baseline="-25000">
                <a:solidFill>
                  <a:schemeClr val="bg1"/>
                </a:solidFill>
                <a:latin typeface="Courier New" panose="02070309020205020404" pitchFamily="49" charset="0"/>
                <a:cs typeface="Courier New" panose="02070309020205020404" pitchFamily="49" charset="0"/>
              </a:rPr>
              <a:t> </a:t>
            </a:r>
            <a:r>
              <a:rPr lang="en-US" sz="2400" b="1">
                <a:solidFill>
                  <a:schemeClr val="bg1"/>
                </a:solidFill>
                <a:latin typeface="Courier New" panose="02070309020205020404" pitchFamily="49" charset="0"/>
                <a:cs typeface="Courier New" panose="02070309020205020404" pitchFamily="49" charset="0"/>
              </a:rPr>
              <a:t>1 0</a:t>
            </a:r>
            <a:r>
              <a:rPr lang="en-US" sz="2400" b="1" baseline="-25000">
                <a:solidFill>
                  <a:schemeClr val="bg1"/>
                </a:solidFill>
                <a:latin typeface="Courier New" panose="02070309020205020404" pitchFamily="49" charset="0"/>
                <a:cs typeface="Courier New" panose="02070309020205020404" pitchFamily="49" charset="0"/>
              </a:rPr>
              <a:t> </a:t>
            </a:r>
            <a:r>
              <a:rPr lang="en-US" sz="2400" b="1">
                <a:solidFill>
                  <a:schemeClr val="bg1"/>
                </a:solidFill>
                <a:latin typeface="Courier New" panose="02070309020205020404" pitchFamily="49" charset="0"/>
                <a:cs typeface="Courier New" panose="02070309020205020404" pitchFamily="49" charset="0"/>
              </a:rPr>
              <a:t>0</a:t>
            </a:r>
          </a:p>
          <a:p>
            <a:r>
              <a:rPr lang="en-US" sz="2400" b="1">
                <a:solidFill>
                  <a:schemeClr val="bg1"/>
                </a:solidFill>
                <a:latin typeface="Courier New" panose="02070309020205020404" pitchFamily="49" charset="0"/>
                <a:cs typeface="Courier New" panose="02070309020205020404" pitchFamily="49" charset="0"/>
              </a:rPr>
              <a:t>0</a:t>
            </a:r>
            <a:r>
              <a:rPr lang="en-US" sz="2400" b="1" baseline="-25000">
                <a:solidFill>
                  <a:schemeClr val="bg1"/>
                </a:solidFill>
                <a:latin typeface="Courier New" panose="02070309020205020404" pitchFamily="49" charset="0"/>
                <a:cs typeface="Courier New" panose="02070309020205020404" pitchFamily="49" charset="0"/>
              </a:rPr>
              <a:t> </a:t>
            </a:r>
            <a:r>
              <a:rPr lang="en-US" sz="2400" b="1">
                <a:solidFill>
                  <a:schemeClr val="bg1"/>
                </a:solidFill>
                <a:latin typeface="Courier New" panose="02070309020205020404" pitchFamily="49" charset="0"/>
                <a:cs typeface="Courier New" panose="02070309020205020404" pitchFamily="49" charset="0"/>
              </a:rPr>
              <a:t>0</a:t>
            </a:r>
            <a:r>
              <a:rPr lang="en-US" sz="2400" b="1" baseline="-25000">
                <a:solidFill>
                  <a:schemeClr val="bg1"/>
                </a:solidFill>
                <a:latin typeface="Courier New" panose="02070309020205020404" pitchFamily="49" charset="0"/>
                <a:cs typeface="Courier New" panose="02070309020205020404" pitchFamily="49" charset="0"/>
              </a:rPr>
              <a:t> </a:t>
            </a:r>
            <a:r>
              <a:rPr lang="en-US" sz="2400" b="1">
                <a:solidFill>
                  <a:schemeClr val="bg1"/>
                </a:solidFill>
                <a:latin typeface="Courier New" panose="02070309020205020404" pitchFamily="49" charset="0"/>
                <a:cs typeface="Courier New" panose="02070309020205020404" pitchFamily="49" charset="0"/>
              </a:rPr>
              <a:t>1 0</a:t>
            </a:r>
          </a:p>
        </p:txBody>
      </p:sp>
      <p:sp>
        <p:nvSpPr>
          <p:cNvPr id="81" name="Left Bracket 80">
            <a:extLst>
              <a:ext uri="{FF2B5EF4-FFF2-40B4-BE49-F238E27FC236}">
                <a16:creationId xmlns:a16="http://schemas.microsoft.com/office/drawing/2014/main" id="{565B40F9-56C9-051F-294B-816681EC95DC}"/>
              </a:ext>
            </a:extLst>
          </p:cNvPr>
          <p:cNvSpPr/>
          <p:nvPr/>
        </p:nvSpPr>
        <p:spPr>
          <a:xfrm>
            <a:off x="903283" y="1209634"/>
            <a:ext cx="197992" cy="1525718"/>
          </a:xfrm>
          <a:prstGeom prst="leftBracket">
            <a:avLst/>
          </a:prstGeom>
          <a:ln w="349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n>
                <a:solidFill>
                  <a:schemeClr val="bg1"/>
                </a:solidFill>
              </a:ln>
            </a:endParaRPr>
          </a:p>
        </p:txBody>
      </p:sp>
      <p:sp>
        <p:nvSpPr>
          <p:cNvPr id="84" name="Left Bracket 83">
            <a:extLst>
              <a:ext uri="{FF2B5EF4-FFF2-40B4-BE49-F238E27FC236}">
                <a16:creationId xmlns:a16="http://schemas.microsoft.com/office/drawing/2014/main" id="{859F497C-A543-B969-6799-994AEB874380}"/>
              </a:ext>
            </a:extLst>
          </p:cNvPr>
          <p:cNvSpPr/>
          <p:nvPr/>
        </p:nvSpPr>
        <p:spPr>
          <a:xfrm rot="10800000">
            <a:off x="2390341" y="1209634"/>
            <a:ext cx="197992" cy="1525718"/>
          </a:xfrm>
          <a:prstGeom prst="leftBracket">
            <a:avLst/>
          </a:prstGeom>
          <a:ln w="349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n>
                <a:solidFill>
                  <a:schemeClr val="bg1"/>
                </a:solidFill>
              </a:ln>
            </a:endParaRPr>
          </a:p>
        </p:txBody>
      </p:sp>
      <p:sp>
        <p:nvSpPr>
          <p:cNvPr id="85" name="TextBox 84">
            <a:extLst>
              <a:ext uri="{FF2B5EF4-FFF2-40B4-BE49-F238E27FC236}">
                <a16:creationId xmlns:a16="http://schemas.microsoft.com/office/drawing/2014/main" id="{2011FB41-D440-BE8D-67AF-13619E13AE2D}"/>
              </a:ext>
            </a:extLst>
          </p:cNvPr>
          <p:cNvSpPr txBox="1"/>
          <p:nvPr/>
        </p:nvSpPr>
        <p:spPr>
          <a:xfrm>
            <a:off x="1008914" y="2280557"/>
            <a:ext cx="1457558" cy="461665"/>
          </a:xfrm>
          <a:prstGeom prst="rect">
            <a:avLst/>
          </a:prstGeom>
          <a:noFill/>
        </p:spPr>
        <p:txBody>
          <a:bodyPr wrap="square" rtlCol="0">
            <a:spAutoFit/>
          </a:bodyPr>
          <a:lstStyle/>
          <a:p>
            <a:r>
              <a:rPr lang="en-US" sz="2400" b="1">
                <a:solidFill>
                  <a:schemeClr val="bg1"/>
                </a:solidFill>
                <a:latin typeface="Courier New" panose="02070309020205020404" pitchFamily="49" charset="0"/>
                <a:cs typeface="Courier New" panose="02070309020205020404" pitchFamily="49" charset="0"/>
              </a:rPr>
              <a:t>0</a:t>
            </a:r>
            <a:r>
              <a:rPr lang="en-US" sz="2400" b="1" baseline="-25000">
                <a:solidFill>
                  <a:schemeClr val="bg1"/>
                </a:solidFill>
                <a:latin typeface="Courier New" panose="02070309020205020404" pitchFamily="49" charset="0"/>
                <a:cs typeface="Courier New" panose="02070309020205020404" pitchFamily="49" charset="0"/>
              </a:rPr>
              <a:t> </a:t>
            </a:r>
            <a:r>
              <a:rPr lang="en-US" sz="2400" b="1">
                <a:solidFill>
                  <a:schemeClr val="bg1"/>
                </a:solidFill>
                <a:latin typeface="Courier New" panose="02070309020205020404" pitchFamily="49" charset="0"/>
                <a:cs typeface="Courier New" panose="02070309020205020404" pitchFamily="49" charset="0"/>
              </a:rPr>
              <a:t>0 0 1</a:t>
            </a:r>
          </a:p>
        </p:txBody>
      </p:sp>
      <p:sp>
        <p:nvSpPr>
          <p:cNvPr id="86" name="TextBox 85">
            <a:extLst>
              <a:ext uri="{FF2B5EF4-FFF2-40B4-BE49-F238E27FC236}">
                <a16:creationId xmlns:a16="http://schemas.microsoft.com/office/drawing/2014/main" id="{7DFB7481-F737-D052-E36E-4FD6CA10C64F}"/>
              </a:ext>
            </a:extLst>
          </p:cNvPr>
          <p:cNvSpPr txBox="1"/>
          <p:nvPr/>
        </p:nvSpPr>
        <p:spPr>
          <a:xfrm>
            <a:off x="2790322" y="1536289"/>
            <a:ext cx="719557" cy="769441"/>
          </a:xfrm>
          <a:prstGeom prst="rect">
            <a:avLst/>
          </a:prstGeom>
          <a:noFill/>
        </p:spPr>
        <p:txBody>
          <a:bodyPr wrap="square" rtlCol="0">
            <a:spAutoFit/>
          </a:bodyPr>
          <a:lstStyle/>
          <a:p>
            <a:r>
              <a:rPr lang="en-US" sz="4400" b="1">
                <a:solidFill>
                  <a:schemeClr val="bg1"/>
                </a:solidFill>
                <a:latin typeface="Courier New" panose="02070309020205020404" pitchFamily="49" charset="0"/>
                <a:cs typeface="Courier New" panose="02070309020205020404" pitchFamily="49" charset="0"/>
              </a:rPr>
              <a:t>:</a:t>
            </a:r>
          </a:p>
        </p:txBody>
      </p:sp>
      <p:sp>
        <p:nvSpPr>
          <p:cNvPr id="87" name="TextBox 86">
            <a:extLst>
              <a:ext uri="{FF2B5EF4-FFF2-40B4-BE49-F238E27FC236}">
                <a16:creationId xmlns:a16="http://schemas.microsoft.com/office/drawing/2014/main" id="{64F72197-3B51-1AB7-E234-638F2357E3B6}"/>
              </a:ext>
            </a:extLst>
          </p:cNvPr>
          <p:cNvSpPr txBox="1"/>
          <p:nvPr/>
        </p:nvSpPr>
        <p:spPr>
          <a:xfrm>
            <a:off x="999900" y="4101805"/>
            <a:ext cx="1365536" cy="1200329"/>
          </a:xfrm>
          <a:prstGeom prst="rect">
            <a:avLst/>
          </a:prstGeom>
          <a:noFill/>
        </p:spPr>
        <p:txBody>
          <a:bodyPr wrap="square" rtlCol="0">
            <a:spAutoFit/>
          </a:bodyPr>
          <a:lstStyle/>
          <a:p>
            <a:r>
              <a:rPr lang="en-US" sz="2400" b="1">
                <a:solidFill>
                  <a:schemeClr val="bg1"/>
                </a:solidFill>
                <a:latin typeface="Courier New" panose="02070309020205020404" pitchFamily="49" charset="0"/>
                <a:cs typeface="Courier New" panose="02070309020205020404" pitchFamily="49" charset="0"/>
              </a:rPr>
              <a:t>1 0</a:t>
            </a:r>
            <a:r>
              <a:rPr lang="en-US" sz="2400" b="1" baseline="-25000">
                <a:solidFill>
                  <a:schemeClr val="bg1"/>
                </a:solidFill>
                <a:latin typeface="Courier New" panose="02070309020205020404" pitchFamily="49" charset="0"/>
                <a:cs typeface="Courier New" panose="02070309020205020404" pitchFamily="49" charset="0"/>
              </a:rPr>
              <a:t> </a:t>
            </a:r>
            <a:r>
              <a:rPr lang="en-US" sz="2400" b="1">
                <a:solidFill>
                  <a:schemeClr val="bg1"/>
                </a:solidFill>
                <a:latin typeface="Courier New" panose="02070309020205020404" pitchFamily="49" charset="0"/>
                <a:cs typeface="Courier New" panose="02070309020205020404" pitchFamily="49" charset="0"/>
              </a:rPr>
              <a:t>0</a:t>
            </a:r>
            <a:r>
              <a:rPr lang="en-US" sz="2400" b="1" baseline="-25000">
                <a:solidFill>
                  <a:schemeClr val="bg1"/>
                </a:solidFill>
                <a:latin typeface="Courier New" panose="02070309020205020404" pitchFamily="49" charset="0"/>
                <a:cs typeface="Courier New" panose="02070309020205020404" pitchFamily="49" charset="0"/>
              </a:rPr>
              <a:t> </a:t>
            </a:r>
            <a:r>
              <a:rPr lang="en-US" sz="2400" b="1">
                <a:solidFill>
                  <a:schemeClr val="bg1"/>
                </a:solidFill>
                <a:latin typeface="Courier New" panose="02070309020205020404" pitchFamily="49" charset="0"/>
                <a:cs typeface="Courier New" panose="02070309020205020404" pitchFamily="49" charset="0"/>
              </a:rPr>
              <a:t>0</a:t>
            </a:r>
          </a:p>
          <a:p>
            <a:r>
              <a:rPr lang="en-US" sz="2400" b="1">
                <a:solidFill>
                  <a:srgbClr val="FFFF00"/>
                </a:solidFill>
                <a:latin typeface="Courier New" panose="02070309020205020404" pitchFamily="49" charset="0"/>
                <a:cs typeface="Courier New" panose="02070309020205020404" pitchFamily="49" charset="0"/>
              </a:rPr>
              <a:t> </a:t>
            </a:r>
            <a:r>
              <a:rPr lang="en-US" sz="2400" b="1" baseline="-25000">
                <a:solidFill>
                  <a:schemeClr val="bg1"/>
                </a:solidFill>
                <a:latin typeface="Courier New" panose="02070309020205020404" pitchFamily="49" charset="0"/>
                <a:cs typeface="Courier New" panose="02070309020205020404" pitchFamily="49" charset="0"/>
              </a:rPr>
              <a:t> </a:t>
            </a:r>
            <a:r>
              <a:rPr lang="en-US" sz="2400" b="1">
                <a:solidFill>
                  <a:schemeClr val="bg1"/>
                </a:solidFill>
                <a:latin typeface="Courier New" panose="02070309020205020404" pitchFamily="49" charset="0"/>
                <a:cs typeface="Courier New" panose="02070309020205020404" pitchFamily="49" charset="0"/>
              </a:rPr>
              <a:t>1 0</a:t>
            </a:r>
            <a:r>
              <a:rPr lang="en-US" sz="2400" b="1" baseline="-25000">
                <a:solidFill>
                  <a:schemeClr val="bg1"/>
                </a:solidFill>
                <a:latin typeface="Courier New" panose="02070309020205020404" pitchFamily="49" charset="0"/>
                <a:cs typeface="Courier New" panose="02070309020205020404" pitchFamily="49" charset="0"/>
              </a:rPr>
              <a:t> </a:t>
            </a:r>
            <a:r>
              <a:rPr lang="en-US" sz="2400" b="1">
                <a:solidFill>
                  <a:schemeClr val="bg1"/>
                </a:solidFill>
                <a:latin typeface="Courier New" panose="02070309020205020404" pitchFamily="49" charset="0"/>
                <a:cs typeface="Courier New" panose="02070309020205020404" pitchFamily="49" charset="0"/>
              </a:rPr>
              <a:t>0</a:t>
            </a:r>
          </a:p>
          <a:p>
            <a:r>
              <a:rPr lang="en-US" sz="2400" b="1">
                <a:solidFill>
                  <a:schemeClr val="bg1"/>
                </a:solidFill>
                <a:latin typeface="Courier New" panose="02070309020205020404" pitchFamily="49" charset="0"/>
                <a:cs typeface="Courier New" panose="02070309020205020404" pitchFamily="49" charset="0"/>
              </a:rPr>
              <a:t>0</a:t>
            </a:r>
            <a:r>
              <a:rPr lang="en-US" sz="2400" b="1" baseline="-25000">
                <a:solidFill>
                  <a:schemeClr val="bg1"/>
                </a:solidFill>
                <a:latin typeface="Courier New" panose="02070309020205020404" pitchFamily="49" charset="0"/>
                <a:cs typeface="Courier New" panose="02070309020205020404" pitchFamily="49" charset="0"/>
              </a:rPr>
              <a:t> </a:t>
            </a:r>
            <a:r>
              <a:rPr lang="en-US" sz="2400" b="1">
                <a:solidFill>
                  <a:schemeClr val="bg1"/>
                </a:solidFill>
                <a:latin typeface="Courier New" panose="02070309020205020404" pitchFamily="49" charset="0"/>
                <a:cs typeface="Courier New" panose="02070309020205020404" pitchFamily="49" charset="0"/>
              </a:rPr>
              <a:t>0</a:t>
            </a:r>
            <a:r>
              <a:rPr lang="en-US" sz="2400" b="1" baseline="-25000">
                <a:solidFill>
                  <a:schemeClr val="bg1"/>
                </a:solidFill>
                <a:latin typeface="Courier New" panose="02070309020205020404" pitchFamily="49" charset="0"/>
                <a:cs typeface="Courier New" panose="02070309020205020404" pitchFamily="49" charset="0"/>
              </a:rPr>
              <a:t> </a:t>
            </a:r>
            <a:r>
              <a:rPr lang="en-US" sz="2400" b="1">
                <a:solidFill>
                  <a:schemeClr val="bg1"/>
                </a:solidFill>
                <a:latin typeface="Courier New" panose="02070309020205020404" pitchFamily="49" charset="0"/>
                <a:cs typeface="Courier New" panose="02070309020205020404" pitchFamily="49" charset="0"/>
              </a:rPr>
              <a:t>1 0</a:t>
            </a:r>
          </a:p>
        </p:txBody>
      </p:sp>
      <p:sp>
        <p:nvSpPr>
          <p:cNvPr id="88" name="Left Bracket 87">
            <a:extLst>
              <a:ext uri="{FF2B5EF4-FFF2-40B4-BE49-F238E27FC236}">
                <a16:creationId xmlns:a16="http://schemas.microsoft.com/office/drawing/2014/main" id="{6A3DFBE0-7D55-B807-CE92-98BBB60D14F3}"/>
              </a:ext>
            </a:extLst>
          </p:cNvPr>
          <p:cNvSpPr/>
          <p:nvPr/>
        </p:nvSpPr>
        <p:spPr>
          <a:xfrm>
            <a:off x="887971" y="4145747"/>
            <a:ext cx="197992" cy="1525718"/>
          </a:xfrm>
          <a:prstGeom prst="leftBracket">
            <a:avLst/>
          </a:prstGeom>
          <a:ln w="349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n>
                <a:solidFill>
                  <a:schemeClr val="bg1"/>
                </a:solidFill>
              </a:ln>
            </a:endParaRPr>
          </a:p>
        </p:txBody>
      </p:sp>
      <p:sp>
        <p:nvSpPr>
          <p:cNvPr id="89" name="Left Bracket 88">
            <a:extLst>
              <a:ext uri="{FF2B5EF4-FFF2-40B4-BE49-F238E27FC236}">
                <a16:creationId xmlns:a16="http://schemas.microsoft.com/office/drawing/2014/main" id="{07D86D8A-3AB7-22B4-CE68-F61A9EADD384}"/>
              </a:ext>
            </a:extLst>
          </p:cNvPr>
          <p:cNvSpPr/>
          <p:nvPr/>
        </p:nvSpPr>
        <p:spPr>
          <a:xfrm rot="10800000">
            <a:off x="2375028" y="4145747"/>
            <a:ext cx="197992" cy="1525718"/>
          </a:xfrm>
          <a:prstGeom prst="leftBracket">
            <a:avLst/>
          </a:prstGeom>
          <a:ln w="349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n>
                <a:solidFill>
                  <a:schemeClr val="bg1"/>
                </a:solidFill>
              </a:ln>
            </a:endParaRPr>
          </a:p>
        </p:txBody>
      </p:sp>
      <p:sp>
        <p:nvSpPr>
          <p:cNvPr id="90" name="TextBox 89">
            <a:extLst>
              <a:ext uri="{FF2B5EF4-FFF2-40B4-BE49-F238E27FC236}">
                <a16:creationId xmlns:a16="http://schemas.microsoft.com/office/drawing/2014/main" id="{89936B94-194F-F06C-121A-5A97B1B7FB17}"/>
              </a:ext>
            </a:extLst>
          </p:cNvPr>
          <p:cNvSpPr txBox="1"/>
          <p:nvPr/>
        </p:nvSpPr>
        <p:spPr>
          <a:xfrm>
            <a:off x="993602" y="5216670"/>
            <a:ext cx="1457558" cy="461665"/>
          </a:xfrm>
          <a:prstGeom prst="rect">
            <a:avLst/>
          </a:prstGeom>
          <a:noFill/>
        </p:spPr>
        <p:txBody>
          <a:bodyPr wrap="square" rtlCol="0">
            <a:spAutoFit/>
          </a:bodyPr>
          <a:lstStyle/>
          <a:p>
            <a:r>
              <a:rPr lang="en-US" sz="2400" b="1">
                <a:solidFill>
                  <a:schemeClr val="bg1"/>
                </a:solidFill>
                <a:latin typeface="Courier New" panose="02070309020205020404" pitchFamily="49" charset="0"/>
                <a:cs typeface="Courier New" panose="02070309020205020404" pitchFamily="49" charset="0"/>
              </a:rPr>
              <a:t>0</a:t>
            </a:r>
            <a:r>
              <a:rPr lang="en-US" sz="2400" b="1" baseline="-25000">
                <a:solidFill>
                  <a:schemeClr val="bg1"/>
                </a:solidFill>
                <a:latin typeface="Courier New" panose="02070309020205020404" pitchFamily="49" charset="0"/>
                <a:cs typeface="Courier New" panose="02070309020205020404" pitchFamily="49" charset="0"/>
              </a:rPr>
              <a:t> </a:t>
            </a:r>
            <a:r>
              <a:rPr lang="en-US" sz="2400" b="1">
                <a:solidFill>
                  <a:schemeClr val="bg1"/>
                </a:solidFill>
                <a:latin typeface="Courier New" panose="02070309020205020404" pitchFamily="49" charset="0"/>
                <a:cs typeface="Courier New" panose="02070309020205020404" pitchFamily="49" charset="0"/>
              </a:rPr>
              <a:t>0 0 1</a:t>
            </a:r>
          </a:p>
        </p:txBody>
      </p:sp>
      <p:sp>
        <p:nvSpPr>
          <p:cNvPr id="91" name="TextBox 90">
            <a:extLst>
              <a:ext uri="{FF2B5EF4-FFF2-40B4-BE49-F238E27FC236}">
                <a16:creationId xmlns:a16="http://schemas.microsoft.com/office/drawing/2014/main" id="{256C18E9-1E3E-9BFA-C971-F69BF45C83D0}"/>
              </a:ext>
            </a:extLst>
          </p:cNvPr>
          <p:cNvSpPr txBox="1"/>
          <p:nvPr/>
        </p:nvSpPr>
        <p:spPr>
          <a:xfrm>
            <a:off x="2775010" y="4472402"/>
            <a:ext cx="719557" cy="769441"/>
          </a:xfrm>
          <a:prstGeom prst="rect">
            <a:avLst/>
          </a:prstGeom>
          <a:noFill/>
        </p:spPr>
        <p:txBody>
          <a:bodyPr wrap="square" rtlCol="0">
            <a:spAutoFit/>
          </a:bodyPr>
          <a:lstStyle/>
          <a:p>
            <a:r>
              <a:rPr lang="en-US" sz="4400" b="1">
                <a:solidFill>
                  <a:schemeClr val="bg1"/>
                </a:solidFill>
                <a:latin typeface="Courier New" panose="02070309020205020404" pitchFamily="49" charset="0"/>
                <a:cs typeface="Courier New" panose="02070309020205020404" pitchFamily="49" charset="0"/>
              </a:rPr>
              <a:t>:</a:t>
            </a:r>
          </a:p>
        </p:txBody>
      </p:sp>
      <p:sp>
        <p:nvSpPr>
          <p:cNvPr id="92" name="Right Arrow 91">
            <a:extLst>
              <a:ext uri="{FF2B5EF4-FFF2-40B4-BE49-F238E27FC236}">
                <a16:creationId xmlns:a16="http://schemas.microsoft.com/office/drawing/2014/main" id="{297CB55B-C686-572B-0738-FE86541B911A}"/>
              </a:ext>
            </a:extLst>
          </p:cNvPr>
          <p:cNvSpPr/>
          <p:nvPr/>
        </p:nvSpPr>
        <p:spPr>
          <a:xfrm>
            <a:off x="6031964" y="4554759"/>
            <a:ext cx="564106" cy="557813"/>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TextBox 92">
            <a:extLst>
              <a:ext uri="{FF2B5EF4-FFF2-40B4-BE49-F238E27FC236}">
                <a16:creationId xmlns:a16="http://schemas.microsoft.com/office/drawing/2014/main" id="{732F1B3E-249B-E46F-600E-F7A6FC0EE22F}"/>
              </a:ext>
            </a:extLst>
          </p:cNvPr>
          <p:cNvSpPr txBox="1"/>
          <p:nvPr/>
        </p:nvSpPr>
        <p:spPr>
          <a:xfrm>
            <a:off x="449287" y="391397"/>
            <a:ext cx="2708348" cy="461665"/>
          </a:xfrm>
          <a:prstGeom prst="rect">
            <a:avLst/>
          </a:prstGeom>
          <a:noFill/>
        </p:spPr>
        <p:txBody>
          <a:bodyPr wrap="square" rtlCol="0">
            <a:spAutoFit/>
          </a:bodyPr>
          <a:lstStyle/>
          <a:p>
            <a:r>
              <a:rPr lang="en-US" sz="2400" u="sng">
                <a:solidFill>
                  <a:schemeClr val="bg1"/>
                </a:solidFill>
                <a:latin typeface="Trebuchet MS" panose="020B0703020202090204" pitchFamily="34" charset="0"/>
              </a:rPr>
              <a:t>Example: xy shear</a:t>
            </a:r>
            <a:endParaRPr lang="en-US" sz="2400">
              <a:solidFill>
                <a:schemeClr val="bg1"/>
              </a:solidFill>
              <a:latin typeface="Trebuchet MS" panose="020B0703020202090204" pitchFamily="34" charset="0"/>
            </a:endParaRPr>
          </a:p>
        </p:txBody>
      </p:sp>
      <p:sp>
        <p:nvSpPr>
          <p:cNvPr id="94" name="TextBox 93">
            <a:extLst>
              <a:ext uri="{FF2B5EF4-FFF2-40B4-BE49-F238E27FC236}">
                <a16:creationId xmlns:a16="http://schemas.microsoft.com/office/drawing/2014/main" id="{8E431649-E690-BF07-8415-269030D10B64}"/>
              </a:ext>
            </a:extLst>
          </p:cNvPr>
          <p:cNvSpPr txBox="1"/>
          <p:nvPr/>
        </p:nvSpPr>
        <p:spPr>
          <a:xfrm>
            <a:off x="999900" y="4463688"/>
            <a:ext cx="469379" cy="461665"/>
          </a:xfrm>
          <a:prstGeom prst="rect">
            <a:avLst/>
          </a:prstGeom>
          <a:noFill/>
        </p:spPr>
        <p:txBody>
          <a:bodyPr wrap="square" rtlCol="0">
            <a:spAutoFit/>
          </a:bodyPr>
          <a:lstStyle/>
          <a:p>
            <a:r>
              <a:rPr lang="en-US" sz="2400" b="1">
                <a:solidFill>
                  <a:srgbClr val="FFFF00"/>
                </a:solidFill>
                <a:latin typeface="Courier New" panose="02070309020205020404" pitchFamily="49" charset="0"/>
                <a:cs typeface="Courier New" panose="02070309020205020404" pitchFamily="49" charset="0"/>
              </a:rPr>
              <a:t>m</a:t>
            </a:r>
          </a:p>
        </p:txBody>
      </p:sp>
      <p:sp>
        <p:nvSpPr>
          <p:cNvPr id="95" name="TextBox 94">
            <a:extLst>
              <a:ext uri="{FF2B5EF4-FFF2-40B4-BE49-F238E27FC236}">
                <a16:creationId xmlns:a16="http://schemas.microsoft.com/office/drawing/2014/main" id="{6B3A3197-8E8A-154B-D03D-C8670F97A1AA}"/>
              </a:ext>
            </a:extLst>
          </p:cNvPr>
          <p:cNvSpPr txBox="1"/>
          <p:nvPr/>
        </p:nvSpPr>
        <p:spPr>
          <a:xfrm>
            <a:off x="1340548" y="1149312"/>
            <a:ext cx="469379" cy="461665"/>
          </a:xfrm>
          <a:prstGeom prst="rect">
            <a:avLst/>
          </a:prstGeom>
          <a:noFill/>
        </p:spPr>
        <p:txBody>
          <a:bodyPr wrap="square" rtlCol="0">
            <a:spAutoFit/>
          </a:bodyPr>
          <a:lstStyle/>
          <a:p>
            <a:r>
              <a:rPr lang="en-US" sz="2400" b="1">
                <a:solidFill>
                  <a:srgbClr val="FFFF00"/>
                </a:solidFill>
                <a:latin typeface="Courier New" panose="02070309020205020404" pitchFamily="49" charset="0"/>
                <a:cs typeface="Courier New" panose="02070309020205020404" pitchFamily="49" charset="0"/>
              </a:rPr>
              <a:t>m</a:t>
            </a:r>
          </a:p>
        </p:txBody>
      </p:sp>
    </p:spTree>
    <p:extLst>
      <p:ext uri="{BB962C8B-B14F-4D97-AF65-F5344CB8AC3E}">
        <p14:creationId xmlns:p14="http://schemas.microsoft.com/office/powerpoint/2010/main" val="18634141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5AADE-C9A8-3A36-42F6-FD0E0C648788}"/>
            </a:ext>
          </a:extLst>
        </p:cNvPr>
        <p:cNvGrpSpPr/>
        <p:nvPr/>
      </p:nvGrpSpPr>
      <p:grpSpPr>
        <a:xfrm>
          <a:off x="0" y="0"/>
          <a:ext cx="0" cy="0"/>
          <a:chOff x="0" y="0"/>
          <a:chExt cx="0" cy="0"/>
        </a:xfrm>
      </p:grpSpPr>
      <p:pic>
        <p:nvPicPr>
          <p:cNvPr id="7" name="Picture 6" descr="A screenshot of a computer screen&#10;&#10;Description automatically generated">
            <a:extLst>
              <a:ext uri="{FF2B5EF4-FFF2-40B4-BE49-F238E27FC236}">
                <a16:creationId xmlns:a16="http://schemas.microsoft.com/office/drawing/2014/main" id="{17FABA36-D50B-BF6E-48DB-1E7A9B18CCE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978313" y="3464647"/>
            <a:ext cx="5906347" cy="2560320"/>
          </a:xfrm>
          <a:prstGeom prst="rect">
            <a:avLst/>
          </a:prstGeom>
        </p:spPr>
      </p:pic>
      <p:sp>
        <p:nvSpPr>
          <p:cNvPr id="2" name="Slide Number Placeholder 1">
            <a:extLst>
              <a:ext uri="{FF2B5EF4-FFF2-40B4-BE49-F238E27FC236}">
                <a16:creationId xmlns:a16="http://schemas.microsoft.com/office/drawing/2014/main" id="{2890CFC9-850F-F1CD-B615-4C779BD7BE99}"/>
              </a:ext>
            </a:extLst>
          </p:cNvPr>
          <p:cNvSpPr>
            <a:spLocks noGrp="1"/>
          </p:cNvSpPr>
          <p:nvPr>
            <p:ph type="sldNum" sz="quarter" idx="12"/>
          </p:nvPr>
        </p:nvSpPr>
        <p:spPr/>
        <p:txBody>
          <a:bodyPr/>
          <a:lstStyle/>
          <a:p>
            <a:fld id="{6F215E70-FDA5-6C45-8C7C-E922E56675B4}" type="slidenum">
              <a:rPr lang="en-US"/>
              <a:t>60</a:t>
            </a:fld>
            <a:endParaRPr lang="en-US"/>
          </a:p>
        </p:txBody>
      </p:sp>
      <p:sp>
        <p:nvSpPr>
          <p:cNvPr id="3" name="TextBox 2">
            <a:extLst>
              <a:ext uri="{FF2B5EF4-FFF2-40B4-BE49-F238E27FC236}">
                <a16:creationId xmlns:a16="http://schemas.microsoft.com/office/drawing/2014/main" id="{0FB73F0B-30EF-FCFA-C26E-5EB17D03905A}"/>
              </a:ext>
            </a:extLst>
          </p:cNvPr>
          <p:cNvSpPr txBox="1"/>
          <p:nvPr/>
        </p:nvSpPr>
        <p:spPr>
          <a:xfrm>
            <a:off x="647700" y="670165"/>
            <a:ext cx="10896600" cy="2862322"/>
          </a:xfrm>
          <a:prstGeom prst="rect">
            <a:avLst/>
          </a:prstGeom>
          <a:noFill/>
        </p:spPr>
        <p:txBody>
          <a:bodyPr wrap="square" rtlCol="0">
            <a:spAutoFit/>
          </a:bodyPr>
          <a:lstStyle/>
          <a:p>
            <a:r>
              <a:rPr lang="en-US" b="1">
                <a:solidFill>
                  <a:schemeClr val="bg1"/>
                </a:solidFill>
                <a:effectLst/>
                <a:latin typeface="Courier New" panose="02070309020205020404" pitchFamily="49" charset="0"/>
                <a:cs typeface="Courier New" panose="02070309020205020404" pitchFamily="49" charset="0"/>
              </a:rPr>
              <a:t>% load and plot template</a:t>
            </a:r>
          </a:p>
          <a:p>
            <a:endParaRPr lang="en-US" b="1">
              <a:solidFill>
                <a:schemeClr val="bg1"/>
              </a:solidFill>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imgA,infoA</a:t>
            </a:r>
            <a:r>
              <a:rPr lang="en-US" b="1">
                <a:solidFill>
                  <a:schemeClr val="bg1"/>
                </a:solidFill>
                <a:effectLst/>
                <a:latin typeface="Courier New" panose="02070309020205020404" pitchFamily="49" charset="0"/>
                <a:cs typeface="Courier New" panose="02070309020205020404" pitchFamily="49" charset="0"/>
              </a:rPr>
              <a:t>] = LoadVolumetricData('Segmented_MNI152nl_on_MNI111_nifti.nii');</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p>
          <a:p>
            <a:endParaRPr lang="en-US" b="1">
              <a:solidFill>
                <a:schemeClr val="bg1"/>
              </a:solidFill>
              <a:effectLst/>
              <a:latin typeface="Courier New" panose="02070309020205020404" pitchFamily="49" charset="0"/>
              <a:cs typeface="Courier New" panose="02070309020205020404" pitchFamily="49" charset="0"/>
            </a:endParaRPr>
          </a:p>
          <a:p>
            <a:r>
              <a:rPr lang="en-US" b="1">
                <a:solidFill>
                  <a:srgbClr val="FFFF00"/>
                </a:solidFill>
                <a:effectLst/>
                <a:latin typeface="Courier New" panose="02070309020205020404" pitchFamily="49" charset="0"/>
                <a:cs typeface="Courier New" panose="02070309020205020404" pitchFamily="49" charset="0"/>
              </a:rPr>
              <a:t>infoB</a:t>
            </a:r>
            <a:r>
              <a:rPr lang="en-US" b="1">
                <a:solidFill>
                  <a:schemeClr val="bg1"/>
                </a:solidFill>
                <a:effectLst/>
                <a:latin typeface="Courier New" panose="02070309020205020404" pitchFamily="49" charset="0"/>
                <a:cs typeface="Courier New" panose="02070309020205020404" pitchFamily="49" charset="0"/>
              </a:rPr>
              <a:t> = infoA; 					% initialize infoB</a:t>
            </a:r>
          </a:p>
          <a:p>
            <a:r>
              <a:rPr lang="en-US" b="1">
                <a:solidFill>
                  <a:srgbClr val="00B0F0"/>
                </a:solidFill>
                <a:effectLst/>
                <a:latin typeface="Courier New" panose="02070309020205020404" pitchFamily="49" charset="0"/>
                <a:cs typeface="Courier New" panose="02070309020205020404" pitchFamily="49" charset="0"/>
              </a:rPr>
              <a:t>t4 = [1 .5 0 0 ; 0 1 0 0; 0 0 1 0; 0 0 0 1];</a:t>
            </a:r>
            <a:r>
              <a:rPr lang="en-US" b="1">
                <a:solidFill>
                  <a:srgbClr val="FFFF00"/>
                </a:solidFill>
                <a:effectLst/>
                <a:latin typeface="Courier New" panose="02070309020205020404" pitchFamily="49" charset="0"/>
                <a:cs typeface="Courier New" panose="02070309020205020404" pitchFamily="49" charset="0"/>
              </a:rPr>
              <a:t>	</a:t>
            </a:r>
            <a:r>
              <a:rPr lang="en-US" b="1">
                <a:solidFill>
                  <a:schemeClr val="bg1"/>
                </a:solidFill>
                <a:effectLst/>
                <a:latin typeface="Courier New" panose="02070309020205020404" pitchFamily="49" charset="0"/>
                <a:cs typeface="Courier New" panose="02070309020205020404" pitchFamily="49" charset="0"/>
              </a:rPr>
              <a:t>% Sxy = 0.5</a:t>
            </a:r>
          </a:p>
          <a:p>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affine3d_img(</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infoA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FF00"/>
                </a:solidFill>
                <a:effectLst/>
                <a:latin typeface="Courier New" panose="02070309020205020404" pitchFamily="49" charset="0"/>
                <a:cs typeface="Courier New" panose="02070309020205020404" pitchFamily="49" charset="0"/>
              </a:rPr>
              <a:t>infoB,</a:t>
            </a:r>
            <a:r>
              <a:rPr lang="en-US" b="1">
                <a:solidFill>
                  <a:srgbClr val="00B0F0"/>
                </a:solidFill>
                <a:effectLst/>
                <a:latin typeface="Courier New" panose="02070309020205020404" pitchFamily="49" charset="0"/>
                <a:cs typeface="Courier New" panose="02070309020205020404" pitchFamily="49" charset="0"/>
              </a:rPr>
              <a:t>t4</a:t>
            </a:r>
            <a:r>
              <a:rPr lang="en-US" b="1">
                <a:solidFill>
                  <a:schemeClr val="bg1"/>
                </a:solidFill>
                <a:effectLst/>
                <a:latin typeface="Courier New" panose="02070309020205020404" pitchFamily="49" charset="0"/>
                <a:cs typeface="Courier New" panose="02070309020205020404" pitchFamily="49" charset="0"/>
              </a:rPr>
              <a:t>); 	% generate the new image data</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plot the transformed template</a:t>
            </a:r>
          </a:p>
          <a:p>
            <a:endParaRPr lang="en-US" b="1">
              <a:solidFill>
                <a:schemeClr val="bg1"/>
              </a:solidFill>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4E67ECA0-E99A-C8B8-201C-606A4817AC94}"/>
              </a:ext>
            </a:extLst>
          </p:cNvPr>
          <p:cNvSpPr txBox="1"/>
          <p:nvPr/>
        </p:nvSpPr>
        <p:spPr>
          <a:xfrm>
            <a:off x="6972300" y="439333"/>
            <a:ext cx="4775200" cy="461665"/>
          </a:xfrm>
          <a:prstGeom prst="rect">
            <a:avLst/>
          </a:prstGeom>
          <a:noFill/>
        </p:spPr>
        <p:txBody>
          <a:bodyPr wrap="square" rtlCol="0">
            <a:spAutoFit/>
          </a:bodyPr>
          <a:lstStyle/>
          <a:p>
            <a:r>
              <a:rPr lang="en-US" sz="2400" u="sng">
                <a:solidFill>
                  <a:schemeClr val="bg1"/>
                </a:solidFill>
                <a:latin typeface="Trebuchet MS" panose="020B0703020202090204" pitchFamily="34" charset="0"/>
              </a:rPr>
              <a:t>Example 13: Shear along x</a:t>
            </a:r>
            <a:endParaRPr lang="en-US" sz="2400">
              <a:solidFill>
                <a:schemeClr val="bg1"/>
              </a:solidFill>
              <a:latin typeface="Trebuchet MS" panose="020B0703020202090204" pitchFamily="34" charset="0"/>
            </a:endParaRPr>
          </a:p>
        </p:txBody>
      </p:sp>
      <p:pic>
        <p:nvPicPr>
          <p:cNvPr id="8" name="Picture 7" descr="A screenshot of a computer screen&#10;&#10;Description automatically generated">
            <a:extLst>
              <a:ext uri="{FF2B5EF4-FFF2-40B4-BE49-F238E27FC236}">
                <a16:creationId xmlns:a16="http://schemas.microsoft.com/office/drawing/2014/main" id="{3C0A4A0F-836D-6A64-6FCC-1DA8F94E3B5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2100" y="3462893"/>
            <a:ext cx="5906349" cy="2560320"/>
          </a:xfrm>
          <a:prstGeom prst="rect">
            <a:avLst/>
          </a:prstGeom>
        </p:spPr>
      </p:pic>
      <p:sp>
        <p:nvSpPr>
          <p:cNvPr id="11" name="TextBox 10">
            <a:extLst>
              <a:ext uri="{FF2B5EF4-FFF2-40B4-BE49-F238E27FC236}">
                <a16:creationId xmlns:a16="http://schemas.microsoft.com/office/drawing/2014/main" id="{71B9A6EB-F976-CC23-BE01-CC474B63EE46}"/>
              </a:ext>
            </a:extLst>
          </p:cNvPr>
          <p:cNvSpPr txBox="1"/>
          <p:nvPr/>
        </p:nvSpPr>
        <p:spPr>
          <a:xfrm>
            <a:off x="2784829" y="5728993"/>
            <a:ext cx="920890" cy="461665"/>
          </a:xfrm>
          <a:prstGeom prst="rect">
            <a:avLst/>
          </a:prstGeom>
          <a:noFill/>
        </p:spPr>
        <p:txBody>
          <a:bodyPr wrap="square" rtlCol="0">
            <a:spAutoFit/>
          </a:bodyPr>
          <a:lstStyle/>
          <a:p>
            <a:r>
              <a:rPr lang="en-US" sz="2400" b="1">
                <a:solidFill>
                  <a:srgbClr val="FF0000"/>
                </a:solidFill>
                <a:latin typeface="Trebuchet MS" panose="020B0703020202090204" pitchFamily="34" charset="0"/>
              </a:rPr>
              <a:t>imgA</a:t>
            </a:r>
          </a:p>
        </p:txBody>
      </p:sp>
      <p:sp>
        <p:nvSpPr>
          <p:cNvPr id="12" name="TextBox 11">
            <a:extLst>
              <a:ext uri="{FF2B5EF4-FFF2-40B4-BE49-F238E27FC236}">
                <a16:creationId xmlns:a16="http://schemas.microsoft.com/office/drawing/2014/main" id="{42E5D684-3083-3C93-F803-3B40F2E65639}"/>
              </a:ext>
            </a:extLst>
          </p:cNvPr>
          <p:cNvSpPr txBox="1"/>
          <p:nvPr/>
        </p:nvSpPr>
        <p:spPr>
          <a:xfrm>
            <a:off x="8589575" y="5728993"/>
            <a:ext cx="920890" cy="461665"/>
          </a:xfrm>
          <a:prstGeom prst="rect">
            <a:avLst/>
          </a:prstGeom>
          <a:noFill/>
        </p:spPr>
        <p:txBody>
          <a:bodyPr wrap="square" rtlCol="0">
            <a:spAutoFit/>
          </a:bodyPr>
          <a:lstStyle/>
          <a:p>
            <a:r>
              <a:rPr lang="en-US" sz="2400" b="1">
                <a:solidFill>
                  <a:srgbClr val="00B050"/>
                </a:solidFill>
                <a:latin typeface="Trebuchet MS" panose="020B0703020202090204" pitchFamily="34" charset="0"/>
              </a:rPr>
              <a:t>imgB</a:t>
            </a:r>
          </a:p>
        </p:txBody>
      </p:sp>
    </p:spTree>
    <p:extLst>
      <p:ext uri="{BB962C8B-B14F-4D97-AF65-F5344CB8AC3E}">
        <p14:creationId xmlns:p14="http://schemas.microsoft.com/office/powerpoint/2010/main" val="9480702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B40D2-B87C-DB39-F8FE-7F173DC2709E}"/>
            </a:ext>
          </a:extLst>
        </p:cNvPr>
        <p:cNvGrpSpPr/>
        <p:nvPr/>
      </p:nvGrpSpPr>
      <p:grpSpPr>
        <a:xfrm>
          <a:off x="0" y="0"/>
          <a:ext cx="0" cy="0"/>
          <a:chOff x="0" y="0"/>
          <a:chExt cx="0" cy="0"/>
        </a:xfrm>
      </p:grpSpPr>
      <p:pic>
        <p:nvPicPr>
          <p:cNvPr id="5" name="Picture 4" descr="A screenshot of a computer screen&#10;&#10;Description automatically generated">
            <a:extLst>
              <a:ext uri="{FF2B5EF4-FFF2-40B4-BE49-F238E27FC236}">
                <a16:creationId xmlns:a16="http://schemas.microsoft.com/office/drawing/2014/main" id="{B9397E90-EBB4-F594-8607-8808EFAC242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19266" y="3464647"/>
            <a:ext cx="5665394" cy="2560320"/>
          </a:xfrm>
          <a:prstGeom prst="rect">
            <a:avLst/>
          </a:prstGeom>
        </p:spPr>
      </p:pic>
      <p:sp>
        <p:nvSpPr>
          <p:cNvPr id="2" name="Slide Number Placeholder 1">
            <a:extLst>
              <a:ext uri="{FF2B5EF4-FFF2-40B4-BE49-F238E27FC236}">
                <a16:creationId xmlns:a16="http://schemas.microsoft.com/office/drawing/2014/main" id="{C37DB054-DF95-BB8F-2766-E42F6C8166D4}"/>
              </a:ext>
            </a:extLst>
          </p:cNvPr>
          <p:cNvSpPr>
            <a:spLocks noGrp="1"/>
          </p:cNvSpPr>
          <p:nvPr>
            <p:ph type="sldNum" sz="quarter" idx="12"/>
          </p:nvPr>
        </p:nvSpPr>
        <p:spPr/>
        <p:txBody>
          <a:bodyPr/>
          <a:lstStyle/>
          <a:p>
            <a:fld id="{6F215E70-FDA5-6C45-8C7C-E922E56675B4}" type="slidenum">
              <a:rPr lang="en-US"/>
              <a:t>61</a:t>
            </a:fld>
            <a:endParaRPr lang="en-US"/>
          </a:p>
        </p:txBody>
      </p:sp>
      <p:sp>
        <p:nvSpPr>
          <p:cNvPr id="3" name="TextBox 2">
            <a:extLst>
              <a:ext uri="{FF2B5EF4-FFF2-40B4-BE49-F238E27FC236}">
                <a16:creationId xmlns:a16="http://schemas.microsoft.com/office/drawing/2014/main" id="{500FA89C-6183-ABEC-1FAC-3E92D9891EB5}"/>
              </a:ext>
            </a:extLst>
          </p:cNvPr>
          <p:cNvSpPr txBox="1"/>
          <p:nvPr/>
        </p:nvSpPr>
        <p:spPr>
          <a:xfrm>
            <a:off x="647700" y="670165"/>
            <a:ext cx="10896600" cy="2862322"/>
          </a:xfrm>
          <a:prstGeom prst="rect">
            <a:avLst/>
          </a:prstGeom>
          <a:noFill/>
        </p:spPr>
        <p:txBody>
          <a:bodyPr wrap="square" rtlCol="0">
            <a:spAutoFit/>
          </a:bodyPr>
          <a:lstStyle/>
          <a:p>
            <a:r>
              <a:rPr lang="en-US" b="1">
                <a:solidFill>
                  <a:schemeClr val="bg1"/>
                </a:solidFill>
                <a:effectLst/>
                <a:latin typeface="Courier New" panose="02070309020205020404" pitchFamily="49" charset="0"/>
                <a:cs typeface="Courier New" panose="02070309020205020404" pitchFamily="49" charset="0"/>
              </a:rPr>
              <a:t>% load and plot template</a:t>
            </a:r>
          </a:p>
          <a:p>
            <a:endParaRPr lang="en-US" b="1">
              <a:solidFill>
                <a:schemeClr val="bg1"/>
              </a:solidFill>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imgA,infoA</a:t>
            </a:r>
            <a:r>
              <a:rPr lang="en-US" b="1">
                <a:solidFill>
                  <a:schemeClr val="bg1"/>
                </a:solidFill>
                <a:effectLst/>
                <a:latin typeface="Courier New" panose="02070309020205020404" pitchFamily="49" charset="0"/>
                <a:cs typeface="Courier New" panose="02070309020205020404" pitchFamily="49" charset="0"/>
              </a:rPr>
              <a:t>] = LoadVolumetricData('Segmented_MNI152nl_on_MNI111_nifti.nii');</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p>
          <a:p>
            <a:endParaRPr lang="en-US" b="1">
              <a:solidFill>
                <a:schemeClr val="bg1"/>
              </a:solidFill>
              <a:effectLst/>
              <a:latin typeface="Courier New" panose="02070309020205020404" pitchFamily="49" charset="0"/>
              <a:cs typeface="Courier New" panose="02070309020205020404" pitchFamily="49" charset="0"/>
            </a:endParaRPr>
          </a:p>
          <a:p>
            <a:r>
              <a:rPr lang="en-US" b="1">
                <a:solidFill>
                  <a:srgbClr val="FFFF00"/>
                </a:solidFill>
                <a:effectLst/>
                <a:latin typeface="Courier New" panose="02070309020205020404" pitchFamily="49" charset="0"/>
                <a:cs typeface="Courier New" panose="02070309020205020404" pitchFamily="49" charset="0"/>
              </a:rPr>
              <a:t>infoB</a:t>
            </a:r>
            <a:r>
              <a:rPr lang="en-US" b="1">
                <a:solidFill>
                  <a:schemeClr val="bg1"/>
                </a:solidFill>
                <a:effectLst/>
                <a:latin typeface="Courier New" panose="02070309020205020404" pitchFamily="49" charset="0"/>
                <a:cs typeface="Courier New" panose="02070309020205020404" pitchFamily="49" charset="0"/>
              </a:rPr>
              <a:t> = infoA; 					% initialize infoB</a:t>
            </a:r>
          </a:p>
          <a:p>
            <a:r>
              <a:rPr lang="en-US" b="1">
                <a:solidFill>
                  <a:srgbClr val="00B0F0"/>
                </a:solidFill>
                <a:effectLst/>
                <a:latin typeface="Courier New" panose="02070309020205020404" pitchFamily="49" charset="0"/>
                <a:cs typeface="Courier New" panose="02070309020205020404" pitchFamily="49" charset="0"/>
              </a:rPr>
              <a:t>t4 = [1 0 0 0 ; .5 1 0 0; 0 0 1 0; 0 0 0 1];</a:t>
            </a:r>
            <a:r>
              <a:rPr lang="en-US" b="1">
                <a:solidFill>
                  <a:srgbClr val="FFFF00"/>
                </a:solidFill>
                <a:effectLst/>
                <a:latin typeface="Courier New" panose="02070309020205020404" pitchFamily="49" charset="0"/>
                <a:cs typeface="Courier New" panose="02070309020205020404" pitchFamily="49" charset="0"/>
              </a:rPr>
              <a:t>	</a:t>
            </a:r>
            <a:r>
              <a:rPr lang="en-US" b="1">
                <a:solidFill>
                  <a:schemeClr val="bg1"/>
                </a:solidFill>
                <a:effectLst/>
                <a:latin typeface="Courier New" panose="02070309020205020404" pitchFamily="49" charset="0"/>
                <a:cs typeface="Courier New" panose="02070309020205020404" pitchFamily="49" charset="0"/>
              </a:rPr>
              <a:t>% Syx = 0.5</a:t>
            </a:r>
          </a:p>
          <a:p>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affine3d_img(</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infoA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FF00"/>
                </a:solidFill>
                <a:effectLst/>
                <a:latin typeface="Courier New" panose="02070309020205020404" pitchFamily="49" charset="0"/>
                <a:cs typeface="Courier New" panose="02070309020205020404" pitchFamily="49" charset="0"/>
              </a:rPr>
              <a:t>infoB,</a:t>
            </a:r>
            <a:r>
              <a:rPr lang="en-US" b="1">
                <a:solidFill>
                  <a:srgbClr val="00B0F0"/>
                </a:solidFill>
                <a:effectLst/>
                <a:latin typeface="Courier New" panose="02070309020205020404" pitchFamily="49" charset="0"/>
                <a:cs typeface="Courier New" panose="02070309020205020404" pitchFamily="49" charset="0"/>
              </a:rPr>
              <a:t>t4</a:t>
            </a:r>
            <a:r>
              <a:rPr lang="en-US" b="1">
                <a:solidFill>
                  <a:schemeClr val="bg1"/>
                </a:solidFill>
                <a:effectLst/>
                <a:latin typeface="Courier New" panose="02070309020205020404" pitchFamily="49" charset="0"/>
                <a:cs typeface="Courier New" panose="02070309020205020404" pitchFamily="49" charset="0"/>
              </a:rPr>
              <a:t>); 	% generate the new image data</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plot the transformed template</a:t>
            </a:r>
          </a:p>
          <a:p>
            <a:endParaRPr lang="en-US" b="1">
              <a:solidFill>
                <a:schemeClr val="bg1"/>
              </a:solidFill>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A89B852E-035E-553B-3578-763FB33197E1}"/>
              </a:ext>
            </a:extLst>
          </p:cNvPr>
          <p:cNvSpPr txBox="1"/>
          <p:nvPr/>
        </p:nvSpPr>
        <p:spPr>
          <a:xfrm>
            <a:off x="6972300" y="439333"/>
            <a:ext cx="4775200" cy="461665"/>
          </a:xfrm>
          <a:prstGeom prst="rect">
            <a:avLst/>
          </a:prstGeom>
          <a:noFill/>
        </p:spPr>
        <p:txBody>
          <a:bodyPr wrap="square" rtlCol="0">
            <a:spAutoFit/>
          </a:bodyPr>
          <a:lstStyle/>
          <a:p>
            <a:r>
              <a:rPr lang="en-US" sz="2400" u="sng">
                <a:solidFill>
                  <a:schemeClr val="bg1"/>
                </a:solidFill>
                <a:latin typeface="Trebuchet MS" panose="020B0703020202090204" pitchFamily="34" charset="0"/>
              </a:rPr>
              <a:t>Example 14: Shear along y</a:t>
            </a:r>
            <a:endParaRPr lang="en-US" sz="2400">
              <a:solidFill>
                <a:schemeClr val="bg1"/>
              </a:solidFill>
              <a:latin typeface="Trebuchet MS" panose="020B0703020202090204" pitchFamily="34" charset="0"/>
            </a:endParaRPr>
          </a:p>
        </p:txBody>
      </p:sp>
      <p:pic>
        <p:nvPicPr>
          <p:cNvPr id="8" name="Picture 7" descr="A screenshot of a computer screen&#10;&#10;Description automatically generated">
            <a:extLst>
              <a:ext uri="{FF2B5EF4-FFF2-40B4-BE49-F238E27FC236}">
                <a16:creationId xmlns:a16="http://schemas.microsoft.com/office/drawing/2014/main" id="{9A211B71-5D0B-B9CF-40D2-1459F394ED4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2100" y="3462893"/>
            <a:ext cx="5906349" cy="2560320"/>
          </a:xfrm>
          <a:prstGeom prst="rect">
            <a:avLst/>
          </a:prstGeom>
        </p:spPr>
      </p:pic>
      <p:sp>
        <p:nvSpPr>
          <p:cNvPr id="11" name="TextBox 10">
            <a:extLst>
              <a:ext uri="{FF2B5EF4-FFF2-40B4-BE49-F238E27FC236}">
                <a16:creationId xmlns:a16="http://schemas.microsoft.com/office/drawing/2014/main" id="{3126C8DD-42FD-9001-E0E7-7469B05B7911}"/>
              </a:ext>
            </a:extLst>
          </p:cNvPr>
          <p:cNvSpPr txBox="1"/>
          <p:nvPr/>
        </p:nvSpPr>
        <p:spPr>
          <a:xfrm>
            <a:off x="2784829" y="5728993"/>
            <a:ext cx="920890" cy="461665"/>
          </a:xfrm>
          <a:prstGeom prst="rect">
            <a:avLst/>
          </a:prstGeom>
          <a:noFill/>
        </p:spPr>
        <p:txBody>
          <a:bodyPr wrap="square" rtlCol="0">
            <a:spAutoFit/>
          </a:bodyPr>
          <a:lstStyle/>
          <a:p>
            <a:r>
              <a:rPr lang="en-US" sz="2400" b="1">
                <a:solidFill>
                  <a:srgbClr val="FF0000"/>
                </a:solidFill>
                <a:latin typeface="Trebuchet MS" panose="020B0703020202090204" pitchFamily="34" charset="0"/>
              </a:rPr>
              <a:t>imgA</a:t>
            </a:r>
          </a:p>
        </p:txBody>
      </p:sp>
      <p:sp>
        <p:nvSpPr>
          <p:cNvPr id="12" name="TextBox 11">
            <a:extLst>
              <a:ext uri="{FF2B5EF4-FFF2-40B4-BE49-F238E27FC236}">
                <a16:creationId xmlns:a16="http://schemas.microsoft.com/office/drawing/2014/main" id="{494ABDD7-A89B-13E6-D7A8-C45E46FC0EC6}"/>
              </a:ext>
            </a:extLst>
          </p:cNvPr>
          <p:cNvSpPr txBox="1"/>
          <p:nvPr/>
        </p:nvSpPr>
        <p:spPr>
          <a:xfrm>
            <a:off x="8589575" y="5728993"/>
            <a:ext cx="920890" cy="461665"/>
          </a:xfrm>
          <a:prstGeom prst="rect">
            <a:avLst/>
          </a:prstGeom>
          <a:noFill/>
        </p:spPr>
        <p:txBody>
          <a:bodyPr wrap="square" rtlCol="0">
            <a:spAutoFit/>
          </a:bodyPr>
          <a:lstStyle/>
          <a:p>
            <a:r>
              <a:rPr lang="en-US" sz="2400" b="1">
                <a:solidFill>
                  <a:srgbClr val="00B050"/>
                </a:solidFill>
                <a:latin typeface="Trebuchet MS" panose="020B0703020202090204" pitchFamily="34" charset="0"/>
              </a:rPr>
              <a:t>imgB</a:t>
            </a:r>
          </a:p>
        </p:txBody>
      </p:sp>
    </p:spTree>
    <p:extLst>
      <p:ext uri="{BB962C8B-B14F-4D97-AF65-F5344CB8AC3E}">
        <p14:creationId xmlns:p14="http://schemas.microsoft.com/office/powerpoint/2010/main" val="22089929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50788-54AA-0D5B-2EB8-FFB3ED618F0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2B7E07-D127-C60C-5404-BC9CBF14BE7B}"/>
              </a:ext>
            </a:extLst>
          </p:cNvPr>
          <p:cNvSpPr>
            <a:spLocks noGrp="1"/>
          </p:cNvSpPr>
          <p:nvPr>
            <p:ph type="sldNum" sz="quarter" idx="12"/>
          </p:nvPr>
        </p:nvSpPr>
        <p:spPr/>
        <p:txBody>
          <a:bodyPr/>
          <a:lstStyle/>
          <a:p>
            <a:fld id="{6F215E70-FDA5-6C45-8C7C-E922E56675B4}" type="slidenum">
              <a:rPr lang="en-US"/>
              <a:t>62</a:t>
            </a:fld>
            <a:endParaRPr lang="en-US"/>
          </a:p>
        </p:txBody>
      </p:sp>
      <p:sp>
        <p:nvSpPr>
          <p:cNvPr id="3" name="TextBox 2">
            <a:extLst>
              <a:ext uri="{FF2B5EF4-FFF2-40B4-BE49-F238E27FC236}">
                <a16:creationId xmlns:a16="http://schemas.microsoft.com/office/drawing/2014/main" id="{BE9A2586-BD6C-DA1D-B7DF-C61FC9221FEB}"/>
              </a:ext>
            </a:extLst>
          </p:cNvPr>
          <p:cNvSpPr txBox="1"/>
          <p:nvPr/>
        </p:nvSpPr>
        <p:spPr>
          <a:xfrm>
            <a:off x="1011865" y="478644"/>
            <a:ext cx="3040391" cy="1077218"/>
          </a:xfrm>
          <a:prstGeom prst="rect">
            <a:avLst/>
          </a:prstGeom>
          <a:noFill/>
        </p:spPr>
        <p:txBody>
          <a:bodyPr wrap="square" rtlCol="0">
            <a:spAutoFit/>
          </a:bodyPr>
          <a:lstStyle/>
          <a:p>
            <a:r>
              <a:rPr lang="en-US" sz="3200" u="sng">
                <a:solidFill>
                  <a:schemeClr val="bg1"/>
                </a:solidFill>
                <a:latin typeface="Trebuchet MS" panose="020B0703020202090204" pitchFamily="34" charset="0"/>
              </a:rPr>
              <a:t>Translation Overview</a:t>
            </a:r>
            <a:endParaRPr lang="en-US" sz="3200">
              <a:solidFill>
                <a:schemeClr val="bg1"/>
              </a:solidFill>
              <a:latin typeface="Trebuchet MS" panose="020B0703020202090204" pitchFamily="34" charset="0"/>
            </a:endParaRPr>
          </a:p>
        </p:txBody>
      </p:sp>
      <p:sp>
        <p:nvSpPr>
          <p:cNvPr id="4" name="TextBox 3">
            <a:extLst>
              <a:ext uri="{FF2B5EF4-FFF2-40B4-BE49-F238E27FC236}">
                <a16:creationId xmlns:a16="http://schemas.microsoft.com/office/drawing/2014/main" id="{97144F73-590C-037A-874F-ABB2A9E76B0A}"/>
              </a:ext>
            </a:extLst>
          </p:cNvPr>
          <p:cNvSpPr txBox="1"/>
          <p:nvPr/>
        </p:nvSpPr>
        <p:spPr>
          <a:xfrm>
            <a:off x="4343402" y="921454"/>
            <a:ext cx="3122286" cy="1908215"/>
          </a:xfrm>
          <a:prstGeom prst="rect">
            <a:avLst/>
          </a:prstGeom>
          <a:noFill/>
        </p:spPr>
        <p:txBody>
          <a:bodyPr wrap="square" rtlCol="0">
            <a:spAutoFit/>
          </a:bodyPr>
          <a:lstStyle/>
          <a:p>
            <a:pPr>
              <a:spcAft>
                <a:spcPts val="600"/>
              </a:spcAft>
            </a:pPr>
            <a:r>
              <a:rPr lang="en-US" sz="3600" b="1">
                <a:solidFill>
                  <a:schemeClr val="bg1"/>
                </a:solidFill>
                <a:latin typeface="Courier New" panose="02070309020205020404" pitchFamily="49" charset="0"/>
                <a:cs typeface="Courier New" panose="02070309020205020404" pitchFamily="49" charset="0"/>
              </a:rPr>
              <a:t>s</a:t>
            </a:r>
            <a:r>
              <a:rPr lang="en-US" sz="3600" b="1" baseline="-25000">
                <a:solidFill>
                  <a:schemeClr val="bg1"/>
                </a:solidFill>
                <a:latin typeface="Courier New" panose="02070309020205020404" pitchFamily="49" charset="0"/>
                <a:cs typeface="Courier New" panose="02070309020205020404" pitchFamily="49" charset="0"/>
              </a:rPr>
              <a:t>x</a:t>
            </a:r>
            <a:r>
              <a:rPr lang="en-US" sz="3600" b="1">
                <a:solidFill>
                  <a:schemeClr val="bg1"/>
                </a:solidFill>
                <a:latin typeface="Courier New" panose="02070309020205020404" pitchFamily="49" charset="0"/>
                <a:cs typeface="Courier New" panose="02070309020205020404" pitchFamily="49" charset="0"/>
              </a:rPr>
              <a:t> r</a:t>
            </a:r>
            <a:r>
              <a:rPr lang="en-US" sz="3600" b="1" baseline="-25000">
                <a:solidFill>
                  <a:schemeClr val="bg1"/>
                </a:solidFill>
                <a:latin typeface="Courier New" panose="02070309020205020404" pitchFamily="49" charset="0"/>
                <a:cs typeface="Courier New" panose="02070309020205020404" pitchFamily="49" charset="0"/>
              </a:rPr>
              <a:t>xy </a:t>
            </a:r>
            <a:r>
              <a:rPr lang="en-US" sz="3600" b="1">
                <a:solidFill>
                  <a:schemeClr val="bg1"/>
                </a:solidFill>
                <a:latin typeface="Courier New" panose="02070309020205020404" pitchFamily="49" charset="0"/>
                <a:cs typeface="Courier New" panose="02070309020205020404" pitchFamily="49" charset="0"/>
              </a:rPr>
              <a:t>r</a:t>
            </a:r>
            <a:r>
              <a:rPr lang="en-US" sz="3600" b="1" baseline="-25000">
                <a:solidFill>
                  <a:schemeClr val="bg1"/>
                </a:solidFill>
                <a:latin typeface="Courier New" panose="02070309020205020404" pitchFamily="49" charset="0"/>
                <a:cs typeface="Courier New" panose="02070309020205020404" pitchFamily="49" charset="0"/>
              </a:rPr>
              <a:t>xz </a:t>
            </a:r>
            <a:r>
              <a:rPr lang="en-US" sz="3600" b="1">
                <a:solidFill>
                  <a:srgbClr val="FFFF00"/>
                </a:solidFill>
                <a:latin typeface="Courier New" panose="02070309020205020404" pitchFamily="49" charset="0"/>
                <a:cs typeface="Courier New" panose="02070309020205020404" pitchFamily="49" charset="0"/>
              </a:rPr>
              <a:t>t</a:t>
            </a:r>
            <a:r>
              <a:rPr lang="en-US" sz="3600" b="1" baseline="-25000">
                <a:solidFill>
                  <a:srgbClr val="FFFF00"/>
                </a:solidFill>
                <a:latin typeface="Courier New" panose="02070309020205020404" pitchFamily="49" charset="0"/>
                <a:cs typeface="Courier New" panose="02070309020205020404" pitchFamily="49" charset="0"/>
              </a:rPr>
              <a:t>x</a:t>
            </a:r>
            <a:endParaRPr lang="en-US" sz="3600" b="1">
              <a:solidFill>
                <a:srgbClr val="FFFF00"/>
              </a:solidFill>
              <a:latin typeface="Courier New" panose="02070309020205020404" pitchFamily="49" charset="0"/>
              <a:cs typeface="Courier New" panose="02070309020205020404" pitchFamily="49" charset="0"/>
            </a:endParaRPr>
          </a:p>
          <a:p>
            <a:pPr>
              <a:spcAft>
                <a:spcPts val="600"/>
              </a:spcAft>
            </a:pPr>
            <a:r>
              <a:rPr lang="en-US" sz="3600" b="1">
                <a:solidFill>
                  <a:schemeClr val="bg1"/>
                </a:solidFill>
                <a:latin typeface="Courier New" panose="02070309020205020404" pitchFamily="49" charset="0"/>
                <a:cs typeface="Courier New" panose="02070309020205020404" pitchFamily="49" charset="0"/>
              </a:rPr>
              <a:t>r</a:t>
            </a:r>
            <a:r>
              <a:rPr lang="en-US" sz="3600" b="1" baseline="-25000">
                <a:solidFill>
                  <a:schemeClr val="bg1"/>
                </a:solidFill>
                <a:latin typeface="Courier New" panose="02070309020205020404" pitchFamily="49" charset="0"/>
                <a:cs typeface="Courier New" panose="02070309020205020404" pitchFamily="49" charset="0"/>
              </a:rPr>
              <a:t>yx </a:t>
            </a:r>
            <a:r>
              <a:rPr lang="en-US" sz="3600" b="1">
                <a:solidFill>
                  <a:schemeClr val="bg1"/>
                </a:solidFill>
                <a:latin typeface="Courier New" panose="02070309020205020404" pitchFamily="49" charset="0"/>
                <a:cs typeface="Courier New" panose="02070309020205020404" pitchFamily="49" charset="0"/>
              </a:rPr>
              <a:t>s</a:t>
            </a:r>
            <a:r>
              <a:rPr lang="en-US" sz="3600" b="1" baseline="-25000">
                <a:solidFill>
                  <a:schemeClr val="bg1"/>
                </a:solidFill>
                <a:latin typeface="Courier New" panose="02070309020205020404" pitchFamily="49" charset="0"/>
                <a:cs typeface="Courier New" panose="02070309020205020404" pitchFamily="49" charset="0"/>
              </a:rPr>
              <a:t>y</a:t>
            </a:r>
            <a:r>
              <a:rPr lang="en-US" sz="3600" b="1">
                <a:solidFill>
                  <a:schemeClr val="bg1"/>
                </a:solidFill>
                <a:latin typeface="Courier New" panose="02070309020205020404" pitchFamily="49" charset="0"/>
                <a:cs typeface="Courier New" panose="02070309020205020404" pitchFamily="49" charset="0"/>
              </a:rPr>
              <a:t> r</a:t>
            </a:r>
            <a:r>
              <a:rPr lang="en-US" sz="3600" b="1" baseline="-25000">
                <a:solidFill>
                  <a:schemeClr val="bg1"/>
                </a:solidFill>
                <a:latin typeface="Courier New" panose="02070309020205020404" pitchFamily="49" charset="0"/>
                <a:cs typeface="Courier New" panose="02070309020205020404" pitchFamily="49" charset="0"/>
              </a:rPr>
              <a:t>yz </a:t>
            </a:r>
            <a:r>
              <a:rPr lang="en-US" sz="3600" b="1">
                <a:solidFill>
                  <a:srgbClr val="FFFF00"/>
                </a:solidFill>
                <a:latin typeface="Courier New" panose="02070309020205020404" pitchFamily="49" charset="0"/>
                <a:cs typeface="Courier New" panose="02070309020205020404" pitchFamily="49" charset="0"/>
              </a:rPr>
              <a:t>t</a:t>
            </a:r>
            <a:r>
              <a:rPr lang="en-US" sz="3600" b="1" baseline="-25000">
                <a:solidFill>
                  <a:srgbClr val="FFFF00"/>
                </a:solidFill>
                <a:latin typeface="Courier New" panose="02070309020205020404" pitchFamily="49" charset="0"/>
                <a:cs typeface="Courier New" panose="02070309020205020404" pitchFamily="49" charset="0"/>
              </a:rPr>
              <a:t>y</a:t>
            </a:r>
            <a:endParaRPr lang="en-US" sz="3600" b="1">
              <a:solidFill>
                <a:srgbClr val="FFFF00"/>
              </a:solidFill>
              <a:latin typeface="Courier New" panose="02070309020205020404" pitchFamily="49" charset="0"/>
              <a:cs typeface="Courier New" panose="02070309020205020404" pitchFamily="49" charset="0"/>
            </a:endParaRPr>
          </a:p>
          <a:p>
            <a:pPr>
              <a:spcAft>
                <a:spcPts val="600"/>
              </a:spcAft>
            </a:pPr>
            <a:r>
              <a:rPr lang="en-US" sz="3600" b="1">
                <a:solidFill>
                  <a:schemeClr val="bg1"/>
                </a:solidFill>
                <a:latin typeface="Courier New" panose="02070309020205020404" pitchFamily="49" charset="0"/>
                <a:cs typeface="Courier New" panose="02070309020205020404" pitchFamily="49" charset="0"/>
              </a:rPr>
              <a:t>r</a:t>
            </a:r>
            <a:r>
              <a:rPr lang="en-US" sz="3600" b="1" baseline="-25000">
                <a:solidFill>
                  <a:schemeClr val="bg1"/>
                </a:solidFill>
                <a:latin typeface="Courier New" panose="02070309020205020404" pitchFamily="49" charset="0"/>
                <a:cs typeface="Courier New" panose="02070309020205020404" pitchFamily="49" charset="0"/>
              </a:rPr>
              <a:t>zx </a:t>
            </a:r>
            <a:r>
              <a:rPr lang="en-US" sz="3600" b="1">
                <a:solidFill>
                  <a:schemeClr val="bg1"/>
                </a:solidFill>
                <a:latin typeface="Courier New" panose="02070309020205020404" pitchFamily="49" charset="0"/>
                <a:cs typeface="Courier New" panose="02070309020205020404" pitchFamily="49" charset="0"/>
              </a:rPr>
              <a:t>r</a:t>
            </a:r>
            <a:r>
              <a:rPr lang="en-US" sz="3600" b="1" baseline="-25000">
                <a:solidFill>
                  <a:schemeClr val="bg1"/>
                </a:solidFill>
                <a:latin typeface="Courier New" panose="02070309020205020404" pitchFamily="49" charset="0"/>
                <a:cs typeface="Courier New" panose="02070309020205020404" pitchFamily="49" charset="0"/>
              </a:rPr>
              <a:t>zy </a:t>
            </a:r>
            <a:r>
              <a:rPr lang="en-US" sz="3600" b="1">
                <a:solidFill>
                  <a:schemeClr val="bg1"/>
                </a:solidFill>
                <a:latin typeface="Courier New" panose="02070309020205020404" pitchFamily="49" charset="0"/>
                <a:cs typeface="Courier New" panose="02070309020205020404" pitchFamily="49" charset="0"/>
              </a:rPr>
              <a:t>s</a:t>
            </a:r>
            <a:r>
              <a:rPr lang="en-US" sz="3600" b="1" baseline="-25000">
                <a:solidFill>
                  <a:schemeClr val="bg1"/>
                </a:solidFill>
                <a:latin typeface="Courier New" panose="02070309020205020404" pitchFamily="49" charset="0"/>
                <a:cs typeface="Courier New" panose="02070309020205020404" pitchFamily="49" charset="0"/>
              </a:rPr>
              <a:t>z</a:t>
            </a:r>
            <a:r>
              <a:rPr lang="en-US" sz="3600" b="1">
                <a:solidFill>
                  <a:schemeClr val="bg1"/>
                </a:solidFill>
                <a:latin typeface="Courier New" panose="02070309020205020404" pitchFamily="49" charset="0"/>
                <a:cs typeface="Courier New" panose="02070309020205020404" pitchFamily="49" charset="0"/>
              </a:rPr>
              <a:t> </a:t>
            </a:r>
            <a:r>
              <a:rPr lang="en-US" sz="3600" b="1">
                <a:solidFill>
                  <a:srgbClr val="FFFF00"/>
                </a:solidFill>
                <a:latin typeface="Courier New" panose="02070309020205020404" pitchFamily="49" charset="0"/>
                <a:cs typeface="Courier New" panose="02070309020205020404" pitchFamily="49" charset="0"/>
              </a:rPr>
              <a:t>t</a:t>
            </a:r>
            <a:r>
              <a:rPr lang="en-US" sz="3600" b="1" baseline="-25000">
                <a:solidFill>
                  <a:srgbClr val="FFFF00"/>
                </a:solidFill>
                <a:latin typeface="Courier New" panose="02070309020205020404" pitchFamily="49" charset="0"/>
                <a:cs typeface="Courier New" panose="02070309020205020404" pitchFamily="49" charset="0"/>
              </a:rPr>
              <a:t>z</a:t>
            </a:r>
            <a:endParaRPr lang="en-US" sz="3600" b="1">
              <a:solidFill>
                <a:srgbClr val="FFFF00"/>
              </a:solidFill>
              <a:latin typeface="Courier New" panose="02070309020205020404" pitchFamily="49" charset="0"/>
              <a:cs typeface="Courier New" panose="02070309020205020404" pitchFamily="49" charset="0"/>
            </a:endParaRPr>
          </a:p>
        </p:txBody>
      </p:sp>
      <p:sp>
        <p:nvSpPr>
          <p:cNvPr id="5" name="Left Bracket 4">
            <a:extLst>
              <a:ext uri="{FF2B5EF4-FFF2-40B4-BE49-F238E27FC236}">
                <a16:creationId xmlns:a16="http://schemas.microsoft.com/office/drawing/2014/main" id="{C3296656-0B19-F218-0A16-9099B0E4977C}"/>
              </a:ext>
            </a:extLst>
          </p:cNvPr>
          <p:cNvSpPr/>
          <p:nvPr/>
        </p:nvSpPr>
        <p:spPr>
          <a:xfrm>
            <a:off x="4076700" y="1063421"/>
            <a:ext cx="217815" cy="2251278"/>
          </a:xfrm>
          <a:prstGeom prst="leftBracket">
            <a:avLst/>
          </a:prstGeom>
          <a:ln w="349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ln>
                <a:solidFill>
                  <a:schemeClr val="bg1"/>
                </a:solidFill>
              </a:ln>
            </a:endParaRPr>
          </a:p>
        </p:txBody>
      </p:sp>
      <p:sp>
        <p:nvSpPr>
          <p:cNvPr id="6" name="Left Bracket 5">
            <a:extLst>
              <a:ext uri="{FF2B5EF4-FFF2-40B4-BE49-F238E27FC236}">
                <a16:creationId xmlns:a16="http://schemas.microsoft.com/office/drawing/2014/main" id="{CCF0C379-8FB3-A1BD-3A7B-1A4A171472CD}"/>
              </a:ext>
            </a:extLst>
          </p:cNvPr>
          <p:cNvSpPr/>
          <p:nvPr/>
        </p:nvSpPr>
        <p:spPr>
          <a:xfrm rot="10800000">
            <a:off x="7511530" y="1063419"/>
            <a:ext cx="222770" cy="2251279"/>
          </a:xfrm>
          <a:prstGeom prst="leftBracket">
            <a:avLst/>
          </a:prstGeom>
          <a:ln w="3492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ln>
                <a:solidFill>
                  <a:schemeClr val="bg1"/>
                </a:solidFill>
              </a:ln>
            </a:endParaRPr>
          </a:p>
        </p:txBody>
      </p:sp>
      <p:sp>
        <p:nvSpPr>
          <p:cNvPr id="7" name="TextBox 6">
            <a:extLst>
              <a:ext uri="{FF2B5EF4-FFF2-40B4-BE49-F238E27FC236}">
                <a16:creationId xmlns:a16="http://schemas.microsoft.com/office/drawing/2014/main" id="{4FB56E34-935D-04AE-D5AD-80435EDABE65}"/>
              </a:ext>
            </a:extLst>
          </p:cNvPr>
          <p:cNvSpPr txBox="1"/>
          <p:nvPr/>
        </p:nvSpPr>
        <p:spPr>
          <a:xfrm>
            <a:off x="4445001" y="2829669"/>
            <a:ext cx="5183114" cy="646331"/>
          </a:xfrm>
          <a:prstGeom prst="rect">
            <a:avLst/>
          </a:prstGeom>
          <a:noFill/>
        </p:spPr>
        <p:txBody>
          <a:bodyPr wrap="square" rtlCol="0">
            <a:spAutoFit/>
          </a:bodyPr>
          <a:lstStyle/>
          <a:p>
            <a:r>
              <a:rPr lang="en-US" sz="3600" b="1">
                <a:solidFill>
                  <a:schemeClr val="bg1"/>
                </a:solidFill>
                <a:latin typeface="Courier New" panose="02070309020205020404" pitchFamily="49" charset="0"/>
                <a:cs typeface="Courier New" panose="02070309020205020404" pitchFamily="49" charset="0"/>
              </a:rPr>
              <a:t>0</a:t>
            </a:r>
            <a:r>
              <a:rPr lang="en-US" sz="3600" b="1" baseline="-25000">
                <a:solidFill>
                  <a:schemeClr val="bg1"/>
                </a:solidFill>
                <a:latin typeface="Courier New" panose="02070309020205020404" pitchFamily="49" charset="0"/>
                <a:cs typeface="Courier New" panose="02070309020205020404" pitchFamily="49" charset="0"/>
              </a:rPr>
              <a:t> </a:t>
            </a:r>
            <a:r>
              <a:rPr lang="en-US" sz="3600" b="1">
                <a:solidFill>
                  <a:schemeClr val="bg1"/>
                </a:solidFill>
                <a:latin typeface="Courier New" panose="02070309020205020404" pitchFamily="49" charset="0"/>
                <a:cs typeface="Courier New" panose="02070309020205020404" pitchFamily="49" charset="0"/>
              </a:rPr>
              <a:t> 0  0  1</a:t>
            </a:r>
          </a:p>
        </p:txBody>
      </p:sp>
      <p:sp>
        <p:nvSpPr>
          <p:cNvPr id="10" name="TextBox 9">
            <a:extLst>
              <a:ext uri="{FF2B5EF4-FFF2-40B4-BE49-F238E27FC236}">
                <a16:creationId xmlns:a16="http://schemas.microsoft.com/office/drawing/2014/main" id="{04B5C89A-525B-D709-17E2-585254A470E5}"/>
              </a:ext>
            </a:extLst>
          </p:cNvPr>
          <p:cNvSpPr txBox="1"/>
          <p:nvPr/>
        </p:nvSpPr>
        <p:spPr>
          <a:xfrm>
            <a:off x="2238837" y="3884085"/>
            <a:ext cx="8069926" cy="1200329"/>
          </a:xfrm>
          <a:prstGeom prst="rect">
            <a:avLst/>
          </a:prstGeom>
          <a:noFill/>
        </p:spPr>
        <p:txBody>
          <a:bodyPr wrap="square" rtlCol="0">
            <a:spAutoFit/>
          </a:bodyPr>
          <a:lstStyle/>
          <a:p>
            <a:r>
              <a:rPr lang="en-US" sz="2400">
                <a:solidFill>
                  <a:schemeClr val="bg1"/>
                </a:solidFill>
                <a:latin typeface="Trebuchet MS" panose="020B0703020202090204" pitchFamily="34" charset="0"/>
                <a:cs typeface="Courier New" panose="02070309020205020404" pitchFamily="49" charset="0"/>
              </a:rPr>
              <a:t>Translation of the origin in the x, y, and/or z direction can be performed using the t4 matrix as an alternative to setting values in the </a:t>
            </a:r>
            <a:r>
              <a:rPr lang="en-US" sz="2400" b="1">
                <a:solidFill>
                  <a:schemeClr val="bg1"/>
                </a:solidFill>
                <a:latin typeface="Trebuchet MS" panose="020B0703020202090204" pitchFamily="34" charset="0"/>
                <a:cs typeface="Courier New" panose="02070309020205020404" pitchFamily="49" charset="0"/>
              </a:rPr>
              <a:t>.center </a:t>
            </a:r>
            <a:r>
              <a:rPr lang="en-US" sz="2400">
                <a:solidFill>
                  <a:schemeClr val="bg1"/>
                </a:solidFill>
                <a:latin typeface="Trebuchet MS" panose="020B0703020202090204" pitchFamily="34" charset="0"/>
                <a:cs typeface="Courier New" panose="02070309020205020404" pitchFamily="49" charset="0"/>
              </a:rPr>
              <a:t>field of the info struct.</a:t>
            </a:r>
          </a:p>
        </p:txBody>
      </p:sp>
    </p:spTree>
    <p:extLst>
      <p:ext uri="{BB962C8B-B14F-4D97-AF65-F5344CB8AC3E}">
        <p14:creationId xmlns:p14="http://schemas.microsoft.com/office/powerpoint/2010/main" val="28655119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426CE-AF2F-8EF5-9712-0081CA7088BA}"/>
            </a:ext>
          </a:extLst>
        </p:cNvPr>
        <p:cNvGrpSpPr/>
        <p:nvPr/>
      </p:nvGrpSpPr>
      <p:grpSpPr>
        <a:xfrm>
          <a:off x="0" y="0"/>
          <a:ext cx="0" cy="0"/>
          <a:chOff x="0" y="0"/>
          <a:chExt cx="0" cy="0"/>
        </a:xfrm>
      </p:grpSpPr>
      <p:pic>
        <p:nvPicPr>
          <p:cNvPr id="7" name="Picture 6" descr="A screenshot of a computer&#10;&#10;Description automatically generated">
            <a:extLst>
              <a:ext uri="{FF2B5EF4-FFF2-40B4-BE49-F238E27FC236}">
                <a16:creationId xmlns:a16="http://schemas.microsoft.com/office/drawing/2014/main" id="{253AB500-59A9-9842-DE7B-F25396646F0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19265" y="3464647"/>
            <a:ext cx="5665395" cy="2560320"/>
          </a:xfrm>
          <a:prstGeom prst="rect">
            <a:avLst/>
          </a:prstGeom>
        </p:spPr>
      </p:pic>
      <p:sp>
        <p:nvSpPr>
          <p:cNvPr id="2" name="Slide Number Placeholder 1">
            <a:extLst>
              <a:ext uri="{FF2B5EF4-FFF2-40B4-BE49-F238E27FC236}">
                <a16:creationId xmlns:a16="http://schemas.microsoft.com/office/drawing/2014/main" id="{BC3BDF95-65AC-F6EB-23EB-45DF79574904}"/>
              </a:ext>
            </a:extLst>
          </p:cNvPr>
          <p:cNvSpPr>
            <a:spLocks noGrp="1"/>
          </p:cNvSpPr>
          <p:nvPr>
            <p:ph type="sldNum" sz="quarter" idx="12"/>
          </p:nvPr>
        </p:nvSpPr>
        <p:spPr/>
        <p:txBody>
          <a:bodyPr/>
          <a:lstStyle/>
          <a:p>
            <a:fld id="{6F215E70-FDA5-6C45-8C7C-E922E56675B4}" type="slidenum">
              <a:rPr lang="en-US"/>
              <a:t>63</a:t>
            </a:fld>
            <a:endParaRPr lang="en-US"/>
          </a:p>
        </p:txBody>
      </p:sp>
      <p:sp>
        <p:nvSpPr>
          <p:cNvPr id="3" name="TextBox 2">
            <a:extLst>
              <a:ext uri="{FF2B5EF4-FFF2-40B4-BE49-F238E27FC236}">
                <a16:creationId xmlns:a16="http://schemas.microsoft.com/office/drawing/2014/main" id="{CCF84E44-47A9-9709-8935-399C208708D2}"/>
              </a:ext>
            </a:extLst>
          </p:cNvPr>
          <p:cNvSpPr txBox="1"/>
          <p:nvPr/>
        </p:nvSpPr>
        <p:spPr>
          <a:xfrm>
            <a:off x="647700" y="670165"/>
            <a:ext cx="10896600" cy="2862322"/>
          </a:xfrm>
          <a:prstGeom prst="rect">
            <a:avLst/>
          </a:prstGeom>
          <a:noFill/>
        </p:spPr>
        <p:txBody>
          <a:bodyPr wrap="square" rtlCol="0">
            <a:spAutoFit/>
          </a:bodyPr>
          <a:lstStyle/>
          <a:p>
            <a:r>
              <a:rPr lang="en-US" b="1">
                <a:solidFill>
                  <a:schemeClr val="bg1"/>
                </a:solidFill>
                <a:effectLst/>
                <a:latin typeface="Courier New" panose="02070309020205020404" pitchFamily="49" charset="0"/>
                <a:cs typeface="Courier New" panose="02070309020205020404" pitchFamily="49" charset="0"/>
              </a:rPr>
              <a:t>% load and plot template</a:t>
            </a:r>
          </a:p>
          <a:p>
            <a:endParaRPr lang="en-US" b="1">
              <a:solidFill>
                <a:schemeClr val="bg1"/>
              </a:solidFill>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imgA,infoA</a:t>
            </a:r>
            <a:r>
              <a:rPr lang="en-US" b="1">
                <a:solidFill>
                  <a:schemeClr val="bg1"/>
                </a:solidFill>
                <a:effectLst/>
                <a:latin typeface="Courier New" panose="02070309020205020404" pitchFamily="49" charset="0"/>
                <a:cs typeface="Courier New" panose="02070309020205020404" pitchFamily="49" charset="0"/>
              </a:rPr>
              <a:t>] = LoadVolumetricData('Segmented_MNI152nl_on_MNI111_nifti.nii');</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p>
          <a:p>
            <a:endParaRPr lang="en-US" b="1">
              <a:solidFill>
                <a:schemeClr val="bg1"/>
              </a:solidFill>
              <a:effectLst/>
              <a:latin typeface="Courier New" panose="02070309020205020404" pitchFamily="49" charset="0"/>
              <a:cs typeface="Courier New" panose="02070309020205020404" pitchFamily="49" charset="0"/>
            </a:endParaRPr>
          </a:p>
          <a:p>
            <a:r>
              <a:rPr lang="en-US" b="1">
                <a:solidFill>
                  <a:srgbClr val="FFFF00"/>
                </a:solidFill>
                <a:effectLst/>
                <a:latin typeface="Courier New" panose="02070309020205020404" pitchFamily="49" charset="0"/>
                <a:cs typeface="Courier New" panose="02070309020205020404" pitchFamily="49" charset="0"/>
              </a:rPr>
              <a:t>infoB</a:t>
            </a:r>
            <a:r>
              <a:rPr lang="en-US" b="1">
                <a:solidFill>
                  <a:schemeClr val="bg1"/>
                </a:solidFill>
                <a:effectLst/>
                <a:latin typeface="Courier New" panose="02070309020205020404" pitchFamily="49" charset="0"/>
                <a:cs typeface="Courier New" panose="02070309020205020404" pitchFamily="49" charset="0"/>
              </a:rPr>
              <a:t> = infoA; 					% initialize infoB</a:t>
            </a:r>
          </a:p>
          <a:p>
            <a:r>
              <a:rPr lang="en-US" b="1">
                <a:solidFill>
                  <a:srgbClr val="00B0F0"/>
                </a:solidFill>
                <a:effectLst/>
                <a:latin typeface="Courier New" panose="02070309020205020404" pitchFamily="49" charset="0"/>
                <a:cs typeface="Courier New" panose="02070309020205020404" pitchFamily="49" charset="0"/>
              </a:rPr>
              <a:t>t4 = [1 0 0 -50; 0 1 0 0; 0 0 1 0; 0 0 0 1];</a:t>
            </a:r>
            <a:r>
              <a:rPr lang="en-US" b="1">
                <a:solidFill>
                  <a:srgbClr val="FFFF00"/>
                </a:solidFill>
                <a:effectLst/>
                <a:latin typeface="Courier New" panose="02070309020205020404" pitchFamily="49" charset="0"/>
                <a:cs typeface="Courier New" panose="02070309020205020404" pitchFamily="49" charset="0"/>
              </a:rPr>
              <a:t>	</a:t>
            </a:r>
            <a:r>
              <a:rPr lang="en-US" b="1">
                <a:solidFill>
                  <a:schemeClr val="bg1"/>
                </a:solidFill>
                <a:effectLst/>
                <a:latin typeface="Courier New" panose="02070309020205020404" pitchFamily="49" charset="0"/>
                <a:cs typeface="Courier New" panose="02070309020205020404" pitchFamily="49" charset="0"/>
              </a:rPr>
              <a:t>% tx = 50</a:t>
            </a:r>
          </a:p>
          <a:p>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affine3d_img(</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infoA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FF00"/>
                </a:solidFill>
                <a:effectLst/>
                <a:latin typeface="Courier New" panose="02070309020205020404" pitchFamily="49" charset="0"/>
                <a:cs typeface="Courier New" panose="02070309020205020404" pitchFamily="49" charset="0"/>
              </a:rPr>
              <a:t>infoB,</a:t>
            </a:r>
            <a:r>
              <a:rPr lang="en-US" b="1">
                <a:solidFill>
                  <a:srgbClr val="00B0F0"/>
                </a:solidFill>
                <a:effectLst/>
                <a:latin typeface="Courier New" panose="02070309020205020404" pitchFamily="49" charset="0"/>
                <a:cs typeface="Courier New" panose="02070309020205020404" pitchFamily="49" charset="0"/>
              </a:rPr>
              <a:t>t4</a:t>
            </a:r>
            <a:r>
              <a:rPr lang="en-US" b="1">
                <a:solidFill>
                  <a:schemeClr val="bg1"/>
                </a:solidFill>
                <a:effectLst/>
                <a:latin typeface="Courier New" panose="02070309020205020404" pitchFamily="49" charset="0"/>
                <a:cs typeface="Courier New" panose="02070309020205020404" pitchFamily="49" charset="0"/>
              </a:rPr>
              <a:t>); 	% generate the new image data</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plot the transformed template</a:t>
            </a:r>
          </a:p>
          <a:p>
            <a:endParaRPr lang="en-US" b="1">
              <a:solidFill>
                <a:schemeClr val="bg1"/>
              </a:solidFill>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293F4F84-24F2-B897-1B98-E040374926C8}"/>
              </a:ext>
            </a:extLst>
          </p:cNvPr>
          <p:cNvSpPr txBox="1"/>
          <p:nvPr/>
        </p:nvSpPr>
        <p:spPr>
          <a:xfrm>
            <a:off x="6521116" y="439333"/>
            <a:ext cx="5226384" cy="461665"/>
          </a:xfrm>
          <a:prstGeom prst="rect">
            <a:avLst/>
          </a:prstGeom>
          <a:noFill/>
        </p:spPr>
        <p:txBody>
          <a:bodyPr wrap="square" rtlCol="0">
            <a:spAutoFit/>
          </a:bodyPr>
          <a:lstStyle/>
          <a:p>
            <a:r>
              <a:rPr lang="en-US" sz="2400" u="sng">
                <a:solidFill>
                  <a:schemeClr val="bg1"/>
                </a:solidFill>
                <a:latin typeface="Trebuchet MS" panose="020B0703020202090204" pitchFamily="34" charset="0"/>
              </a:rPr>
              <a:t>Example 15: Translate the x origin</a:t>
            </a:r>
            <a:endParaRPr lang="en-US" sz="2400">
              <a:solidFill>
                <a:schemeClr val="bg1"/>
              </a:solidFill>
              <a:latin typeface="Trebuchet MS" panose="020B0703020202090204" pitchFamily="34" charset="0"/>
            </a:endParaRPr>
          </a:p>
        </p:txBody>
      </p:sp>
      <p:pic>
        <p:nvPicPr>
          <p:cNvPr id="8" name="Picture 7" descr="A screenshot of a computer screen&#10;&#10;Description automatically generated">
            <a:extLst>
              <a:ext uri="{FF2B5EF4-FFF2-40B4-BE49-F238E27FC236}">
                <a16:creationId xmlns:a16="http://schemas.microsoft.com/office/drawing/2014/main" id="{D32192DA-3B0E-99D2-3D73-CA30FBEAD83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2100" y="3462893"/>
            <a:ext cx="5906349" cy="2560320"/>
          </a:xfrm>
          <a:prstGeom prst="rect">
            <a:avLst/>
          </a:prstGeom>
        </p:spPr>
      </p:pic>
      <p:sp>
        <p:nvSpPr>
          <p:cNvPr id="11" name="TextBox 10">
            <a:extLst>
              <a:ext uri="{FF2B5EF4-FFF2-40B4-BE49-F238E27FC236}">
                <a16:creationId xmlns:a16="http://schemas.microsoft.com/office/drawing/2014/main" id="{5AFE9893-28F8-1469-6939-2B66BBC9A572}"/>
              </a:ext>
            </a:extLst>
          </p:cNvPr>
          <p:cNvSpPr txBox="1"/>
          <p:nvPr/>
        </p:nvSpPr>
        <p:spPr>
          <a:xfrm>
            <a:off x="2784829" y="5728993"/>
            <a:ext cx="920890" cy="461665"/>
          </a:xfrm>
          <a:prstGeom prst="rect">
            <a:avLst/>
          </a:prstGeom>
          <a:noFill/>
        </p:spPr>
        <p:txBody>
          <a:bodyPr wrap="square" rtlCol="0">
            <a:spAutoFit/>
          </a:bodyPr>
          <a:lstStyle/>
          <a:p>
            <a:r>
              <a:rPr lang="en-US" sz="2400" b="1">
                <a:solidFill>
                  <a:srgbClr val="FF0000"/>
                </a:solidFill>
                <a:latin typeface="Trebuchet MS" panose="020B0703020202090204" pitchFamily="34" charset="0"/>
              </a:rPr>
              <a:t>imgA</a:t>
            </a:r>
          </a:p>
        </p:txBody>
      </p:sp>
      <p:sp>
        <p:nvSpPr>
          <p:cNvPr id="12" name="TextBox 11">
            <a:extLst>
              <a:ext uri="{FF2B5EF4-FFF2-40B4-BE49-F238E27FC236}">
                <a16:creationId xmlns:a16="http://schemas.microsoft.com/office/drawing/2014/main" id="{F47D1018-200E-D5F6-5159-8466F49EFCDE}"/>
              </a:ext>
            </a:extLst>
          </p:cNvPr>
          <p:cNvSpPr txBox="1"/>
          <p:nvPr/>
        </p:nvSpPr>
        <p:spPr>
          <a:xfrm>
            <a:off x="8589575" y="5728993"/>
            <a:ext cx="920890" cy="461665"/>
          </a:xfrm>
          <a:prstGeom prst="rect">
            <a:avLst/>
          </a:prstGeom>
          <a:noFill/>
        </p:spPr>
        <p:txBody>
          <a:bodyPr wrap="square" rtlCol="0">
            <a:spAutoFit/>
          </a:bodyPr>
          <a:lstStyle/>
          <a:p>
            <a:r>
              <a:rPr lang="en-US" sz="2400" b="1">
                <a:solidFill>
                  <a:srgbClr val="00B050"/>
                </a:solidFill>
                <a:latin typeface="Trebuchet MS" panose="020B0703020202090204" pitchFamily="34" charset="0"/>
              </a:rPr>
              <a:t>imgB</a:t>
            </a:r>
          </a:p>
        </p:txBody>
      </p:sp>
    </p:spTree>
    <p:extLst>
      <p:ext uri="{BB962C8B-B14F-4D97-AF65-F5344CB8AC3E}">
        <p14:creationId xmlns:p14="http://schemas.microsoft.com/office/powerpoint/2010/main" val="32241495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4ACBDC-E005-F810-8E43-E3D3D36334C9}"/>
              </a:ext>
            </a:extLst>
          </p:cNvPr>
          <p:cNvSpPr>
            <a:spLocks noGrp="1"/>
          </p:cNvSpPr>
          <p:nvPr>
            <p:ph type="sldNum" sz="quarter" idx="12"/>
          </p:nvPr>
        </p:nvSpPr>
        <p:spPr>
          <a:xfrm>
            <a:off x="8610600" y="6368382"/>
            <a:ext cx="2743200" cy="365125"/>
          </a:xfrm>
        </p:spPr>
        <p:txBody>
          <a:bodyPr/>
          <a:lstStyle/>
          <a:p>
            <a:fld id="{6F215E70-FDA5-6C45-8C7C-E922E56675B4}" type="slidenum">
              <a:rPr lang="en-US"/>
              <a:t>64</a:t>
            </a:fld>
            <a:endParaRPr lang="en-US"/>
          </a:p>
        </p:txBody>
      </p:sp>
      <p:pic>
        <p:nvPicPr>
          <p:cNvPr id="3" name="Picture 2" descr="A screenshot of a computer&#10;&#10;Description automatically generated">
            <a:extLst>
              <a:ext uri="{FF2B5EF4-FFF2-40B4-BE49-F238E27FC236}">
                <a16:creationId xmlns:a16="http://schemas.microsoft.com/office/drawing/2014/main" id="{A96F2AE3-4357-8F31-C341-C0CE7662AFD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11303" y="748349"/>
            <a:ext cx="5665395" cy="2560320"/>
          </a:xfrm>
          <a:prstGeom prst="rect">
            <a:avLst/>
          </a:prstGeom>
        </p:spPr>
      </p:pic>
      <p:sp>
        <p:nvSpPr>
          <p:cNvPr id="5" name="TextBox 4">
            <a:extLst>
              <a:ext uri="{FF2B5EF4-FFF2-40B4-BE49-F238E27FC236}">
                <a16:creationId xmlns:a16="http://schemas.microsoft.com/office/drawing/2014/main" id="{470CAB49-E1B5-076C-C282-7291E387FFAC}"/>
              </a:ext>
            </a:extLst>
          </p:cNvPr>
          <p:cNvSpPr txBox="1"/>
          <p:nvPr/>
        </p:nvSpPr>
        <p:spPr>
          <a:xfrm>
            <a:off x="5861775" y="2949124"/>
            <a:ext cx="6197599" cy="369332"/>
          </a:xfrm>
          <a:prstGeom prst="rect">
            <a:avLst/>
          </a:prstGeom>
          <a:noFill/>
        </p:spPr>
        <p:txBody>
          <a:bodyPr wrap="square">
            <a:spAutoFit/>
          </a:bodyPr>
          <a:lstStyle/>
          <a:p>
            <a:r>
              <a:rPr lang="en-US" b="1">
                <a:solidFill>
                  <a:srgbClr val="00B0F0"/>
                </a:solidFill>
                <a:latin typeface="Courier New" panose="02070309020205020404" pitchFamily="49" charset="0"/>
                <a:cs typeface="Courier New" panose="02070309020205020404" pitchFamily="49" charset="0"/>
              </a:rPr>
              <a:t>t4</a:t>
            </a:r>
            <a:r>
              <a:rPr lang="en-US" b="1">
                <a:solidFill>
                  <a:srgbClr val="00B0F0"/>
                </a:solidFill>
                <a:effectLst/>
                <a:latin typeface="Courier New" panose="02070309020205020404" pitchFamily="49" charset="0"/>
                <a:cs typeface="Courier New" panose="02070309020205020404" pitchFamily="49" charset="0"/>
              </a:rPr>
              <a:t> = [1 0 0 -50; 0 1 0 0; 0 0 1 0; 0 0 0 1]</a:t>
            </a:r>
            <a:endParaRPr lang="en-US" b="1">
              <a:solidFill>
                <a:schemeClr val="bg1"/>
              </a:solidFill>
              <a:effectLst/>
              <a:latin typeface="Courier New" panose="02070309020205020404" pitchFamily="49" charset="0"/>
              <a:cs typeface="Courier New" panose="02070309020205020404" pitchFamily="49" charset="0"/>
            </a:endParaRPr>
          </a:p>
        </p:txBody>
      </p:sp>
      <p:pic>
        <p:nvPicPr>
          <p:cNvPr id="6" name="Picture 5" descr="A screenshot of a computer&#10;&#10;Description automatically generated">
            <a:extLst>
              <a:ext uri="{FF2B5EF4-FFF2-40B4-BE49-F238E27FC236}">
                <a16:creationId xmlns:a16="http://schemas.microsoft.com/office/drawing/2014/main" id="{47933BEC-7992-5E26-FBE9-3AED48E58EB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62560" y="748349"/>
            <a:ext cx="5669280" cy="2562074"/>
          </a:xfrm>
          <a:prstGeom prst="rect">
            <a:avLst/>
          </a:prstGeom>
        </p:spPr>
      </p:pic>
      <p:sp>
        <p:nvSpPr>
          <p:cNvPr id="8" name="TextBox 7">
            <a:extLst>
              <a:ext uri="{FF2B5EF4-FFF2-40B4-BE49-F238E27FC236}">
                <a16:creationId xmlns:a16="http://schemas.microsoft.com/office/drawing/2014/main" id="{FE12F900-0F2A-3586-CF2F-D1F0E317BB81}"/>
              </a:ext>
            </a:extLst>
          </p:cNvPr>
          <p:cNvSpPr txBox="1"/>
          <p:nvPr/>
        </p:nvSpPr>
        <p:spPr>
          <a:xfrm>
            <a:off x="220308" y="2949124"/>
            <a:ext cx="5553785" cy="646331"/>
          </a:xfrm>
          <a:prstGeom prst="rect">
            <a:avLst/>
          </a:prstGeom>
          <a:noFill/>
        </p:spPr>
        <p:txBody>
          <a:bodyPr wrap="square">
            <a:spAutoFit/>
          </a:bodyPr>
          <a:lstStyle/>
          <a:p>
            <a:r>
              <a:rPr lang="en-US" b="1">
                <a:solidFill>
                  <a:srgbClr val="FFFF00"/>
                </a:solidFill>
                <a:effectLst/>
                <a:latin typeface="Courier New" panose="02070309020205020404" pitchFamily="49" charset="0"/>
                <a:cs typeface="Courier New" panose="02070309020205020404" pitchFamily="49" charset="0"/>
              </a:rPr>
              <a:t>infoB.center(1) = infoB.center(1) + 50; </a:t>
            </a:r>
            <a:r>
              <a:rPr lang="en-US" b="1">
                <a:solidFill>
                  <a:schemeClr val="bg1"/>
                </a:solidFill>
                <a:effectLst/>
                <a:latin typeface="Courier New" panose="02070309020205020404" pitchFamily="49" charset="0"/>
                <a:cs typeface="Courier New" panose="02070309020205020404" pitchFamily="49" charset="0"/>
              </a:rPr>
              <a:t>	</a:t>
            </a:r>
          </a:p>
        </p:txBody>
      </p:sp>
      <p:sp>
        <p:nvSpPr>
          <p:cNvPr id="11" name="TextBox 10">
            <a:extLst>
              <a:ext uri="{FF2B5EF4-FFF2-40B4-BE49-F238E27FC236}">
                <a16:creationId xmlns:a16="http://schemas.microsoft.com/office/drawing/2014/main" id="{157C5D49-9FFB-0940-5DF5-B8DD642CB6B0}"/>
              </a:ext>
            </a:extLst>
          </p:cNvPr>
          <p:cNvSpPr txBox="1"/>
          <p:nvPr/>
        </p:nvSpPr>
        <p:spPr>
          <a:xfrm>
            <a:off x="806450" y="420070"/>
            <a:ext cx="4381500" cy="400110"/>
          </a:xfrm>
          <a:prstGeom prst="rect">
            <a:avLst/>
          </a:prstGeom>
          <a:noFill/>
        </p:spPr>
        <p:txBody>
          <a:bodyPr wrap="square" rtlCol="0">
            <a:spAutoFit/>
          </a:bodyPr>
          <a:lstStyle/>
          <a:p>
            <a:r>
              <a:rPr lang="en-US" sz="2000" u="sng">
                <a:solidFill>
                  <a:schemeClr val="bg1"/>
                </a:solidFill>
                <a:latin typeface="Trebuchet MS" panose="020B0703020202090204" pitchFamily="34" charset="0"/>
              </a:rPr>
              <a:t>Example 1: Translate the x-origin</a:t>
            </a:r>
            <a:endParaRPr lang="en-US" sz="2000">
              <a:solidFill>
                <a:schemeClr val="bg1"/>
              </a:solidFill>
              <a:latin typeface="Trebuchet MS" panose="020B0703020202090204" pitchFamily="34" charset="0"/>
            </a:endParaRPr>
          </a:p>
        </p:txBody>
      </p:sp>
      <p:sp>
        <p:nvSpPr>
          <p:cNvPr id="12" name="TextBox 11">
            <a:extLst>
              <a:ext uri="{FF2B5EF4-FFF2-40B4-BE49-F238E27FC236}">
                <a16:creationId xmlns:a16="http://schemas.microsoft.com/office/drawing/2014/main" id="{1B653207-6E5A-F361-03F2-010A7B70E040}"/>
              </a:ext>
            </a:extLst>
          </p:cNvPr>
          <p:cNvSpPr txBox="1"/>
          <p:nvPr/>
        </p:nvSpPr>
        <p:spPr>
          <a:xfrm>
            <a:off x="6953250" y="420070"/>
            <a:ext cx="4381500" cy="400110"/>
          </a:xfrm>
          <a:prstGeom prst="rect">
            <a:avLst/>
          </a:prstGeom>
          <a:noFill/>
        </p:spPr>
        <p:txBody>
          <a:bodyPr wrap="square" rtlCol="0">
            <a:spAutoFit/>
          </a:bodyPr>
          <a:lstStyle/>
          <a:p>
            <a:r>
              <a:rPr lang="en-US" sz="2000" u="sng">
                <a:solidFill>
                  <a:schemeClr val="bg1"/>
                </a:solidFill>
                <a:latin typeface="Trebuchet MS" panose="020B0703020202090204" pitchFamily="34" charset="0"/>
              </a:rPr>
              <a:t>Example 15: Translate the x-origin</a:t>
            </a:r>
            <a:endParaRPr lang="en-US" sz="2000">
              <a:solidFill>
                <a:schemeClr val="bg1"/>
              </a:solidFill>
              <a:latin typeface="Trebuchet MS" panose="020B0703020202090204" pitchFamily="34" charset="0"/>
            </a:endParaRPr>
          </a:p>
        </p:txBody>
      </p:sp>
      <p:sp>
        <p:nvSpPr>
          <p:cNvPr id="13" name="TextBox 12">
            <a:extLst>
              <a:ext uri="{FF2B5EF4-FFF2-40B4-BE49-F238E27FC236}">
                <a16:creationId xmlns:a16="http://schemas.microsoft.com/office/drawing/2014/main" id="{13E8A973-A163-431E-BF23-B8218AE68E1D}"/>
              </a:ext>
            </a:extLst>
          </p:cNvPr>
          <p:cNvSpPr txBox="1"/>
          <p:nvPr/>
        </p:nvSpPr>
        <p:spPr>
          <a:xfrm>
            <a:off x="1829558" y="3680644"/>
            <a:ext cx="9335748" cy="2554545"/>
          </a:xfrm>
          <a:prstGeom prst="rect">
            <a:avLst/>
          </a:prstGeom>
          <a:noFill/>
        </p:spPr>
        <p:txBody>
          <a:bodyPr wrap="square" rtlCol="0">
            <a:spAutoFit/>
          </a:bodyPr>
          <a:lstStyle/>
          <a:p>
            <a:r>
              <a:rPr lang="en-US" sz="2000" u="sng">
                <a:solidFill>
                  <a:schemeClr val="bg1"/>
                </a:solidFill>
                <a:latin typeface="Trebuchet MS" panose="020B0703020202090204" pitchFamily="34" charset="0"/>
                <a:cs typeface="Courier New" panose="02070309020205020404" pitchFamily="49" charset="0"/>
              </a:rPr>
              <a:t>Footnote</a:t>
            </a:r>
            <a:r>
              <a:rPr lang="en-US" sz="2000">
                <a:solidFill>
                  <a:schemeClr val="bg1"/>
                </a:solidFill>
                <a:latin typeface="Trebuchet MS" panose="020B0703020202090204" pitchFamily="34" charset="0"/>
                <a:cs typeface="Courier New" panose="02070309020205020404" pitchFamily="49" charset="0"/>
              </a:rPr>
              <a:t>: Example 15 implements the same transformation demonstrated in Example 1. However, when using the t4 matrix, the translation is </a:t>
            </a:r>
            <a:r>
              <a:rPr lang="en-US" sz="2000" u="sng">
                <a:solidFill>
                  <a:schemeClr val="bg1"/>
                </a:solidFill>
                <a:latin typeface="Trebuchet MS" panose="020B0703020202090204" pitchFamily="34" charset="0"/>
                <a:cs typeface="Courier New" panose="02070309020205020404" pitchFamily="49" charset="0"/>
              </a:rPr>
              <a:t>negative</a:t>
            </a:r>
            <a:r>
              <a:rPr lang="en-US" sz="2000">
                <a:solidFill>
                  <a:schemeClr val="bg1"/>
                </a:solidFill>
                <a:latin typeface="Trebuchet MS" panose="020B0703020202090204" pitchFamily="34" charset="0"/>
                <a:cs typeface="Courier New" panose="02070309020205020404" pitchFamily="49" charset="0"/>
              </a:rPr>
              <a:t>. Technically, this is because the t4 matrix acts on the </a:t>
            </a:r>
            <a:r>
              <a:rPr lang="en-US" sz="2000" u="sng">
                <a:solidFill>
                  <a:schemeClr val="bg1"/>
                </a:solidFill>
                <a:latin typeface="Trebuchet MS" panose="020B0703020202090204" pitchFamily="34" charset="0"/>
                <a:cs typeface="Courier New" panose="02070309020205020404" pitchFamily="49" charset="0"/>
              </a:rPr>
              <a:t>space</a:t>
            </a:r>
            <a:r>
              <a:rPr lang="en-US" sz="2000">
                <a:solidFill>
                  <a:schemeClr val="bg1"/>
                </a:solidFill>
                <a:latin typeface="Trebuchet MS" panose="020B0703020202090204" pitchFamily="34" charset="0"/>
                <a:cs typeface="Courier New" panose="02070309020205020404" pitchFamily="49" charset="0"/>
              </a:rPr>
              <a:t> not the </a:t>
            </a:r>
            <a:r>
              <a:rPr lang="en-US" sz="2000" u="sng">
                <a:solidFill>
                  <a:schemeClr val="bg1"/>
                </a:solidFill>
                <a:latin typeface="Trebuchet MS" panose="020B0703020202090204" pitchFamily="34" charset="0"/>
                <a:cs typeface="Courier New" panose="02070309020205020404" pitchFamily="49" charset="0"/>
              </a:rPr>
              <a:t>data</a:t>
            </a:r>
            <a:r>
              <a:rPr lang="en-US" sz="2000">
                <a:solidFill>
                  <a:schemeClr val="bg1"/>
                </a:solidFill>
                <a:latin typeface="Trebuchet MS" panose="020B0703020202090204" pitchFamily="34" charset="0"/>
                <a:cs typeface="Courier New" panose="02070309020205020404" pitchFamily="49" charset="0"/>
              </a:rPr>
              <a:t>. However, a simple mnemonic is that the t4 matrix transforms the </a:t>
            </a:r>
            <a:r>
              <a:rPr lang="en-US" sz="2000" u="sng">
                <a:solidFill>
                  <a:schemeClr val="bg1"/>
                </a:solidFill>
                <a:latin typeface="Trebuchet MS" panose="020B0703020202090204" pitchFamily="34" charset="0"/>
                <a:cs typeface="Courier New" panose="02070309020205020404" pitchFamily="49" charset="0"/>
              </a:rPr>
              <a:t>output</a:t>
            </a:r>
            <a:r>
              <a:rPr lang="en-US" sz="2000">
                <a:solidFill>
                  <a:schemeClr val="bg1"/>
                </a:solidFill>
                <a:latin typeface="Trebuchet MS" panose="020B0703020202090204" pitchFamily="34" charset="0"/>
                <a:cs typeface="Courier New" panose="02070309020205020404" pitchFamily="49" charset="0"/>
              </a:rPr>
              <a:t> to the </a:t>
            </a:r>
            <a:r>
              <a:rPr lang="en-US" sz="2000" u="sng">
                <a:solidFill>
                  <a:schemeClr val="bg1"/>
                </a:solidFill>
                <a:latin typeface="Trebuchet MS" panose="020B0703020202090204" pitchFamily="34" charset="0"/>
                <a:cs typeface="Courier New" panose="02070309020205020404" pitchFamily="49" charset="0"/>
              </a:rPr>
              <a:t>input</a:t>
            </a:r>
            <a:r>
              <a:rPr lang="en-US" sz="2000">
                <a:solidFill>
                  <a:schemeClr val="bg1"/>
                </a:solidFill>
                <a:latin typeface="Trebuchet MS" panose="020B0703020202090204" pitchFamily="34" charset="0"/>
                <a:cs typeface="Courier New" panose="02070309020205020404" pitchFamily="49" charset="0"/>
              </a:rPr>
              <a:t>, not input to output (this has been true in all of the examples, but it becomes obvious when applying translations). </a:t>
            </a:r>
          </a:p>
          <a:p>
            <a:endParaRPr lang="en-US" sz="2000">
              <a:solidFill>
                <a:schemeClr val="bg1"/>
              </a:solidFill>
              <a:latin typeface="Trebuchet MS" panose="020B0703020202090204" pitchFamily="34" charset="0"/>
              <a:cs typeface="Courier New" panose="02070309020205020404" pitchFamily="49" charset="0"/>
            </a:endParaRPr>
          </a:p>
          <a:p>
            <a:r>
              <a:rPr lang="en-US" sz="2000">
                <a:solidFill>
                  <a:schemeClr val="bg1"/>
                </a:solidFill>
                <a:latin typeface="Trebuchet MS" panose="020B0703020202090204" pitchFamily="34" charset="0"/>
                <a:cs typeface="Courier New" panose="02070309020205020404" pitchFamily="49" charset="0"/>
              </a:rPr>
              <a:t>As such, </a:t>
            </a:r>
            <a:r>
              <a:rPr lang="en-US" sz="2000" b="1" spc="-300">
                <a:solidFill>
                  <a:schemeClr val="bg1"/>
                </a:solidFill>
                <a:latin typeface="Courier New" panose="02070309020205020404" pitchFamily="49" charset="0"/>
                <a:cs typeface="Courier New" panose="02070309020205020404" pitchFamily="49" charset="0"/>
              </a:rPr>
              <a:t>t4(1,4)</a:t>
            </a:r>
            <a:r>
              <a:rPr lang="en-US" sz="2000">
                <a:solidFill>
                  <a:schemeClr val="bg1"/>
                </a:solidFill>
                <a:latin typeface="Trebuchet MS" panose="020B0703020202090204" pitchFamily="34" charset="0"/>
                <a:cs typeface="Courier New" panose="02070309020205020404" pitchFamily="49" charset="0"/>
              </a:rPr>
              <a:t> here must be </a:t>
            </a:r>
            <a:r>
              <a:rPr lang="en-US" sz="2000" u="sng">
                <a:solidFill>
                  <a:schemeClr val="bg1"/>
                </a:solidFill>
                <a:latin typeface="Trebuchet MS" panose="020B0703020202090204" pitchFamily="34" charset="0"/>
                <a:cs typeface="Courier New" panose="02070309020205020404" pitchFamily="49" charset="0"/>
              </a:rPr>
              <a:t>negative</a:t>
            </a:r>
            <a:r>
              <a:rPr lang="en-US" sz="2000">
                <a:solidFill>
                  <a:schemeClr val="bg1"/>
                </a:solidFill>
                <a:latin typeface="Trebuchet MS" panose="020B0703020202090204" pitchFamily="34" charset="0"/>
                <a:cs typeface="Courier New" panose="02070309020205020404" pitchFamily="49" charset="0"/>
              </a:rPr>
              <a:t>. </a:t>
            </a:r>
          </a:p>
        </p:txBody>
      </p:sp>
      <p:sp>
        <p:nvSpPr>
          <p:cNvPr id="14" name="Oval 13">
            <a:extLst>
              <a:ext uri="{FF2B5EF4-FFF2-40B4-BE49-F238E27FC236}">
                <a16:creationId xmlns:a16="http://schemas.microsoft.com/office/drawing/2014/main" id="{3CB0B520-ABB5-6923-4CD1-77D93A21D50A}"/>
              </a:ext>
            </a:extLst>
          </p:cNvPr>
          <p:cNvSpPr>
            <a:spLocks noChangeAspect="1"/>
          </p:cNvSpPr>
          <p:nvPr/>
        </p:nvSpPr>
        <p:spPr>
          <a:xfrm>
            <a:off x="7463151" y="2740346"/>
            <a:ext cx="731520" cy="731520"/>
          </a:xfrm>
          <a:prstGeom prst="ellipse">
            <a:avLst/>
          </a:prstGeom>
          <a:no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63648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87B7A-ACA5-4851-BEA2-69BB3ACE9930}"/>
            </a:ext>
          </a:extLst>
        </p:cNvPr>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FB323827-876C-ED14-9AE9-7F90879167E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19266" y="3464647"/>
            <a:ext cx="5665394" cy="2560320"/>
          </a:xfrm>
          <a:prstGeom prst="rect">
            <a:avLst/>
          </a:prstGeom>
        </p:spPr>
      </p:pic>
      <p:sp>
        <p:nvSpPr>
          <p:cNvPr id="2" name="Slide Number Placeholder 1">
            <a:extLst>
              <a:ext uri="{FF2B5EF4-FFF2-40B4-BE49-F238E27FC236}">
                <a16:creationId xmlns:a16="http://schemas.microsoft.com/office/drawing/2014/main" id="{26319F4E-EABF-0271-BF5D-790A74D4C923}"/>
              </a:ext>
            </a:extLst>
          </p:cNvPr>
          <p:cNvSpPr>
            <a:spLocks noGrp="1"/>
          </p:cNvSpPr>
          <p:nvPr>
            <p:ph type="sldNum" sz="quarter" idx="12"/>
          </p:nvPr>
        </p:nvSpPr>
        <p:spPr/>
        <p:txBody>
          <a:bodyPr/>
          <a:lstStyle/>
          <a:p>
            <a:fld id="{6F215E70-FDA5-6C45-8C7C-E922E56675B4}" type="slidenum">
              <a:rPr lang="en-US"/>
              <a:t>65</a:t>
            </a:fld>
            <a:endParaRPr lang="en-US"/>
          </a:p>
        </p:txBody>
      </p:sp>
      <p:sp>
        <p:nvSpPr>
          <p:cNvPr id="3" name="TextBox 2">
            <a:extLst>
              <a:ext uri="{FF2B5EF4-FFF2-40B4-BE49-F238E27FC236}">
                <a16:creationId xmlns:a16="http://schemas.microsoft.com/office/drawing/2014/main" id="{8C9DA38F-E5E8-207C-E074-271895691D4B}"/>
              </a:ext>
            </a:extLst>
          </p:cNvPr>
          <p:cNvSpPr txBox="1"/>
          <p:nvPr/>
        </p:nvSpPr>
        <p:spPr>
          <a:xfrm>
            <a:off x="647700" y="670165"/>
            <a:ext cx="10896600" cy="2862322"/>
          </a:xfrm>
          <a:prstGeom prst="rect">
            <a:avLst/>
          </a:prstGeom>
          <a:noFill/>
        </p:spPr>
        <p:txBody>
          <a:bodyPr wrap="square" rtlCol="0">
            <a:spAutoFit/>
          </a:bodyPr>
          <a:lstStyle/>
          <a:p>
            <a:r>
              <a:rPr lang="en-US" b="1">
                <a:solidFill>
                  <a:schemeClr val="bg1"/>
                </a:solidFill>
                <a:effectLst/>
                <a:latin typeface="Courier New" panose="02070309020205020404" pitchFamily="49" charset="0"/>
                <a:cs typeface="Courier New" panose="02070309020205020404" pitchFamily="49" charset="0"/>
              </a:rPr>
              <a:t>% load and plot template</a:t>
            </a:r>
          </a:p>
          <a:p>
            <a:endParaRPr lang="en-US" b="1">
              <a:solidFill>
                <a:schemeClr val="bg1"/>
              </a:solidFill>
              <a:latin typeface="Courier New" panose="02070309020205020404" pitchFamily="49" charset="0"/>
              <a:cs typeface="Courier New" panose="02070309020205020404" pitchFamily="49" charset="0"/>
            </a:endParaRPr>
          </a:p>
          <a:p>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imgA,infoA</a:t>
            </a:r>
            <a:r>
              <a:rPr lang="en-US" b="1">
                <a:solidFill>
                  <a:schemeClr val="bg1"/>
                </a:solidFill>
                <a:effectLst/>
                <a:latin typeface="Courier New" panose="02070309020205020404" pitchFamily="49" charset="0"/>
                <a:cs typeface="Courier New" panose="02070309020205020404" pitchFamily="49" charset="0"/>
              </a:rPr>
              <a:t>] = LoadVolumetricData('Segmented_MNI152nl_on_MNI111_nifti.nii');</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p>
          <a:p>
            <a:endParaRPr lang="en-US" b="1">
              <a:solidFill>
                <a:schemeClr val="bg1"/>
              </a:solidFill>
              <a:effectLst/>
              <a:latin typeface="Courier New" panose="02070309020205020404" pitchFamily="49" charset="0"/>
              <a:cs typeface="Courier New" panose="02070309020205020404" pitchFamily="49" charset="0"/>
            </a:endParaRPr>
          </a:p>
          <a:p>
            <a:r>
              <a:rPr lang="en-US" b="1">
                <a:solidFill>
                  <a:srgbClr val="FFFF00"/>
                </a:solidFill>
                <a:effectLst/>
                <a:latin typeface="Courier New" panose="02070309020205020404" pitchFamily="49" charset="0"/>
                <a:cs typeface="Courier New" panose="02070309020205020404" pitchFamily="49" charset="0"/>
              </a:rPr>
              <a:t>infoB</a:t>
            </a:r>
            <a:r>
              <a:rPr lang="en-US" b="1">
                <a:solidFill>
                  <a:schemeClr val="bg1"/>
                </a:solidFill>
                <a:effectLst/>
                <a:latin typeface="Courier New" panose="02070309020205020404" pitchFamily="49" charset="0"/>
                <a:cs typeface="Courier New" panose="02070309020205020404" pitchFamily="49" charset="0"/>
              </a:rPr>
              <a:t> = infoA; 					% initialize infoB</a:t>
            </a:r>
          </a:p>
          <a:p>
            <a:r>
              <a:rPr lang="en-US" b="1">
                <a:solidFill>
                  <a:srgbClr val="00B0F0"/>
                </a:solidFill>
                <a:effectLst/>
                <a:latin typeface="Courier New" panose="02070309020205020404" pitchFamily="49" charset="0"/>
                <a:cs typeface="Courier New" panose="02070309020205020404" pitchFamily="49" charset="0"/>
              </a:rPr>
              <a:t>t4 = [2 0 0 -50; 0 2 0 0; 0 0 2 0; 0 0 0 1];</a:t>
            </a:r>
            <a:r>
              <a:rPr lang="en-US" b="1">
                <a:solidFill>
                  <a:srgbClr val="FFFF00"/>
                </a:solidFill>
                <a:effectLst/>
                <a:latin typeface="Courier New" panose="02070309020205020404" pitchFamily="49" charset="0"/>
                <a:cs typeface="Courier New" panose="02070309020205020404" pitchFamily="49" charset="0"/>
              </a:rPr>
              <a:t>	</a:t>
            </a:r>
            <a:r>
              <a:rPr lang="en-US" b="1">
                <a:solidFill>
                  <a:schemeClr val="bg1"/>
                </a:solidFill>
                <a:effectLst/>
                <a:latin typeface="Courier New" panose="02070309020205020404" pitchFamily="49" charset="0"/>
                <a:cs typeface="Courier New" panose="02070309020205020404" pitchFamily="49" charset="0"/>
              </a:rPr>
              <a:t>% scale *and* translate</a:t>
            </a:r>
          </a:p>
          <a:p>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affine3d_img(</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0000"/>
                </a:solidFill>
                <a:effectLst/>
                <a:latin typeface="Courier New" panose="02070309020205020404" pitchFamily="49" charset="0"/>
                <a:cs typeface="Courier New" panose="02070309020205020404" pitchFamily="49" charset="0"/>
              </a:rPr>
              <a:t>infoA</a:t>
            </a:r>
            <a:r>
              <a:rPr lang="en-US" b="1">
                <a:solidFill>
                  <a:schemeClr val="bg1"/>
                </a:solidFill>
                <a:effectLst/>
                <a:latin typeface="Courier New" panose="02070309020205020404" pitchFamily="49" charset="0"/>
                <a:cs typeface="Courier New" panose="02070309020205020404" pitchFamily="49" charset="0"/>
              </a:rPr>
              <a:t>,</a:t>
            </a:r>
            <a:r>
              <a:rPr lang="en-US" b="1">
                <a:solidFill>
                  <a:srgbClr val="FFFF00"/>
                </a:solidFill>
                <a:effectLst/>
                <a:latin typeface="Courier New" panose="02070309020205020404" pitchFamily="49" charset="0"/>
                <a:cs typeface="Courier New" panose="02070309020205020404" pitchFamily="49" charset="0"/>
              </a:rPr>
              <a:t>infoB,</a:t>
            </a:r>
            <a:r>
              <a:rPr lang="en-US" b="1">
                <a:solidFill>
                  <a:srgbClr val="00B0F0"/>
                </a:solidFill>
                <a:effectLst/>
                <a:latin typeface="Courier New" panose="02070309020205020404" pitchFamily="49" charset="0"/>
                <a:cs typeface="Courier New" panose="02070309020205020404" pitchFamily="49" charset="0"/>
              </a:rPr>
              <a:t>t4</a:t>
            </a:r>
            <a:r>
              <a:rPr lang="en-US" b="1">
                <a:solidFill>
                  <a:schemeClr val="bg1"/>
                </a:solidFill>
                <a:effectLst/>
                <a:latin typeface="Courier New" panose="02070309020205020404" pitchFamily="49" charset="0"/>
                <a:cs typeface="Courier New" panose="02070309020205020404" pitchFamily="49" charset="0"/>
              </a:rPr>
              <a:t>); 	% generate the new image data</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plot the transformed template</a:t>
            </a:r>
          </a:p>
          <a:p>
            <a:endParaRPr lang="en-US" b="1">
              <a:solidFill>
                <a:schemeClr val="bg1"/>
              </a:solidFill>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1D49D6EE-21F7-A162-F8CA-4B4D389F45E6}"/>
              </a:ext>
            </a:extLst>
          </p:cNvPr>
          <p:cNvSpPr txBox="1"/>
          <p:nvPr/>
        </p:nvSpPr>
        <p:spPr>
          <a:xfrm>
            <a:off x="6972300" y="439333"/>
            <a:ext cx="4775200" cy="461665"/>
          </a:xfrm>
          <a:prstGeom prst="rect">
            <a:avLst/>
          </a:prstGeom>
          <a:noFill/>
        </p:spPr>
        <p:txBody>
          <a:bodyPr wrap="square" rtlCol="0">
            <a:spAutoFit/>
          </a:bodyPr>
          <a:lstStyle/>
          <a:p>
            <a:r>
              <a:rPr lang="en-US" sz="2400" u="sng">
                <a:solidFill>
                  <a:schemeClr val="bg1"/>
                </a:solidFill>
                <a:latin typeface="Trebuchet MS" panose="020B0703020202090204" pitchFamily="34" charset="0"/>
              </a:rPr>
              <a:t>Example 16: Scale and translate</a:t>
            </a:r>
            <a:endParaRPr lang="en-US" sz="2400">
              <a:solidFill>
                <a:schemeClr val="bg1"/>
              </a:solidFill>
              <a:latin typeface="Trebuchet MS" panose="020B0703020202090204" pitchFamily="34" charset="0"/>
            </a:endParaRPr>
          </a:p>
        </p:txBody>
      </p:sp>
      <p:pic>
        <p:nvPicPr>
          <p:cNvPr id="8" name="Picture 7" descr="A screenshot of a computer screen&#10;&#10;Description automatically generated">
            <a:extLst>
              <a:ext uri="{FF2B5EF4-FFF2-40B4-BE49-F238E27FC236}">
                <a16:creationId xmlns:a16="http://schemas.microsoft.com/office/drawing/2014/main" id="{A9592485-E85A-246C-3A11-9CDE9FA886C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2100" y="3462893"/>
            <a:ext cx="5906349" cy="2560320"/>
          </a:xfrm>
          <a:prstGeom prst="rect">
            <a:avLst/>
          </a:prstGeom>
        </p:spPr>
      </p:pic>
      <p:sp>
        <p:nvSpPr>
          <p:cNvPr id="11" name="TextBox 10">
            <a:extLst>
              <a:ext uri="{FF2B5EF4-FFF2-40B4-BE49-F238E27FC236}">
                <a16:creationId xmlns:a16="http://schemas.microsoft.com/office/drawing/2014/main" id="{B0FC87F1-7A4D-1A42-3432-B7B020B59792}"/>
              </a:ext>
            </a:extLst>
          </p:cNvPr>
          <p:cNvSpPr txBox="1"/>
          <p:nvPr/>
        </p:nvSpPr>
        <p:spPr>
          <a:xfrm>
            <a:off x="2784829" y="5728993"/>
            <a:ext cx="920890" cy="461665"/>
          </a:xfrm>
          <a:prstGeom prst="rect">
            <a:avLst/>
          </a:prstGeom>
          <a:noFill/>
        </p:spPr>
        <p:txBody>
          <a:bodyPr wrap="square" rtlCol="0">
            <a:spAutoFit/>
          </a:bodyPr>
          <a:lstStyle/>
          <a:p>
            <a:r>
              <a:rPr lang="en-US" sz="2400" b="1">
                <a:solidFill>
                  <a:srgbClr val="FF0000"/>
                </a:solidFill>
                <a:latin typeface="Trebuchet MS" panose="020B0703020202090204" pitchFamily="34" charset="0"/>
              </a:rPr>
              <a:t>imgA</a:t>
            </a:r>
          </a:p>
        </p:txBody>
      </p:sp>
      <p:sp>
        <p:nvSpPr>
          <p:cNvPr id="12" name="TextBox 11">
            <a:extLst>
              <a:ext uri="{FF2B5EF4-FFF2-40B4-BE49-F238E27FC236}">
                <a16:creationId xmlns:a16="http://schemas.microsoft.com/office/drawing/2014/main" id="{9B442086-DC0E-7C56-6BEB-C57EF09B106D}"/>
              </a:ext>
            </a:extLst>
          </p:cNvPr>
          <p:cNvSpPr txBox="1"/>
          <p:nvPr/>
        </p:nvSpPr>
        <p:spPr>
          <a:xfrm>
            <a:off x="8589575" y="5728993"/>
            <a:ext cx="920890" cy="461665"/>
          </a:xfrm>
          <a:prstGeom prst="rect">
            <a:avLst/>
          </a:prstGeom>
          <a:noFill/>
        </p:spPr>
        <p:txBody>
          <a:bodyPr wrap="square" rtlCol="0">
            <a:spAutoFit/>
          </a:bodyPr>
          <a:lstStyle/>
          <a:p>
            <a:r>
              <a:rPr lang="en-US" sz="2400" b="1">
                <a:solidFill>
                  <a:srgbClr val="00B050"/>
                </a:solidFill>
                <a:latin typeface="Trebuchet MS" panose="020B0703020202090204" pitchFamily="34" charset="0"/>
              </a:rPr>
              <a:t>imgB</a:t>
            </a:r>
          </a:p>
        </p:txBody>
      </p:sp>
      <p:sp>
        <p:nvSpPr>
          <p:cNvPr id="4" name="TextBox 3">
            <a:extLst>
              <a:ext uri="{FF2B5EF4-FFF2-40B4-BE49-F238E27FC236}">
                <a16:creationId xmlns:a16="http://schemas.microsoft.com/office/drawing/2014/main" id="{6FC42ED5-11A2-F972-94D5-87DCDFC2751D}"/>
              </a:ext>
            </a:extLst>
          </p:cNvPr>
          <p:cNvSpPr txBox="1"/>
          <p:nvPr/>
        </p:nvSpPr>
        <p:spPr>
          <a:xfrm>
            <a:off x="4329574" y="5265575"/>
            <a:ext cx="3575987" cy="923330"/>
          </a:xfrm>
          <a:prstGeom prst="rect">
            <a:avLst/>
          </a:prstGeom>
          <a:solidFill>
            <a:schemeClr val="tx1"/>
          </a:solidFill>
          <a:ln>
            <a:solidFill>
              <a:schemeClr val="bg1"/>
            </a:solidFill>
          </a:ln>
        </p:spPr>
        <p:txBody>
          <a:bodyPr wrap="square" rtlCol="0">
            <a:spAutoFit/>
          </a:bodyPr>
          <a:lstStyle/>
          <a:p>
            <a:pPr algn="ctr"/>
            <a:r>
              <a:rPr lang="en-US">
                <a:solidFill>
                  <a:schemeClr val="bg1"/>
                </a:solidFill>
                <a:latin typeface="Trebuchet MS" panose="020B0703020202090204" pitchFamily="34" charset="0"/>
                <a:cs typeface="Courier New" panose="02070309020205020404" pitchFamily="49" charset="0"/>
              </a:rPr>
              <a:t>Multiple transforms can be combined into a single matrix, as this example demonstrates.</a:t>
            </a:r>
          </a:p>
        </p:txBody>
      </p:sp>
    </p:spTree>
    <p:extLst>
      <p:ext uri="{BB962C8B-B14F-4D97-AF65-F5344CB8AC3E}">
        <p14:creationId xmlns:p14="http://schemas.microsoft.com/office/powerpoint/2010/main" val="15617036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1FE8E-CB4F-D5F6-46CD-57458CC0A815}"/>
            </a:ext>
          </a:extLst>
        </p:cNvPr>
        <p:cNvGrpSpPr/>
        <p:nvPr/>
      </p:nvGrpSpPr>
      <p:grpSpPr>
        <a:xfrm>
          <a:off x="0" y="0"/>
          <a:ext cx="0" cy="0"/>
          <a:chOff x="0" y="0"/>
          <a:chExt cx="0" cy="0"/>
        </a:xfrm>
      </p:grpSpPr>
      <p:pic>
        <p:nvPicPr>
          <p:cNvPr id="14" name="Picture 13" descr="A screenshot of a computer screen&#10;&#10;Description automatically generated">
            <a:extLst>
              <a:ext uri="{FF2B5EF4-FFF2-40B4-BE49-F238E27FC236}">
                <a16:creationId xmlns:a16="http://schemas.microsoft.com/office/drawing/2014/main" id="{CC48A3A4-FD75-B5FC-2FF9-59A340276B9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19266" y="3633092"/>
            <a:ext cx="5665394" cy="2560320"/>
          </a:xfrm>
          <a:prstGeom prst="rect">
            <a:avLst/>
          </a:prstGeom>
        </p:spPr>
      </p:pic>
      <p:pic>
        <p:nvPicPr>
          <p:cNvPr id="10" name="Picture 9" descr="A screenshot of a computer screen&#10;&#10;Description automatically generated">
            <a:extLst>
              <a:ext uri="{FF2B5EF4-FFF2-40B4-BE49-F238E27FC236}">
                <a16:creationId xmlns:a16="http://schemas.microsoft.com/office/drawing/2014/main" id="{66F601AC-C9DB-1BF9-BCC1-7F2BEDA9257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33055" y="3631338"/>
            <a:ext cx="5665394" cy="2560320"/>
          </a:xfrm>
          <a:prstGeom prst="rect">
            <a:avLst/>
          </a:prstGeom>
        </p:spPr>
      </p:pic>
      <p:sp>
        <p:nvSpPr>
          <p:cNvPr id="2" name="Slide Number Placeholder 1">
            <a:extLst>
              <a:ext uri="{FF2B5EF4-FFF2-40B4-BE49-F238E27FC236}">
                <a16:creationId xmlns:a16="http://schemas.microsoft.com/office/drawing/2014/main" id="{74C1D77E-40DD-0781-A3F3-FF5A831E3135}"/>
              </a:ext>
            </a:extLst>
          </p:cNvPr>
          <p:cNvSpPr>
            <a:spLocks noGrp="1"/>
          </p:cNvSpPr>
          <p:nvPr>
            <p:ph type="sldNum" sz="quarter" idx="12"/>
          </p:nvPr>
        </p:nvSpPr>
        <p:spPr/>
        <p:txBody>
          <a:bodyPr/>
          <a:lstStyle/>
          <a:p>
            <a:fld id="{6F215E70-FDA5-6C45-8C7C-E922E56675B4}" type="slidenum">
              <a:rPr lang="en-US"/>
              <a:t>66</a:t>
            </a:fld>
            <a:endParaRPr lang="en-US"/>
          </a:p>
        </p:txBody>
      </p:sp>
      <p:sp>
        <p:nvSpPr>
          <p:cNvPr id="3" name="TextBox 2">
            <a:extLst>
              <a:ext uri="{FF2B5EF4-FFF2-40B4-BE49-F238E27FC236}">
                <a16:creationId xmlns:a16="http://schemas.microsoft.com/office/drawing/2014/main" id="{06C38F0E-6B4C-3EED-9659-73AD2FB1CAB1}"/>
              </a:ext>
            </a:extLst>
          </p:cNvPr>
          <p:cNvSpPr txBox="1"/>
          <p:nvPr/>
        </p:nvSpPr>
        <p:spPr>
          <a:xfrm>
            <a:off x="622300" y="1187007"/>
            <a:ext cx="11264900" cy="2308324"/>
          </a:xfrm>
          <a:prstGeom prst="rect">
            <a:avLst/>
          </a:prstGeom>
          <a:noFill/>
        </p:spPr>
        <p:txBody>
          <a:bodyPr wrap="square" rtlCol="0">
            <a:spAutoFit/>
          </a:bodyPr>
          <a:lstStyle/>
          <a:p>
            <a:r>
              <a:rPr lang="en-US" b="1">
                <a:solidFill>
                  <a:schemeClr val="bg1"/>
                </a:solidFill>
                <a:effectLst/>
                <a:latin typeface="Courier New" panose="02070309020205020404" pitchFamily="49" charset="0"/>
                <a:cs typeface="Courier New" panose="02070309020205020404" pitchFamily="49" charset="0"/>
              </a:rPr>
              <a:t>[~,info111] = LoadVolumetricData('Segmented_MNI152nl_on_MNI111_nifti.nii');</a:t>
            </a:r>
          </a:p>
          <a:p>
            <a:r>
              <a:rPr lang="en-US" b="1">
                <a:solidFill>
                  <a:schemeClr val="bg1"/>
                </a:solidFill>
                <a:effectLst/>
                <a:latin typeface="Courier New" panose="02070309020205020404" pitchFamily="49" charset="0"/>
                <a:cs typeface="Courier New" panose="02070309020205020404" pitchFamily="49" charset="0"/>
              </a:rPr>
              <a:t>[img333,info333] = LoadVolumetricData('Segmented_MNI152nl_on_333_nifti.nii');</a:t>
            </a:r>
          </a:p>
          <a:p>
            <a:endParaRPr lang="en-US" b="1">
              <a:solidFill>
                <a:schemeClr val="bg1"/>
              </a:solidFill>
              <a:effectLst/>
              <a:latin typeface="Courier New" panose="02070309020205020404" pitchFamily="49" charset="0"/>
              <a:cs typeface="Courier New" panose="02070309020205020404" pitchFamily="49" charset="0"/>
            </a:endParaRPr>
          </a:p>
          <a:p>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 = affine3d_img(img333,info333,info111,[],</a:t>
            </a:r>
            <a:r>
              <a:rPr lang="en-US" b="1">
                <a:solidFill>
                  <a:srgbClr val="FF40FF"/>
                </a:solidFill>
                <a:effectLst/>
                <a:latin typeface="Courier New" panose="02070309020205020404" pitchFamily="49" charset="0"/>
                <a:cs typeface="Courier New" panose="02070309020205020404" pitchFamily="49" charset="0"/>
              </a:rPr>
              <a:t>'nearest'</a:t>
            </a:r>
            <a:r>
              <a:rPr lang="en-US" b="1">
                <a:solidFill>
                  <a:schemeClr val="bg1"/>
                </a:solidFill>
                <a:effectLst/>
                <a:latin typeface="Courier New" panose="02070309020205020404" pitchFamily="49" charset="0"/>
                <a:cs typeface="Courier New" panose="02070309020205020404" pitchFamily="49" charset="0"/>
              </a:rPr>
              <a:t>);</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FF0000"/>
                </a:solidFill>
                <a:effectLst/>
                <a:latin typeface="Courier New" panose="02070309020205020404" pitchFamily="49" charset="0"/>
                <a:cs typeface="Courier New" panose="02070309020205020404" pitchFamily="49" charset="0"/>
              </a:rPr>
              <a:t>imgA</a:t>
            </a:r>
            <a:r>
              <a:rPr lang="en-US" b="1">
                <a:solidFill>
                  <a:schemeClr val="bg1"/>
                </a:solidFill>
                <a:effectLst/>
                <a:latin typeface="Courier New" panose="02070309020205020404" pitchFamily="49" charset="0"/>
                <a:cs typeface="Courier New" panose="02070309020205020404" pitchFamily="49" charset="0"/>
              </a:rPr>
              <a:t>);</a:t>
            </a:r>
          </a:p>
          <a:p>
            <a:endParaRPr lang="en-US" b="1">
              <a:solidFill>
                <a:schemeClr val="bg1"/>
              </a:solidFill>
              <a:effectLst/>
              <a:latin typeface="Courier New" panose="02070309020205020404" pitchFamily="49" charset="0"/>
              <a:cs typeface="Courier New" panose="02070309020205020404" pitchFamily="49" charset="0"/>
            </a:endParaRPr>
          </a:p>
          <a:p>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 = affine3d_img(img333,info333,info111,[],</a:t>
            </a:r>
            <a:r>
              <a:rPr lang="en-US" b="1">
                <a:solidFill>
                  <a:srgbClr val="FF40FF"/>
                </a:solidFill>
                <a:effectLst/>
                <a:latin typeface="Courier New" panose="02070309020205020404" pitchFamily="49" charset="0"/>
                <a:cs typeface="Courier New" panose="02070309020205020404" pitchFamily="49" charset="0"/>
              </a:rPr>
              <a:t>'linear’</a:t>
            </a:r>
            <a:r>
              <a:rPr lang="en-US" b="1">
                <a:solidFill>
                  <a:schemeClr val="bg1"/>
                </a:solidFill>
                <a:effectLst/>
                <a:latin typeface="Courier New" panose="02070309020205020404" pitchFamily="49" charset="0"/>
                <a:cs typeface="Courier New" panose="02070309020205020404" pitchFamily="49" charset="0"/>
              </a:rPr>
              <a:t>);</a:t>
            </a:r>
          </a:p>
          <a:p>
            <a:r>
              <a:rPr lang="en-US" b="1">
                <a:solidFill>
                  <a:schemeClr val="bg1"/>
                </a:solidFill>
                <a:effectLst/>
                <a:latin typeface="Courier New" panose="02070309020205020404" pitchFamily="49" charset="0"/>
                <a:cs typeface="Courier New" panose="02070309020205020404" pitchFamily="49" charset="0"/>
              </a:rPr>
              <a:t>PlotSlices(</a:t>
            </a:r>
            <a:r>
              <a:rPr lang="en-US" b="1">
                <a:solidFill>
                  <a:srgbClr val="00B050"/>
                </a:solidFill>
                <a:effectLst/>
                <a:latin typeface="Courier New" panose="02070309020205020404" pitchFamily="49" charset="0"/>
                <a:cs typeface="Courier New" panose="02070309020205020404" pitchFamily="49" charset="0"/>
              </a:rPr>
              <a:t>imgB</a:t>
            </a:r>
            <a:r>
              <a:rPr lang="en-US" b="1">
                <a:solidFill>
                  <a:schemeClr val="bg1"/>
                </a:solidFill>
                <a:effectLst/>
                <a:latin typeface="Courier New" panose="02070309020205020404" pitchFamily="49" charset="0"/>
                <a:cs typeface="Courier New" panose="02070309020205020404" pitchFamily="49" charset="0"/>
              </a:rPr>
              <a:t>);</a:t>
            </a:r>
          </a:p>
        </p:txBody>
      </p:sp>
      <p:sp>
        <p:nvSpPr>
          <p:cNvPr id="6" name="TextBox 5">
            <a:extLst>
              <a:ext uri="{FF2B5EF4-FFF2-40B4-BE49-F238E27FC236}">
                <a16:creationId xmlns:a16="http://schemas.microsoft.com/office/drawing/2014/main" id="{3E246F26-CCC1-807E-6B34-89F728695428}"/>
              </a:ext>
            </a:extLst>
          </p:cNvPr>
          <p:cNvSpPr txBox="1"/>
          <p:nvPr/>
        </p:nvSpPr>
        <p:spPr>
          <a:xfrm>
            <a:off x="2683040" y="512146"/>
            <a:ext cx="8903369" cy="461665"/>
          </a:xfrm>
          <a:prstGeom prst="rect">
            <a:avLst/>
          </a:prstGeom>
          <a:noFill/>
        </p:spPr>
        <p:txBody>
          <a:bodyPr wrap="square" rtlCol="0">
            <a:spAutoFit/>
          </a:bodyPr>
          <a:lstStyle/>
          <a:p>
            <a:pPr algn="r"/>
            <a:r>
              <a:rPr lang="en-US" sz="2400" u="sng">
                <a:solidFill>
                  <a:schemeClr val="bg1"/>
                </a:solidFill>
                <a:latin typeface="Trebuchet MS" panose="020B0703020202090204" pitchFamily="34" charset="0"/>
              </a:rPr>
              <a:t>Example 17: Demonstrating interpolation effects</a:t>
            </a:r>
          </a:p>
        </p:txBody>
      </p:sp>
      <p:sp>
        <p:nvSpPr>
          <p:cNvPr id="11" name="TextBox 10">
            <a:extLst>
              <a:ext uri="{FF2B5EF4-FFF2-40B4-BE49-F238E27FC236}">
                <a16:creationId xmlns:a16="http://schemas.microsoft.com/office/drawing/2014/main" id="{ED41AB86-349E-F867-7BCF-F8DDF3BD60F9}"/>
              </a:ext>
            </a:extLst>
          </p:cNvPr>
          <p:cNvSpPr txBox="1"/>
          <p:nvPr/>
        </p:nvSpPr>
        <p:spPr>
          <a:xfrm>
            <a:off x="2784829" y="5729993"/>
            <a:ext cx="920890" cy="461665"/>
          </a:xfrm>
          <a:prstGeom prst="rect">
            <a:avLst/>
          </a:prstGeom>
          <a:noFill/>
        </p:spPr>
        <p:txBody>
          <a:bodyPr wrap="square" rtlCol="0">
            <a:spAutoFit/>
          </a:bodyPr>
          <a:lstStyle/>
          <a:p>
            <a:r>
              <a:rPr lang="en-US" sz="2400" b="1">
                <a:solidFill>
                  <a:srgbClr val="FF0000"/>
                </a:solidFill>
                <a:latin typeface="Trebuchet MS" panose="020B0703020202090204" pitchFamily="34" charset="0"/>
              </a:rPr>
              <a:t>imgA</a:t>
            </a:r>
          </a:p>
        </p:txBody>
      </p:sp>
      <p:sp>
        <p:nvSpPr>
          <p:cNvPr id="12" name="TextBox 11">
            <a:extLst>
              <a:ext uri="{FF2B5EF4-FFF2-40B4-BE49-F238E27FC236}">
                <a16:creationId xmlns:a16="http://schemas.microsoft.com/office/drawing/2014/main" id="{08869B95-8111-BFE9-53EC-A235B3897BB9}"/>
              </a:ext>
            </a:extLst>
          </p:cNvPr>
          <p:cNvSpPr txBox="1"/>
          <p:nvPr/>
        </p:nvSpPr>
        <p:spPr>
          <a:xfrm>
            <a:off x="6743700" y="5729993"/>
            <a:ext cx="5448300" cy="461665"/>
          </a:xfrm>
          <a:prstGeom prst="rect">
            <a:avLst/>
          </a:prstGeom>
          <a:noFill/>
        </p:spPr>
        <p:txBody>
          <a:bodyPr wrap="square" rtlCol="0">
            <a:spAutoFit/>
          </a:bodyPr>
          <a:lstStyle/>
          <a:p>
            <a:r>
              <a:rPr lang="en-US" sz="2400" b="1">
                <a:solidFill>
                  <a:srgbClr val="00B050"/>
                </a:solidFill>
                <a:latin typeface="Trebuchet MS" panose="020B0703020202090204" pitchFamily="34" charset="0"/>
              </a:rPr>
              <a:t>imgB</a:t>
            </a:r>
            <a:r>
              <a:rPr lang="en-US" sz="2400">
                <a:solidFill>
                  <a:srgbClr val="00B050"/>
                </a:solidFill>
                <a:latin typeface="Trebuchet MS" panose="020B0703020202090204" pitchFamily="34" charset="0"/>
              </a:rPr>
              <a:t> </a:t>
            </a:r>
            <a:r>
              <a:rPr lang="en-US" sz="2000">
                <a:solidFill>
                  <a:srgbClr val="00B050"/>
                </a:solidFill>
                <a:latin typeface="Trebuchet MS" panose="020B0703020202090204" pitchFamily="34" charset="0"/>
              </a:rPr>
              <a:t>– note blurring at tissue boundaries</a:t>
            </a:r>
          </a:p>
        </p:txBody>
      </p:sp>
    </p:spTree>
    <p:extLst>
      <p:ext uri="{BB962C8B-B14F-4D97-AF65-F5344CB8AC3E}">
        <p14:creationId xmlns:p14="http://schemas.microsoft.com/office/powerpoint/2010/main" val="30662802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232953</TotalTime>
  <Words>5597</Words>
  <Application>Microsoft Macintosh PowerPoint</Application>
  <PresentationFormat>Widescreen</PresentationFormat>
  <Paragraphs>611</Paragraphs>
  <Slides>66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66</vt:i4>
      </vt:variant>
    </vt:vector>
  </HeadingPairs>
  <TitlesOfParts>
    <vt:vector size="73" baseType="lpstr">
      <vt:lpstr>Aptos</vt:lpstr>
      <vt:lpstr>Aptos Display</vt:lpstr>
      <vt:lpstr>Arial</vt:lpstr>
      <vt:lpstr>Avenir Next Condensed</vt:lpstr>
      <vt:lpstr>Courier New</vt:lpstr>
      <vt:lpstr>Trebuchet MS</vt:lpstr>
      <vt:lpstr>Office Theme</vt:lpstr>
      <vt:lpstr>NeuroDOT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That’s It (For Now)</vt:lpstr>
      <vt:lpstr>Help Expand NeuroDOT’s Utility!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Jones, Mike</dc:creator>
  <cp:lastModifiedBy>Jones, Mike</cp:lastModifiedBy>
  <cp:revision>127</cp:revision>
  <dcterms:created xsi:type="dcterms:W3CDTF">2025-07-01T19:58:31Z</dcterms:created>
  <dcterms:modified xsi:type="dcterms:W3CDTF">2026-07-16T14:58:43Z</dcterms:modified>
</cp:coreProperties>
</file>